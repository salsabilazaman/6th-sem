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7" r:id="rId4"/>
    <p:sldId id="278" r:id="rId5"/>
    <p:sldId id="279" r:id="rId6"/>
    <p:sldId id="280" r:id="rId7"/>
    <p:sldId id="260" r:id="rId8"/>
    <p:sldId id="283" r:id="rId9"/>
    <p:sldId id="262" r:id="rId10"/>
    <p:sldId id="263" r:id="rId11"/>
    <p:sldId id="282" r:id="rId12"/>
    <p:sldId id="261" r:id="rId13"/>
    <p:sldId id="264" r:id="rId14"/>
    <p:sldId id="275" r:id="rId15"/>
    <p:sldId id="265" r:id="rId16"/>
    <p:sldId id="266" r:id="rId17"/>
    <p:sldId id="267" r:id="rId18"/>
    <p:sldId id="258" r:id="rId19"/>
    <p:sldId id="274" r:id="rId20"/>
    <p:sldId id="268" r:id="rId21"/>
    <p:sldId id="269" r:id="rId22"/>
    <p:sldId id="270" r:id="rId23"/>
    <p:sldId id="271" r:id="rId24"/>
    <p:sldId id="272" r:id="rId25"/>
    <p:sldId id="273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2C6A1-67C4-4309-A2C8-4243E6A14C2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EACCC-7ABB-49D3-B5D0-6FC7C4481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3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CBCC4-6F88-4CB0-BB39-C1554EAD3E3C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2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B6F6-C1C5-40C9-8A25-77644E97E897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4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2B5C-80C3-4F9B-AF48-8B53FD59983F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5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44D5-88BC-4AE1-A44D-A9813BAAD7B0}" type="datetime1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9F3D9-8B43-4ED0-9A4F-C271974E151F}" type="datetime1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6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6983-5E7A-42D6-BB4D-B8F32B930E8C}" type="datetime1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3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C10-C0C5-49CC-A655-F2B408ED374D}" type="datetime1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4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11BB0-310C-4A0B-8B4E-06777F5215C8}" type="datetime1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2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DEDE-5371-49D3-A33D-871001AFE9DF}" type="datetime1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6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790DC-56A5-4647-9673-73907368E2DF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7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F613-4D91-435F-BE06-21E04BE69086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C175C-519B-4434-B1C3-9C73D63B6016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8536C-03B7-4BB3-9AF5-17C3B081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Measurement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9B4F-C4A2-41BD-971D-A98A3A85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1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75" y="29490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575" y="1771836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probability distribution for an experiment is the assignment of probability values to each of the possible outcomes.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probability density 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(PDF) is a mathematical function that describes a continuous probability distribution. It provides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density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each value of a variable.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(Gaussian) Distribution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Distribution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AB56A-FEE0-4BCC-9A16-18A74265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9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DC14-EC07-404C-B1C9-2B17C8DF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Data Analysis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1BC74-6A5E-41A7-80E0-6F4D4EB9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collecting relevant data we must analyze it appropriately. We need a proper understanding of the following notions: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central tendency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dispersion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data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Student’s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-test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-statistic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of significance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limits…. and more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A4E3F-E0A7-4C66-9141-C495E599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E25B-F68D-4532-B36C-40254413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AE670F-BD17-40E5-B1A1-11E628FCC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0464" y="1825625"/>
            <a:ext cx="6678866" cy="4133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0C5338-7856-4227-9544-0537A8E31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000" y="5958992"/>
            <a:ext cx="8172000" cy="495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A50CB-2268-402E-ACCC-D8A492C7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9A84-AE1D-4054-8721-E7C13C6B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Data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4DC656-D02E-484D-9DAF-18D00CECA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8723" y="1825625"/>
            <a:ext cx="4577353" cy="4102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406B95-8ABC-4CBA-BB32-04D7E523F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492" y="5949781"/>
            <a:ext cx="6674173" cy="54309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87ABF-2F7D-48D6-8DB5-80830A6B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87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9216-4777-4451-9EC6-1C1B89A2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Data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7D2F18-156C-432A-BCB6-1742FF2AB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114" y="1825625"/>
            <a:ext cx="5115336" cy="4106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FE05ED-03FB-4274-ABF4-ED2F1F247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471" y="6014245"/>
            <a:ext cx="5407118" cy="50405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87C58-EB86-4B87-93EB-1F97CA9A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7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Software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994557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used for most of the software measurements may follow the different types of distribution. The normal distribution is common.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do not know anything about the distribution, there are a number of approaches to dealing with our lack of knowledge:</a:t>
            </a:r>
          </a:p>
          <a:p>
            <a:pPr lvl="1"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statistics and nonparametric 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Regardless of whether the data are normally distributed or not,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methods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meaningful results.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Nonparametric statistical techniques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 to test various hypotheses about the dataset without relying on the properties of a normal distribution.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nonparametric techniques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use properties of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data.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2ED10-4C5E-4F9D-9FAC-4B3BD7D3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3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FADA-FD8B-4996-82E1-8E08E7AC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89ABB-AD4E-4D7A-A0E5-C40A04BBF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Robust Methods: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&amp; MAD: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alternatives to mean and standard deviation.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Trimmed/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Winsorized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outlier influence by trimming or capping extreme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Regression: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Absolute Deviations (LAD):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absolute errors (less sensitive to outliers).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RANSAC (Random Sample Consensus):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 fits models to outlier-free subsets.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7E361-15B8-4CF8-9577-049FC769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86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Datasets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3260" y="1825625"/>
            <a:ext cx="6025480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299246-B9EA-497C-8920-FE8B47AD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54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Datasets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7834" y="1825625"/>
            <a:ext cx="3996331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EAF3B1-196B-4D6A-98AD-B33F173A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42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robust techniques are useful with software measurement data,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 the distribution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normal, non-normal)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implement them using simple spreadsheets or statistical packages.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72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Simple Analysis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036" y="141155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measurement datasets are often not normally distributed, and the measurements may not be on a ratio scale. Box plots use to represent non-normal data.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plots are constructed from three summary statistics: the median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 upper quartile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the lower quartile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Where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u) is defined 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median of the values more than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(l) defined as the median of the values less than m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 length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distance from the upper quartile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lower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tails are the theoretical bounds between which we are likely to find all the data points if the distribution is normal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716" y="4303725"/>
            <a:ext cx="9139201" cy="194467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D9161-B0AE-41BA-B6A4-BA8E1D57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01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37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261" y="2952625"/>
            <a:ext cx="9496201" cy="368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3804" y="1526875"/>
            <a:ext cx="354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Upper tail value =</a:t>
            </a:r>
            <a:r>
              <a:rPr lang="en-US" i="1" dirty="0"/>
              <a:t> u+1.5d</a:t>
            </a:r>
          </a:p>
          <a:p>
            <a:r>
              <a:rPr lang="en-US" dirty="0"/>
              <a:t>Lower tail value = </a:t>
            </a:r>
            <a:r>
              <a:rPr lang="en-US" i="1" dirty="0"/>
              <a:t>l</a:t>
            </a:r>
            <a:r>
              <a:rPr lang="en-US" dirty="0"/>
              <a:t>-1.5</a:t>
            </a:r>
            <a:r>
              <a:rPr lang="en-US" i="1" dirty="0"/>
              <a:t>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1673C-6D0C-49E4-B170-2618276A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94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7125" y="1216024"/>
            <a:ext cx="8344027" cy="50029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104DAA-9C5C-4BCD-8A69-328807BA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73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box plots, bar charts allow us to readily identify the entity associated with each measured value.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48" y="2610507"/>
            <a:ext cx="5033700" cy="3862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B1B2B-B451-41E4-8AE8-80512A81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1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see when your data are within acceptable bounds.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211" y="2354725"/>
            <a:ext cx="7104301" cy="3666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DF210-DEF4-4BE9-858C-22D9EFC6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65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128" y="1887224"/>
            <a:ext cx="8710801" cy="3951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D4A96-DE2F-4253-AE25-6BEEADE1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481C5-12A6-48A1-9EFC-765D5D951726}"/>
              </a:ext>
            </a:extLst>
          </p:cNvPr>
          <p:cNvSpPr txBox="1"/>
          <p:nvPr/>
        </p:nvSpPr>
        <p:spPr>
          <a:xfrm>
            <a:off x="406071" y="1969603"/>
            <a:ext cx="5063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to represent relationship between two attributes (pair)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helpful for more than two variables</a:t>
            </a:r>
          </a:p>
        </p:txBody>
      </p:sp>
    </p:spTree>
    <p:extLst>
      <p:ext uri="{BB962C8B-B14F-4D97-AF65-F5344CB8AC3E}">
        <p14:creationId xmlns:p14="http://schemas.microsoft.com/office/powerpoint/2010/main" val="3471568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criterion for testing a hypothesis is a “test of significance” which evaluates the probability that a relationship was due to chance.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classical approaches examine whether or not the null hypothesis can be refuted with some predetermined confidence level, often 0.05 (5%).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0.05 confidence level, we can refute the null hypothesis only if our evidence is so strong that there is only a probability of 5% that, in spite of an apparent relationship, the null hypothesis is really true.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178D6-B1B7-4AF9-9EDB-0C0599C1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93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Type-I and Type-II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29" y="1601508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Rejecting the null hypothesis when it is true is a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Type-I error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Accepting the null hypothesis when it is actually false is called a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Type-II error</a:t>
            </a:r>
          </a:p>
          <a:p>
            <a:endParaRPr lang="en-US" i="1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078" y="2694935"/>
            <a:ext cx="7667346" cy="41630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825B5-13E3-4B41-A194-31F47988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91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of 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depict the behavior of two attributes, and sometimes we can determine that the two attributes are related.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appearance of a relationship is not enough evidence to draw conclusions.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 that can help us evaluate the likelihood that the relationship seen in the past will be seen again in the future.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call these techniques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of association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measures are supported by statistical tests that check whether the association is significant.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70565-4178-401A-8385-8739AD59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39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coefficient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 distributed attribute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values,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coefficient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valuable measure of association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consider two attributes, say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(size of a module)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(number of faults in the module)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datasets of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are normally distributed (or nearly), then we can form pairs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where there are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items and we want to measure the association between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pairs is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for each attribute, we calculate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represent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by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by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Likewise,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variance of the set of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variance of the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values. Finally, we calculate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805" y="5515412"/>
            <a:ext cx="3534300" cy="10235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0F482-D32A-44D0-94F8-1987CECA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51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coefficient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called the correlation coefficient, varies from −1 to 1.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1, then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perfect positive linear relationship; that is, when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increases, then so do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equal linear steps.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−1 indicates a perfect negative linear relationship (i.e., when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linearly), and 0 indicates no relationship between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tests can be used to check whether a calculated value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significantly different from zero at a specified level of significance; in other words, the computation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accompanied by a test to indicate how much confidence we should have in the association (strength of association).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72DE8-3C3A-4235-BFF5-7E4A3ED35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14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5195"/>
                <a:ext cx="10764328" cy="4229186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 algn="just">
                  <a:buNone/>
                </a:pPr>
                <a:endParaRPr lang="en-US" sz="3600" dirty="0"/>
              </a:p>
              <a:p>
                <a:pPr algn="just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Regression analysis is a set of statistical methods used for the estimation of relationships between a dependent variable and one or more independent variables.</a:t>
                </a:r>
              </a:p>
              <a:p>
                <a:pPr algn="just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regression expresses an association (between dependent and independent variables) as a linear formula</a:t>
                </a:r>
              </a:p>
              <a:p>
                <a:pPr algn="just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The simple linear model is expressed using the following equation:</a:t>
                </a:r>
              </a:p>
              <a:p>
                <a:pPr marL="0" indent="0">
                  <a:buNone/>
                </a:pPr>
                <a:endParaRPr lang="en-US" sz="26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3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300" dirty="0"/>
              </a:p>
              <a:p>
                <a:pPr marL="0" indent="0">
                  <a:buNone/>
                </a:pPr>
                <a:r>
                  <a:rPr lang="en-US" dirty="0"/>
                  <a:t> Where: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 – Dependent variable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 – Independent (explanatory) variable</a:t>
                </a:r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 – Intercept (constant)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 – Slope         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 – Residual (error)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5195"/>
                <a:ext cx="10764328" cy="4229186"/>
              </a:xfrm>
              <a:blipFill>
                <a:blip r:embed="rId2"/>
                <a:stretch>
                  <a:fillRect l="-510" r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5012" y="3281443"/>
                <a:ext cx="2909514" cy="6845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012" y="3281443"/>
                <a:ext cx="2909514" cy="6845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5012" y="3965989"/>
                <a:ext cx="1701043" cy="3912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012" y="3965989"/>
                <a:ext cx="1701043" cy="391261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788" y="4482524"/>
            <a:ext cx="4541469" cy="217567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6EAF9-1143-473B-974C-73D057D9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62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597770" cy="39540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vertical distance from each point to the trend line represents the discrepancy between the data and the line. We need to keep the distance as small as possible.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discrepancy for each point is called the residual, and the formula for generating the linear regression line minimizes the sum of the squares of residuals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residuals values can be plotted (scatter plot) in a graph and can demonstrate if any values are unusually large.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730" y="1825624"/>
            <a:ext cx="4325657" cy="318632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5C7ED-BA2D-4E47-8C36-02F8E895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5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Tree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82109" cy="3910941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we want to know which measures provide the best information about a particular goal or behavior. That is which measures are best predictors of the behavior in a given attribute.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tree analysis can be used to address this problem.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want to determine which of the metrics are the best predictors of poor quality code modules among a large number of collected code module data.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354" y="1368425"/>
            <a:ext cx="4299680" cy="45033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20309" y="5934974"/>
            <a:ext cx="16177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+ poor quality; </a:t>
            </a:r>
          </a:p>
          <a:p>
            <a:r>
              <a:rPr lang="en-US" dirty="0"/>
              <a:t>- good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10DF1-A49A-4FBE-B819-922EFE9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81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Analysis, or PCA, is a dimensionality-reduction method that is often used to reduce the dimensionality of large data sets, by transforming a large set of variables into a smaller one that still contains most of the information in the large set.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number of variables of a data set naturally comes at the expense of accuracy, but the trick in dimensionality reduction is to trade a little accuracy for simplicity. Because smaller data sets are easier to explore and visualize and make analyzing data much easier and faster.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to sum up, the idea of PCA is simple — reduce the number of variables of a data set, while preserving as much information as possible.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4B579-2156-4F7E-9E46-30C5B33B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536C-03B7-4BB3-9AF5-17C3B081342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17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1247</Words>
  <Application>Microsoft Office PowerPoint</Application>
  <PresentationFormat>Widescreen</PresentationFormat>
  <Paragraphs>135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Times New Roman</vt:lpstr>
      <vt:lpstr>Office Theme</vt:lpstr>
      <vt:lpstr>Analyzing Measurement Data</vt:lpstr>
      <vt:lpstr>Probability Distribution</vt:lpstr>
      <vt:lpstr>Classical Data Analysis Techniques</vt:lpstr>
      <vt:lpstr>Nature of Data</vt:lpstr>
      <vt:lpstr>Nature of Data</vt:lpstr>
      <vt:lpstr>Nature of Data</vt:lpstr>
      <vt:lpstr>Distribution of Software Measurements</vt:lpstr>
      <vt:lpstr>Robust statistics</vt:lpstr>
      <vt:lpstr>Example Datasets</vt:lpstr>
      <vt:lpstr>Example Datasets</vt:lpstr>
      <vt:lpstr>Analysis Techniques</vt:lpstr>
      <vt:lpstr>Example of Simple Analysis Techniques</vt:lpstr>
      <vt:lpstr>Box plots</vt:lpstr>
      <vt:lpstr>Box plots</vt:lpstr>
      <vt:lpstr>Bar Charts</vt:lpstr>
      <vt:lpstr>Control Charts</vt:lpstr>
      <vt:lpstr>Scatter plots</vt:lpstr>
      <vt:lpstr>Hypothesis Testing Approaches</vt:lpstr>
      <vt:lpstr>Type-I and Type-II errors</vt:lpstr>
      <vt:lpstr>Measures of Association</vt:lpstr>
      <vt:lpstr>Pearson correlation coefficient</vt:lpstr>
      <vt:lpstr>Pearson correlation coefficient</vt:lpstr>
      <vt:lpstr>Linear Regression</vt:lpstr>
      <vt:lpstr>Linear Regression</vt:lpstr>
      <vt:lpstr>Classification Tree Analysis</vt:lpstr>
      <vt:lpstr>Principal Component Analysis (PCA)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User</cp:lastModifiedBy>
  <cp:revision>101</cp:revision>
  <dcterms:created xsi:type="dcterms:W3CDTF">2022-08-22T09:37:24Z</dcterms:created>
  <dcterms:modified xsi:type="dcterms:W3CDTF">2025-05-20T17:20:25Z</dcterms:modified>
</cp:coreProperties>
</file>