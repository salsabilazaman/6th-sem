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74" r:id="rId3"/>
    <p:sldId id="275" r:id="rId4"/>
    <p:sldId id="276" r:id="rId5"/>
    <p:sldId id="277" r:id="rId6"/>
    <p:sldId id="278" r:id="rId7"/>
    <p:sldId id="279" r:id="rId8"/>
    <p:sldId id="284" r:id="rId9"/>
    <p:sldId id="280" r:id="rId10"/>
    <p:sldId id="281" r:id="rId11"/>
    <p:sldId id="282" r:id="rId12"/>
    <p:sldId id="285" r:id="rId13"/>
    <p:sldId id="257" r:id="rId14"/>
    <p:sldId id="258" r:id="rId15"/>
    <p:sldId id="273"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3F5D6-70BA-4741-A1AB-3B12763602DE}" type="datetimeFigureOut">
              <a:rPr lang="en-US" smtClean="0"/>
              <a:t>5/19/2025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868404-1991-4650-A2C0-7BABDE848767}" type="slidenum">
              <a:rPr lang="en-US" smtClean="0"/>
              <a:t>‹#›</a:t>
            </a:fld>
            <a:endParaRPr lang="en-US"/>
          </a:p>
        </p:txBody>
      </p:sp>
    </p:spTree>
    <p:extLst>
      <p:ext uri="{BB962C8B-B14F-4D97-AF65-F5344CB8AC3E}">
        <p14:creationId xmlns:p14="http://schemas.microsoft.com/office/powerpoint/2010/main" val="2170773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A00539E-3E43-42C3-AF6F-C961DF2BF2E6}" type="datetime1">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2206450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D19427-2228-4394-8791-4F74744C2A35}" type="datetime1">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2310717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3BE644-8393-43F6-9FA8-6542E5DEE956}" type="datetime1">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3043077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79DE66-716A-432D-A12E-C27D2967F18D}" type="datetime1">
              <a:rPr lang="en-US" smtClean="0"/>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3218466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5BF2-DDD5-49A4-8A4B-0CC1C74F6F22}" type="datetime1">
              <a:rPr lang="en-US" smtClean="0"/>
              <a:t>5/19/2025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323647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1FF750-4D60-4B76-B493-0B74BFCFF1EF}" type="datetime1">
              <a:rPr lang="en-US" smtClean="0"/>
              <a:t>5/19/2025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3167813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9BBCEB-2936-4924-866F-D504C5EE41E3}" type="datetime1">
              <a:rPr lang="en-US" smtClean="0"/>
              <a:t>5/19/2025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1786114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2B05BE-103D-4564-A9A2-C0AE929629F3}" type="datetime1">
              <a:rPr lang="en-US" smtClean="0"/>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1628341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7C5F05E-700A-4901-AF10-F41DA5D8577B}" type="datetime1">
              <a:rPr lang="en-US" smtClean="0"/>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2059991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770F2D-957C-4582-9088-13D1EDF37923}" type="datetime1">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158770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88E4B3-EEF1-49B5-9C66-9AB53C11E5A1}" type="datetime1">
              <a:rPr lang="en-US" smtClean="0"/>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t>‹#›</a:t>
            </a:fld>
            <a:endParaRPr lang="en-US"/>
          </a:p>
        </p:txBody>
      </p:sp>
    </p:spTree>
    <p:extLst>
      <p:ext uri="{BB962C8B-B14F-4D97-AF65-F5344CB8AC3E}">
        <p14:creationId xmlns:p14="http://schemas.microsoft.com/office/powerpoint/2010/main" val="2870535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D8C2F-FD2D-4DDE-BC3A-B688AC81213A}" type="datetime1">
              <a:rPr lang="en-US" smtClean="0"/>
              <a:t>5/19/2025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07D28F-5A9D-4E18-8428-07D5AC5FC289}" type="slidenum">
              <a:rPr lang="en-US" smtClean="0"/>
              <a:t>‹#›</a:t>
            </a:fld>
            <a:endParaRPr lang="en-US"/>
          </a:p>
        </p:txBody>
      </p:sp>
    </p:spTree>
    <p:extLst>
      <p:ext uri="{BB962C8B-B14F-4D97-AF65-F5344CB8AC3E}">
        <p14:creationId xmlns:p14="http://schemas.microsoft.com/office/powerpoint/2010/main" val="1427730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Data Collection Techniques and ANOVA </a:t>
            </a:r>
            <a:r>
              <a:rPr lang="en-US" dirty="0" smtClean="0">
                <a:latin typeface="Times New Roman" panose="02020603050405020304" pitchFamily="18" charset="0"/>
                <a:cs typeface="Times New Roman" panose="02020603050405020304" pitchFamily="18" charset="0"/>
              </a:rPr>
              <a:t>Test</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t>1</a:t>
            </a:fld>
            <a:endParaRPr lang="en-US"/>
          </a:p>
        </p:txBody>
      </p:sp>
    </p:spTree>
    <p:extLst>
      <p:ext uri="{BB962C8B-B14F-4D97-AF65-F5344CB8AC3E}">
        <p14:creationId xmlns:p14="http://schemas.microsoft.com/office/powerpoint/2010/main" val="13665917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59FA-8ED8-4CE3-BF88-0A50D2D2053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Software Metrics Data Collection</a:t>
            </a:r>
          </a:p>
        </p:txBody>
      </p:sp>
      <p:pic>
        <p:nvPicPr>
          <p:cNvPr id="4" name="Content Placeholder 3">
            <a:extLst>
              <a:ext uri="{FF2B5EF4-FFF2-40B4-BE49-F238E27FC236}">
                <a16:creationId xmlns:a16="http://schemas.microsoft.com/office/drawing/2014/main" id="{B1506F41-94E2-422A-AE0E-7114A82D0B65}"/>
              </a:ext>
            </a:extLst>
          </p:cNvPr>
          <p:cNvPicPr>
            <a:picLocks noGrp="1" noChangeAspect="1"/>
          </p:cNvPicPr>
          <p:nvPr>
            <p:ph idx="1"/>
          </p:nvPr>
        </p:nvPicPr>
        <p:blipFill>
          <a:blip r:embed="rId2"/>
          <a:stretch>
            <a:fillRect/>
          </a:stretch>
        </p:blipFill>
        <p:spPr>
          <a:xfrm>
            <a:off x="838200" y="1942467"/>
            <a:ext cx="10515600" cy="4117653"/>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t>2</a:t>
            </a:fld>
            <a:endParaRPr lang="en-US"/>
          </a:p>
        </p:txBody>
      </p:sp>
    </p:spTree>
    <p:extLst>
      <p:ext uri="{BB962C8B-B14F-4D97-AF65-F5344CB8AC3E}">
        <p14:creationId xmlns:p14="http://schemas.microsoft.com/office/powerpoint/2010/main" val="39694853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6C6E-A2BC-472C-ACB4-F7F010D913E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Good Data?</a:t>
            </a:r>
          </a:p>
        </p:txBody>
      </p:sp>
      <p:sp>
        <p:nvSpPr>
          <p:cNvPr id="3" name="Content Placeholder 2">
            <a:extLst>
              <a:ext uri="{FF2B5EF4-FFF2-40B4-BE49-F238E27FC236}">
                <a16:creationId xmlns:a16="http://schemas.microsoft.com/office/drawing/2014/main" id="{B7AF101E-2950-4C79-9CD9-60CE74BFB39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Are they correct? </a:t>
            </a:r>
          </a:p>
          <a:p>
            <a:r>
              <a:rPr lang="en-US" dirty="0">
                <a:latin typeface="Times New Roman" panose="02020603050405020304" pitchFamily="18" charset="0"/>
                <a:cs typeface="Times New Roman" panose="02020603050405020304" pitchFamily="18" charset="0"/>
              </a:rPr>
              <a:t>Are they accurate? </a:t>
            </a:r>
          </a:p>
          <a:p>
            <a:r>
              <a:rPr lang="en-US" dirty="0">
                <a:latin typeface="Times New Roman" panose="02020603050405020304" pitchFamily="18" charset="0"/>
                <a:cs typeface="Times New Roman" panose="02020603050405020304" pitchFamily="18" charset="0"/>
              </a:rPr>
              <a:t>Are they appropriately precise? </a:t>
            </a:r>
          </a:p>
          <a:p>
            <a:r>
              <a:rPr lang="en-US" dirty="0">
                <a:latin typeface="Times New Roman" panose="02020603050405020304" pitchFamily="18" charset="0"/>
                <a:cs typeface="Times New Roman" panose="02020603050405020304" pitchFamily="18" charset="0"/>
              </a:rPr>
              <a:t>Are they consistent?</a:t>
            </a:r>
          </a:p>
          <a:p>
            <a:r>
              <a:rPr lang="en-US" dirty="0">
                <a:latin typeface="Times New Roman" panose="02020603050405020304" pitchFamily="18" charset="0"/>
                <a:cs typeface="Times New Roman" panose="02020603050405020304" pitchFamily="18" charset="0"/>
              </a:rPr>
              <a:t> Are they associated with a particular activity or time period? </a:t>
            </a:r>
          </a:p>
          <a:p>
            <a:r>
              <a:rPr lang="en-US" dirty="0">
                <a:latin typeface="Times New Roman" panose="02020603050405020304" pitchFamily="18" charset="0"/>
                <a:cs typeface="Times New Roman" panose="02020603050405020304" pitchFamily="18" charset="0"/>
              </a:rPr>
              <a:t>Can they be replicated?</a:t>
            </a:r>
          </a:p>
        </p:txBody>
      </p:sp>
      <p:sp>
        <p:nvSpPr>
          <p:cNvPr id="4" name="Slide Number Placeholder 3"/>
          <p:cNvSpPr>
            <a:spLocks noGrp="1"/>
          </p:cNvSpPr>
          <p:nvPr>
            <p:ph type="sldNum" sz="quarter" idx="12"/>
          </p:nvPr>
        </p:nvSpPr>
        <p:spPr/>
        <p:txBody>
          <a:bodyPr/>
          <a:lstStyle/>
          <a:p>
            <a:fld id="{7307D28F-5A9D-4E18-8428-07D5AC5FC289}" type="slidenum">
              <a:rPr lang="en-US" smtClean="0"/>
              <a:t>3</a:t>
            </a:fld>
            <a:endParaRPr lang="en-US"/>
          </a:p>
        </p:txBody>
      </p:sp>
    </p:spTree>
    <p:extLst>
      <p:ext uri="{BB962C8B-B14F-4D97-AF65-F5344CB8AC3E}">
        <p14:creationId xmlns:p14="http://schemas.microsoft.com/office/powerpoint/2010/main" val="3227735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C48E-B643-4F84-A4B0-3407337CAC1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Define the Data</a:t>
            </a:r>
          </a:p>
        </p:txBody>
      </p:sp>
      <p:pic>
        <p:nvPicPr>
          <p:cNvPr id="4" name="Content Placeholder 3">
            <a:extLst>
              <a:ext uri="{FF2B5EF4-FFF2-40B4-BE49-F238E27FC236}">
                <a16:creationId xmlns:a16="http://schemas.microsoft.com/office/drawing/2014/main" id="{8D463768-9A6D-4597-9740-F95122883F50}"/>
              </a:ext>
            </a:extLst>
          </p:cNvPr>
          <p:cNvPicPr>
            <a:picLocks noGrp="1" noChangeAspect="1"/>
          </p:cNvPicPr>
          <p:nvPr>
            <p:ph idx="1"/>
          </p:nvPr>
        </p:nvPicPr>
        <p:blipFill>
          <a:blip r:embed="rId2"/>
          <a:stretch>
            <a:fillRect/>
          </a:stretch>
        </p:blipFill>
        <p:spPr>
          <a:xfrm>
            <a:off x="1871801" y="1690688"/>
            <a:ext cx="8448398" cy="4595269"/>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t>4</a:t>
            </a:fld>
            <a:endParaRPr lang="en-US"/>
          </a:p>
        </p:txBody>
      </p:sp>
    </p:spTree>
    <p:extLst>
      <p:ext uri="{BB962C8B-B14F-4D97-AF65-F5344CB8AC3E}">
        <p14:creationId xmlns:p14="http://schemas.microsoft.com/office/powerpoint/2010/main" val="2186971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4D4D7-AEE7-4806-A15F-9E8544DD2F1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Define the Data</a:t>
            </a:r>
          </a:p>
        </p:txBody>
      </p:sp>
      <p:pic>
        <p:nvPicPr>
          <p:cNvPr id="4" name="Content Placeholder 3">
            <a:extLst>
              <a:ext uri="{FF2B5EF4-FFF2-40B4-BE49-F238E27FC236}">
                <a16:creationId xmlns:a16="http://schemas.microsoft.com/office/drawing/2014/main" id="{1F9F4B63-29C2-42DF-9E5D-5CA71D0FC520}"/>
              </a:ext>
            </a:extLst>
          </p:cNvPr>
          <p:cNvPicPr>
            <a:picLocks noGrp="1" noChangeAspect="1"/>
          </p:cNvPicPr>
          <p:nvPr>
            <p:ph idx="1"/>
          </p:nvPr>
        </p:nvPicPr>
        <p:blipFill>
          <a:blip r:embed="rId2"/>
          <a:stretch>
            <a:fillRect/>
          </a:stretch>
        </p:blipFill>
        <p:spPr>
          <a:xfrm>
            <a:off x="2886312" y="1825625"/>
            <a:ext cx="6419376" cy="4351338"/>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t>5</a:t>
            </a:fld>
            <a:endParaRPr lang="en-US"/>
          </a:p>
        </p:txBody>
      </p:sp>
    </p:spTree>
    <p:extLst>
      <p:ext uri="{BB962C8B-B14F-4D97-AF65-F5344CB8AC3E}">
        <p14:creationId xmlns:p14="http://schemas.microsoft.com/office/powerpoint/2010/main" val="3438404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944E1-C005-4732-8FCC-5AB459E9B5F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Collection Techniques for Software Field Studies</a:t>
            </a:r>
          </a:p>
        </p:txBody>
      </p:sp>
      <p:sp>
        <p:nvSpPr>
          <p:cNvPr id="3" name="Content Placeholder 2">
            <a:extLst>
              <a:ext uri="{FF2B5EF4-FFF2-40B4-BE49-F238E27FC236}">
                <a16:creationId xmlns:a16="http://schemas.microsoft.com/office/drawing/2014/main" id="{306865DB-25B7-4B89-8DC8-D5EBD3794633}"/>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Interviews and questionnaires are the most straightforward instruments, but the data they produce typically present an incomplete picture.</a:t>
            </a:r>
          </a:p>
          <a:p>
            <a:pPr algn="just"/>
            <a:r>
              <a:rPr lang="en-US" dirty="0">
                <a:latin typeface="Times New Roman" panose="02020603050405020304" pitchFamily="18" charset="0"/>
                <a:cs typeface="Times New Roman" panose="02020603050405020304" pitchFamily="18" charset="0"/>
              </a:rPr>
              <a:t>For example, assume your goal is to assess which programming language features are most error-prone. A developer can give you general opinions and anecdotal evidence about this; </a:t>
            </a:r>
            <a:r>
              <a:rPr lang="en-US" dirty="0" smtClean="0">
                <a:latin typeface="Times New Roman" panose="02020603050405020304" pitchFamily="18" charset="0"/>
                <a:cs typeface="Times New Roman" panose="02020603050405020304" pitchFamily="18" charset="0"/>
              </a:rPr>
              <a:t>however, </a:t>
            </a:r>
            <a:r>
              <a:rPr lang="en-US" dirty="0">
                <a:latin typeface="Times New Roman" panose="02020603050405020304" pitchFamily="18" charset="0"/>
                <a:cs typeface="Times New Roman" panose="02020603050405020304" pitchFamily="18" charset="0"/>
              </a:rPr>
              <a:t>you would obtain far more accurate information by recording and analyzing the </a:t>
            </a:r>
            <a:r>
              <a:rPr lang="en-US" dirty="0" smtClean="0">
                <a:latin typeface="Times New Roman" panose="02020603050405020304" pitchFamily="18" charset="0"/>
                <a:cs typeface="Times New Roman" panose="02020603050405020304" pitchFamily="18" charset="0"/>
              </a:rPr>
              <a:t>developer’s </a:t>
            </a:r>
            <a:r>
              <a:rPr lang="en-US" i="1" dirty="0">
                <a:latin typeface="Times New Roman" panose="02020603050405020304" pitchFamily="18" charset="0"/>
                <a:cs typeface="Times New Roman" panose="02020603050405020304" pitchFamily="18" charset="0"/>
              </a:rPr>
              <a:t>work practices - </a:t>
            </a:r>
            <a:r>
              <a:rPr lang="en-US" dirty="0">
                <a:latin typeface="Times New Roman" panose="02020603050405020304" pitchFamily="18" charset="0"/>
                <a:cs typeface="Times New Roman" panose="02020603050405020304" pitchFamily="18" charset="0"/>
              </a:rPr>
              <a:t>their efforts at repeatedly editing and compiling code</a:t>
            </a:r>
          </a:p>
          <a:p>
            <a:r>
              <a:rPr lang="en-US" dirty="0">
                <a:latin typeface="Times New Roman" panose="02020603050405020304" pitchFamily="18" charset="0"/>
                <a:cs typeface="Times New Roman" panose="02020603050405020304" pitchFamily="18" charset="0"/>
              </a:rPr>
              <a:t>To learn about different aspects of a phenomenon, it is often best to use multiple data collection methods</a:t>
            </a:r>
          </a:p>
        </p:txBody>
      </p:sp>
      <p:sp>
        <p:nvSpPr>
          <p:cNvPr id="4" name="Slide Number Placeholder 3"/>
          <p:cNvSpPr>
            <a:spLocks noGrp="1"/>
          </p:cNvSpPr>
          <p:nvPr>
            <p:ph type="sldNum" sz="quarter" idx="12"/>
          </p:nvPr>
        </p:nvSpPr>
        <p:spPr/>
        <p:txBody>
          <a:bodyPr/>
          <a:lstStyle/>
          <a:p>
            <a:fld id="{7307D28F-5A9D-4E18-8428-07D5AC5FC289}" type="slidenum">
              <a:rPr lang="en-US" smtClean="0"/>
              <a:t>6</a:t>
            </a:fld>
            <a:endParaRPr lang="en-US"/>
          </a:p>
        </p:txBody>
      </p:sp>
    </p:spTree>
    <p:extLst>
      <p:ext uri="{BB962C8B-B14F-4D97-AF65-F5344CB8AC3E}">
        <p14:creationId xmlns:p14="http://schemas.microsoft.com/office/powerpoint/2010/main" val="887143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E65E-3A38-45FB-8DB0-EFC606092D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 Taxonomy of Data Collection</a:t>
            </a:r>
          </a:p>
        </p:txBody>
      </p:sp>
      <p:pic>
        <p:nvPicPr>
          <p:cNvPr id="8" name="Content Placeholder 7">
            <a:extLst>
              <a:ext uri="{FF2B5EF4-FFF2-40B4-BE49-F238E27FC236}">
                <a16:creationId xmlns:a16="http://schemas.microsoft.com/office/drawing/2014/main" id="{0D3929F3-22B8-4851-AC1B-A139E74BE3A9}"/>
              </a:ext>
            </a:extLst>
          </p:cNvPr>
          <p:cNvPicPr>
            <a:picLocks noGrp="1" noChangeAspect="1"/>
          </p:cNvPicPr>
          <p:nvPr>
            <p:ph idx="1"/>
          </p:nvPr>
        </p:nvPicPr>
        <p:blipFill>
          <a:blip r:embed="rId2"/>
          <a:stretch>
            <a:fillRect/>
          </a:stretch>
        </p:blipFill>
        <p:spPr>
          <a:xfrm>
            <a:off x="1272255" y="1446683"/>
            <a:ext cx="9247464" cy="5157363"/>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t>7</a:t>
            </a:fld>
            <a:endParaRPr lang="en-US"/>
          </a:p>
        </p:txBody>
      </p:sp>
    </p:spTree>
    <p:extLst>
      <p:ext uri="{BB962C8B-B14F-4D97-AF65-F5344CB8AC3E}">
        <p14:creationId xmlns:p14="http://schemas.microsoft.com/office/powerpoint/2010/main" val="238239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8B3E-B135-4099-816C-73DDC1D7395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Collection Techniques</a:t>
            </a:r>
          </a:p>
        </p:txBody>
      </p:sp>
      <p:sp>
        <p:nvSpPr>
          <p:cNvPr id="3" name="Content Placeholder 2">
            <a:extLst>
              <a:ext uri="{FF2B5EF4-FFF2-40B4-BE49-F238E27FC236}">
                <a16:creationId xmlns:a16="http://schemas.microsoft.com/office/drawing/2014/main" id="{71E6D3C2-20DF-411E-A267-605F80BF29A5}"/>
              </a:ext>
            </a:extLst>
          </p:cNvPr>
          <p:cNvSpPr>
            <a:spLocks noGrp="1"/>
          </p:cNvSpPr>
          <p:nvPr>
            <p:ph idx="1"/>
          </p:nvPr>
        </p:nvSpPr>
        <p:spPr/>
        <p:txBody>
          <a:bodyPr>
            <a:normAutofit/>
          </a:bodyPr>
          <a:lstStyle/>
          <a:p>
            <a:pPr algn="just"/>
            <a:r>
              <a:rPr lang="en-US" i="1" dirty="0">
                <a:latin typeface="Times New Roman" panose="02020603050405020304" pitchFamily="18" charset="0"/>
                <a:cs typeface="Times New Roman" panose="02020603050405020304" pitchFamily="18" charset="0"/>
              </a:rPr>
              <a:t>First degree: </a:t>
            </a:r>
            <a:r>
              <a:rPr lang="en-US" dirty="0">
                <a:latin typeface="Times New Roman" panose="02020603050405020304" pitchFamily="18" charset="0"/>
                <a:cs typeface="Times New Roman" panose="02020603050405020304" pitchFamily="18" charset="0"/>
              </a:rPr>
              <a:t>Evaluators or researchers directly interact with developers. They may interview developers, observe them working, or </a:t>
            </a:r>
            <a:r>
              <a:rPr lang="en-US" dirty="0" smtClean="0">
                <a:latin typeface="Times New Roman" panose="02020603050405020304" pitchFamily="18" charset="0"/>
                <a:cs typeface="Times New Roman" panose="02020603050405020304" pitchFamily="18" charset="0"/>
              </a:rPr>
              <a:t>interact directly with developers daily.</a:t>
            </a:r>
            <a:endParaRPr lang="en-US" dirty="0">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Second degree: </a:t>
            </a:r>
            <a:r>
              <a:rPr lang="en-US" dirty="0">
                <a:latin typeface="Times New Roman" panose="02020603050405020304" pitchFamily="18" charset="0"/>
                <a:cs typeface="Times New Roman" panose="02020603050405020304" pitchFamily="18" charset="0"/>
              </a:rPr>
              <a:t>Evaluators or researchers indirectly interact with developers. They may </a:t>
            </a: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software development tools to collect information or </a:t>
            </a:r>
            <a:r>
              <a:rPr lang="en-US" dirty="0" smtClean="0">
                <a:latin typeface="Times New Roman" panose="02020603050405020304" pitchFamily="18" charset="0"/>
                <a:cs typeface="Times New Roman" panose="02020603050405020304" pitchFamily="18" charset="0"/>
              </a:rPr>
              <a:t>record </a:t>
            </a:r>
            <a:r>
              <a:rPr lang="en-US" dirty="0">
                <a:latin typeface="Times New Roman" panose="02020603050405020304" pitchFamily="18" charset="0"/>
                <a:cs typeface="Times New Roman" panose="02020603050405020304" pitchFamily="18" charset="0"/>
              </a:rPr>
              <a:t>meetings or other development activities.</a:t>
            </a:r>
          </a:p>
          <a:p>
            <a:pPr algn="just"/>
            <a:r>
              <a:rPr lang="en-US" i="1" dirty="0">
                <a:latin typeface="Times New Roman" panose="02020603050405020304" pitchFamily="18" charset="0"/>
                <a:cs typeface="Times New Roman" panose="02020603050405020304" pitchFamily="18" charset="0"/>
              </a:rPr>
              <a:t>Third degree: </a:t>
            </a:r>
            <a:r>
              <a:rPr lang="en-US" dirty="0">
                <a:latin typeface="Times New Roman" panose="02020603050405020304" pitchFamily="18" charset="0"/>
                <a:cs typeface="Times New Roman" panose="02020603050405020304" pitchFamily="18" charset="0"/>
              </a:rPr>
              <a:t>Evaluators have no interactions with developers. Rather, they study artifacts such as revision control system records, fault reports and responses, testing records, etc. Third-degree studies can be performed retrospectively.</a:t>
            </a:r>
          </a:p>
        </p:txBody>
      </p:sp>
      <p:sp>
        <p:nvSpPr>
          <p:cNvPr id="4" name="Slide Number Placeholder 3"/>
          <p:cNvSpPr>
            <a:spLocks noGrp="1"/>
          </p:cNvSpPr>
          <p:nvPr>
            <p:ph type="sldNum" sz="quarter" idx="12"/>
          </p:nvPr>
        </p:nvSpPr>
        <p:spPr/>
        <p:txBody>
          <a:bodyPr/>
          <a:lstStyle/>
          <a:p>
            <a:fld id="{7307D28F-5A9D-4E18-8428-07D5AC5FC289}" type="slidenum">
              <a:rPr lang="en-US" smtClean="0"/>
              <a:t>8</a:t>
            </a:fld>
            <a:endParaRPr lang="en-US"/>
          </a:p>
        </p:txBody>
      </p:sp>
    </p:spTree>
    <p:extLst>
      <p:ext uri="{BB962C8B-B14F-4D97-AF65-F5344CB8AC3E}">
        <p14:creationId xmlns:p14="http://schemas.microsoft.com/office/powerpoint/2010/main" val="109872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9F35-79D5-4096-8307-43CB725AA162}"/>
              </a:ext>
            </a:extLst>
          </p:cNvPr>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Some Definitions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D4DE22-1519-4CE5-80C0-B3C7A6E63328}"/>
              </a:ext>
            </a:extLst>
          </p:cNvPr>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work diary protocol </a:t>
            </a:r>
            <a:r>
              <a:rPr lang="en-US" dirty="0">
                <a:latin typeface="Times New Roman" panose="02020603050405020304" pitchFamily="18" charset="0"/>
                <a:cs typeface="Times New Roman" panose="02020603050405020304" pitchFamily="18" charset="0"/>
              </a:rPr>
              <a:t>for a study involves providing participants with guidelines and instructions for maintaining a journal or diary where they document their daily work activities, tasks, thoughts, and reflections. The collected data from these diaries is then analyzed to gain insights into participants' work processes, decision-making, challenges, and experiences</a:t>
            </a:r>
          </a:p>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think-aloud study </a:t>
            </a:r>
            <a:r>
              <a:rPr lang="en-US" dirty="0">
                <a:latin typeface="Times New Roman" panose="02020603050405020304" pitchFamily="18" charset="0"/>
                <a:cs typeface="Times New Roman" panose="02020603050405020304" pitchFamily="18" charset="0"/>
              </a:rPr>
              <a:t>is a research method in which participants verbalize their thoughts, reactions, and decision-making processes while performing a specific task or solving a problem.</a:t>
            </a:r>
          </a:p>
          <a:p>
            <a:pPr algn="just"/>
            <a:r>
              <a:rPr lang="en-US" b="1" dirty="0">
                <a:latin typeface="Times New Roman" panose="02020603050405020304" pitchFamily="18" charset="0"/>
                <a:cs typeface="Times New Roman" panose="02020603050405020304" pitchFamily="18" charset="0"/>
              </a:rPr>
              <a:t>Shadowing and observation </a:t>
            </a: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research method where a researcher closely follows and observes a participant as they go about their daily activities or tasks. Researchers use this method to collect data by directly observing participants without direct involvement.</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t>9</a:t>
            </a:fld>
            <a:endParaRPr lang="en-US"/>
          </a:p>
        </p:txBody>
      </p:sp>
    </p:spTree>
    <p:extLst>
      <p:ext uri="{BB962C8B-B14F-4D97-AF65-F5344CB8AC3E}">
        <p14:creationId xmlns:p14="http://schemas.microsoft.com/office/powerpoint/2010/main" val="654259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E7223-6C6C-4A69-B65D-A6F44F0776E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Definitions</a:t>
            </a:r>
          </a:p>
        </p:txBody>
      </p:sp>
      <p:sp>
        <p:nvSpPr>
          <p:cNvPr id="3" name="Content Placeholder 2">
            <a:extLst>
              <a:ext uri="{FF2B5EF4-FFF2-40B4-BE49-F238E27FC236}">
                <a16:creationId xmlns:a16="http://schemas.microsoft.com/office/drawing/2014/main" id="{4885749B-4384-4AB1-A165-C0248713688E}"/>
              </a:ext>
            </a:extLst>
          </p:cNvPr>
          <p:cNvSpPr>
            <a:spLocks noGrp="1"/>
          </p:cNvSpPr>
          <p:nvPr>
            <p:ph idx="1"/>
          </p:nvPr>
        </p:nvSpPr>
        <p:spPr/>
        <p:txBody>
          <a:bodyPr/>
          <a:lstStyle/>
          <a:p>
            <a:pPr algn="just"/>
            <a:r>
              <a:rPr lang="en-US" b="1" dirty="0" smtClean="0">
                <a:latin typeface="Times New Roman" panose="02020603050405020304" pitchFamily="18" charset="0"/>
                <a:cs typeface="Times New Roman" panose="02020603050405020304" pitchFamily="18" charset="0"/>
              </a:rPr>
              <a:t>Fly-on-the-wall</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research is an observational technique that allows a researcher to collect data by seeing and listening. </a:t>
            </a:r>
            <a:r>
              <a:rPr lang="en-US" dirty="0" smtClean="0">
                <a:latin typeface="Times New Roman" panose="02020603050405020304" pitchFamily="18" charset="0"/>
                <a:cs typeface="Times New Roman" panose="02020603050405020304" pitchFamily="18" charset="0"/>
              </a:rPr>
              <a:t>Usually, </a:t>
            </a:r>
            <a:r>
              <a:rPr lang="en-US" dirty="0">
                <a:latin typeface="Times New Roman" panose="02020603050405020304" pitchFamily="18" charset="0"/>
                <a:cs typeface="Times New Roman" panose="02020603050405020304" pitchFamily="18" charset="0"/>
              </a:rPr>
              <a:t>researchers employ this method to gain insight into people, environment, interactions and objects in a space. It is the primary responsibility of the researcher to stay completely unnoticed during the observation so as to not bias the participants in any way</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i="1" dirty="0" smtClean="0">
                <a:latin typeface="Times New Roman" panose="02020603050405020304" pitchFamily="18" charset="0"/>
                <a:cs typeface="Times New Roman" panose="02020603050405020304" pitchFamily="18" charset="0"/>
              </a:rPr>
              <a:t>The selection </a:t>
            </a:r>
            <a:r>
              <a:rPr lang="en-US" b="1" i="1" dirty="0">
                <a:latin typeface="Times New Roman" panose="02020603050405020304" pitchFamily="18" charset="0"/>
                <a:cs typeface="Times New Roman" panose="02020603050405020304" pitchFamily="18" charset="0"/>
              </a:rPr>
              <a:t>of a data collection method should be done in the context of a research goal or question.</a:t>
            </a:r>
          </a:p>
        </p:txBody>
      </p:sp>
      <p:sp>
        <p:nvSpPr>
          <p:cNvPr id="4" name="Slide Number Placeholder 3"/>
          <p:cNvSpPr>
            <a:spLocks noGrp="1"/>
          </p:cNvSpPr>
          <p:nvPr>
            <p:ph type="sldNum" sz="quarter" idx="12"/>
          </p:nvPr>
        </p:nvSpPr>
        <p:spPr/>
        <p:txBody>
          <a:bodyPr/>
          <a:lstStyle/>
          <a:p>
            <a:fld id="{7307D28F-5A9D-4E18-8428-07D5AC5FC289}" type="slidenum">
              <a:rPr lang="en-US" smtClean="0"/>
              <a:t>10</a:t>
            </a:fld>
            <a:endParaRPr lang="en-US"/>
          </a:p>
        </p:txBody>
      </p:sp>
    </p:spTree>
    <p:extLst>
      <p:ext uri="{BB962C8B-B14F-4D97-AF65-F5344CB8AC3E}">
        <p14:creationId xmlns:p14="http://schemas.microsoft.com/office/powerpoint/2010/main" val="977978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A4F9-7A9E-455C-AC47-1E9101A7C9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5B5925-8A0A-4BD8-8BF4-0C72382E932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F107AFF-2E96-4749-82A7-94BFF30E82BC}"/>
              </a:ext>
            </a:extLst>
          </p:cNvPr>
          <p:cNvPicPr>
            <a:picLocks noChangeAspect="1"/>
          </p:cNvPicPr>
          <p:nvPr/>
        </p:nvPicPr>
        <p:blipFill>
          <a:blip r:embed="rId2"/>
          <a:stretch>
            <a:fillRect/>
          </a:stretch>
        </p:blipFill>
        <p:spPr>
          <a:xfrm>
            <a:off x="251253" y="156935"/>
            <a:ext cx="11945174" cy="6474524"/>
          </a:xfrm>
          <a:prstGeom prst="rect">
            <a:avLst/>
          </a:prstGeom>
        </p:spPr>
      </p:pic>
      <p:sp>
        <p:nvSpPr>
          <p:cNvPr id="5" name="Slide Number Placeholder 4"/>
          <p:cNvSpPr>
            <a:spLocks noGrp="1"/>
          </p:cNvSpPr>
          <p:nvPr>
            <p:ph type="sldNum" sz="quarter" idx="12"/>
          </p:nvPr>
        </p:nvSpPr>
        <p:spPr/>
        <p:txBody>
          <a:bodyPr/>
          <a:lstStyle/>
          <a:p>
            <a:fld id="{7307D28F-5A9D-4E18-8428-07D5AC5FC289}" type="slidenum">
              <a:rPr lang="en-US" smtClean="0"/>
              <a:t>11</a:t>
            </a:fld>
            <a:endParaRPr lang="en-US"/>
          </a:p>
        </p:txBody>
      </p:sp>
    </p:spTree>
    <p:extLst>
      <p:ext uri="{BB962C8B-B14F-4D97-AF65-F5344CB8AC3E}">
        <p14:creationId xmlns:p14="http://schemas.microsoft.com/office/powerpoint/2010/main" val="845605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D03F7-D19C-4AFF-B5F1-DBD2F5A48116}"/>
              </a:ext>
            </a:extLst>
          </p:cNvPr>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ANOVA Test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6D894B-1D39-40D3-A51E-253C24FC5E48}"/>
              </a:ext>
            </a:extLst>
          </p:cNvPr>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Student T-test</a:t>
            </a:r>
          </a:p>
          <a:p>
            <a:r>
              <a:rPr lang="en-US" dirty="0" smtClean="0">
                <a:latin typeface="Times New Roman" panose="02020603050405020304" pitchFamily="18" charset="0"/>
                <a:cs typeface="Times New Roman" panose="02020603050405020304" pitchFamily="18" charset="0"/>
              </a:rPr>
              <a:t>One-way </a:t>
            </a:r>
            <a:r>
              <a:rPr lang="en-US" dirty="0">
                <a:latin typeface="Times New Roman" panose="02020603050405020304" pitchFamily="18" charset="0"/>
                <a:cs typeface="Times New Roman" panose="02020603050405020304" pitchFamily="18" charset="0"/>
              </a:rPr>
              <a:t>ANOVA Test</a:t>
            </a:r>
          </a:p>
        </p:txBody>
      </p:sp>
      <p:sp>
        <p:nvSpPr>
          <p:cNvPr id="4" name="Slide Number Placeholder 3"/>
          <p:cNvSpPr>
            <a:spLocks noGrp="1"/>
          </p:cNvSpPr>
          <p:nvPr>
            <p:ph type="sldNum" sz="quarter" idx="12"/>
          </p:nvPr>
        </p:nvSpPr>
        <p:spPr/>
        <p:txBody>
          <a:bodyPr/>
          <a:lstStyle/>
          <a:p>
            <a:fld id="{7307D28F-5A9D-4E18-8428-07D5AC5FC289}" type="slidenum">
              <a:rPr lang="en-US" smtClean="0"/>
              <a:t>12</a:t>
            </a:fld>
            <a:endParaRPr lang="en-US"/>
          </a:p>
        </p:txBody>
      </p:sp>
    </p:spTree>
    <p:extLst>
      <p:ext uri="{BB962C8B-B14F-4D97-AF65-F5344CB8AC3E}">
        <p14:creationId xmlns:p14="http://schemas.microsoft.com/office/powerpoint/2010/main" val="3061250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One-Way ANOVA</a:t>
            </a:r>
          </a:p>
        </p:txBody>
      </p:sp>
      <p:sp>
        <p:nvSpPr>
          <p:cNvPr id="3" name="Content Placeholder 2"/>
          <p:cNvSpPr>
            <a:spLocks noGrp="1"/>
          </p:cNvSpPr>
          <p:nvPr>
            <p:ph idx="1"/>
          </p:nvPr>
        </p:nvSpPr>
        <p:spPr/>
        <p:txBody>
          <a:bodyPr>
            <a:normAutofit fontScale="92500"/>
          </a:bodyPr>
          <a:lstStyle/>
          <a:p>
            <a:pPr algn="just"/>
            <a:r>
              <a:rPr lang="en-US" dirty="0" smtClean="0">
                <a:latin typeface="Times New Roman" panose="02020603050405020304" pitchFamily="18" charset="0"/>
                <a:cs typeface="Times New Roman" panose="02020603050405020304" pitchFamily="18" charset="0"/>
              </a:rPr>
              <a:t>One-way analysis of variance (ANOVA) is a statistical method for testing for differences in the means of </a:t>
            </a:r>
            <a:r>
              <a:rPr lang="en-US" b="1" dirty="0" smtClean="0">
                <a:latin typeface="Times New Roman" panose="02020603050405020304" pitchFamily="18" charset="0"/>
                <a:cs typeface="Times New Roman" panose="02020603050405020304" pitchFamily="18" charset="0"/>
              </a:rPr>
              <a:t>three or more groups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One-way ANOVA is typically used when you have a single independent variable or factor. The independent variable divides cases into two or more mutually exclusive levels, categories, or groups. Your goal is to investigate if variations or different levels of that independent variable or factor have a measurable effect on a dependent variable.</a:t>
            </a:r>
          </a:p>
          <a:p>
            <a:pPr algn="just"/>
            <a:r>
              <a:rPr lang="en-US" dirty="0" smtClean="0">
                <a:latin typeface="Times New Roman" panose="02020603050405020304" pitchFamily="18" charset="0"/>
                <a:cs typeface="Times New Roman" panose="02020603050405020304" pitchFamily="18" charset="0"/>
              </a:rPr>
              <a:t>One-way ANOVA can only be used when investigating a single factor and a single dependent variable. When comparing the means of three or more groups</a:t>
            </a:r>
            <a:r>
              <a:rPr lang="en-US" b="1" dirty="0" smtClean="0">
                <a:latin typeface="Times New Roman" panose="02020603050405020304" pitchFamily="18" charset="0"/>
                <a:cs typeface="Times New Roman" panose="02020603050405020304" pitchFamily="18" charset="0"/>
              </a:rPr>
              <a:t>, it can tell us if at least one pair of means is significantly different</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but it can’t tell us which pair</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t>13</a:t>
            </a:fld>
            <a:endParaRPr lang="en-US"/>
          </a:p>
        </p:txBody>
      </p:sp>
    </p:spTree>
    <p:extLst>
      <p:ext uri="{BB962C8B-B14F-4D97-AF65-F5344CB8AC3E}">
        <p14:creationId xmlns:p14="http://schemas.microsoft.com/office/powerpoint/2010/main" val="361759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One-Way ANOVA (cont..)</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One-way ANOVA is a test for differences in group means</a:t>
            </a:r>
          </a:p>
          <a:p>
            <a:pPr algn="just"/>
            <a:r>
              <a:rPr lang="en-US" dirty="0">
                <a:latin typeface="Times New Roman" panose="02020603050405020304" pitchFamily="18" charset="0"/>
                <a:cs typeface="Times New Roman" panose="02020603050405020304" pitchFamily="18" charset="0"/>
              </a:rPr>
              <a:t>One-way ANOVA is a statistical method to test the null hypothesis (</a:t>
            </a:r>
            <a:r>
              <a:rPr lang="en-US" i="1" dirty="0">
                <a:latin typeface="Times New Roman" panose="02020603050405020304" pitchFamily="18" charset="0"/>
                <a:cs typeface="Times New Roman" panose="02020603050405020304" pitchFamily="18" charset="0"/>
              </a:rPr>
              <a:t>H</a:t>
            </a:r>
            <a:r>
              <a:rPr lang="en-US" i="1"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that three or more population means are equal vs. the alternative hypothesis (</a:t>
            </a:r>
            <a:r>
              <a:rPr lang="en-US" i="1" dirty="0">
                <a:latin typeface="Times New Roman" panose="02020603050405020304" pitchFamily="18" charset="0"/>
                <a:cs typeface="Times New Roman" panose="02020603050405020304" pitchFamily="18" charset="0"/>
              </a:rPr>
              <a:t>H</a:t>
            </a:r>
            <a:r>
              <a:rPr lang="en-US" i="1" baseline="-25000"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 that at least one mean is different.</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t>14</a:t>
            </a:fld>
            <a:endParaRPr lang="en-US"/>
          </a:p>
        </p:txBody>
      </p:sp>
    </p:spTree>
    <p:extLst>
      <p:ext uri="{BB962C8B-B14F-4D97-AF65-F5344CB8AC3E}">
        <p14:creationId xmlns:p14="http://schemas.microsoft.com/office/powerpoint/2010/main" val="2931803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Examples</a:t>
            </a:r>
            <a:r>
              <a:rPr lang="en-US" dirty="0"/>
              <a:t> </a:t>
            </a:r>
          </a:p>
        </p:txBody>
      </p:sp>
      <p:sp>
        <p:nvSpPr>
          <p:cNvPr id="3" name="Content Placeholder 2"/>
          <p:cNvSpPr>
            <a:spLocks noGrp="1"/>
          </p:cNvSpPr>
          <p:nvPr>
            <p:ph idx="1"/>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Your independent variable is social media use, and you assign groups to low, medium, and high levels of social media use to find out if there is a difference in hours of sleep per night.</a:t>
            </a:r>
          </a:p>
          <a:p>
            <a:r>
              <a:rPr lang="en-US" dirty="0">
                <a:solidFill>
                  <a:srgbClr val="FF0000"/>
                </a:solidFill>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Your independent variable is brand of soda, and you collect data on Coke, Pepsi, Sprite, and Fanta to find out if there is a difference in the price per 100ml.</a:t>
            </a:r>
          </a:p>
          <a:p>
            <a:r>
              <a:rPr lang="en-US" dirty="0">
                <a:solidFill>
                  <a:srgbClr val="FF0000"/>
                </a:solidFill>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You independent variable is type of fertilizer, and you treat crop fields with mixtures 1, 2 and 3 to find out if there is a difference in crop yield.</a:t>
            </a:r>
          </a:p>
          <a:p>
            <a:endParaRPr lang="en-US" dirty="0"/>
          </a:p>
        </p:txBody>
      </p:sp>
      <p:sp>
        <p:nvSpPr>
          <p:cNvPr id="4" name="Slide Number Placeholder 3"/>
          <p:cNvSpPr>
            <a:spLocks noGrp="1"/>
          </p:cNvSpPr>
          <p:nvPr>
            <p:ph type="sldNum" sz="quarter" idx="12"/>
          </p:nvPr>
        </p:nvSpPr>
        <p:spPr/>
        <p:txBody>
          <a:bodyPr/>
          <a:lstStyle/>
          <a:p>
            <a:fld id="{7307D28F-5A9D-4E18-8428-07D5AC5FC289}" type="slidenum">
              <a:rPr lang="en-US" smtClean="0"/>
              <a:t>15</a:t>
            </a:fld>
            <a:endParaRPr lang="en-US"/>
          </a:p>
        </p:txBody>
      </p:sp>
    </p:spTree>
    <p:extLst>
      <p:ext uri="{BB962C8B-B14F-4D97-AF65-F5344CB8AC3E}">
        <p14:creationId xmlns:p14="http://schemas.microsoft.com/office/powerpoint/2010/main" val="2610512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 </a:t>
            </a: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Imagine you work for a company that manufactures an adhesive gel that is sold in small jars. The viscosity of the gel is important: too thick and it becomes difficult to apply; too thin and its adhesiveness suffers. You've received some feedback from a few unhappy customers lately complaining that the viscosity of your adhesive is not as consistent as it used to be. You've been asked by your boss to investigate.</a:t>
            </a:r>
          </a:p>
          <a:p>
            <a:pPr algn="just"/>
            <a:r>
              <a:rPr lang="en-US" dirty="0">
                <a:latin typeface="Times New Roman" panose="02020603050405020304" pitchFamily="18" charset="0"/>
                <a:cs typeface="Times New Roman" panose="02020603050405020304" pitchFamily="18" charset="0"/>
              </a:rPr>
              <a:t>You decide that a good first step would be to examine the average viscosity of the five most recent production lots. If you find differences between lots, that would seem to confirm the issue is real. It might also help you begin to form hypotheses about factors that could cause inconsistencies between lots.</a:t>
            </a:r>
          </a:p>
          <a:p>
            <a:endParaRPr lang="en-US" dirty="0"/>
          </a:p>
        </p:txBody>
      </p:sp>
      <p:sp>
        <p:nvSpPr>
          <p:cNvPr id="4" name="Slide Number Placeholder 3"/>
          <p:cNvSpPr>
            <a:spLocks noGrp="1"/>
          </p:cNvSpPr>
          <p:nvPr>
            <p:ph type="sldNum" sz="quarter" idx="12"/>
          </p:nvPr>
        </p:nvSpPr>
        <p:spPr/>
        <p:txBody>
          <a:bodyPr/>
          <a:lstStyle/>
          <a:p>
            <a:fld id="{7307D28F-5A9D-4E18-8428-07D5AC5FC289}" type="slidenum">
              <a:rPr lang="en-US" smtClean="0"/>
              <a:t>16</a:t>
            </a:fld>
            <a:endParaRPr lang="en-US"/>
          </a:p>
        </p:txBody>
      </p:sp>
    </p:spTree>
    <p:extLst>
      <p:ext uri="{BB962C8B-B14F-4D97-AF65-F5344CB8AC3E}">
        <p14:creationId xmlns:p14="http://schemas.microsoft.com/office/powerpoint/2010/main" val="3137861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https://www.jmp.com/en_in/statistics-knowledge-portal/one-way-anova/_jcr_content/par/styledcontainer_2069/par/image_15d2.img.png/156199434030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56463" y="1529486"/>
            <a:ext cx="6986155" cy="49834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39306" y="2130096"/>
            <a:ext cx="2895600" cy="2308324"/>
          </a:xfrm>
          <a:prstGeom prst="rect">
            <a:avLst/>
          </a:prstGeom>
        </p:spPr>
        <p:txBody>
          <a:bodyPr wrap="square">
            <a:spAutoFit/>
          </a:bodyPr>
          <a:lstStyle/>
          <a:p>
            <a:r>
              <a:rPr lang="en-US" b="0" i="0" dirty="0">
                <a:solidFill>
                  <a:srgbClr val="333333"/>
                </a:solidFill>
                <a:effectLst/>
                <a:latin typeface="Times New Roman" panose="02020603050405020304" pitchFamily="18" charset="0"/>
                <a:cs typeface="Times New Roman" panose="02020603050405020304" pitchFamily="18" charset="0"/>
              </a:rPr>
              <a:t>You measure viscosity using an instrument that rotates a spindle immersed in the jar of adhesive. This test yields a measurement called torque resistance. You test five jars selected randomly from each of the most recent five lots</a:t>
            </a:r>
            <a:endParaRPr lang="en-US"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t>17</a:t>
            </a:fld>
            <a:endParaRPr lang="en-US"/>
          </a:p>
        </p:txBody>
      </p:sp>
    </p:spTree>
    <p:extLst>
      <p:ext uri="{BB962C8B-B14F-4D97-AF65-F5344CB8AC3E}">
        <p14:creationId xmlns:p14="http://schemas.microsoft.com/office/powerpoint/2010/main" val="2087996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127"/>
            <a:ext cx="10515600" cy="845561"/>
          </a:xfrm>
        </p:spPr>
        <p:txBody>
          <a:bodyPr>
            <a:normAutofit fontScale="90000"/>
          </a:bodyPr>
          <a:lstStyle/>
          <a:p>
            <a:r>
              <a:rPr lang="en-US" dirty="0"/>
              <a:t/>
            </a:r>
            <a:br>
              <a:rPr lang="en-US" dirty="0"/>
            </a:br>
            <a:endParaRPr lang="en-US" dirty="0"/>
          </a:p>
        </p:txBody>
      </p:sp>
      <p:sp>
        <p:nvSpPr>
          <p:cNvPr id="5"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333333"/>
                </a:solidFill>
                <a:effectLst/>
                <a:latin typeface="Domine"/>
              </a:rPr>
              <a:t/>
            </a:r>
            <a:br>
              <a:rPr kumimoji="0" lang="en-US" altLang="en-US" sz="1400" b="0" i="0" u="none" strike="noStrike" cap="none" normalizeH="0" baseline="0">
                <a:ln>
                  <a:noFill/>
                </a:ln>
                <a:solidFill>
                  <a:srgbClr val="333333"/>
                </a:solidFill>
                <a:effectLst/>
                <a:latin typeface="Domi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942943790"/>
              </p:ext>
            </p:extLst>
          </p:nvPr>
        </p:nvGraphicFramePr>
        <p:xfrm>
          <a:off x="2306782" y="2592979"/>
          <a:ext cx="7294419" cy="3419892"/>
        </p:xfrm>
        <a:graphic>
          <a:graphicData uri="http://schemas.openxmlformats.org/drawingml/2006/table">
            <a:tbl>
              <a:tblPr/>
              <a:tblGrid>
                <a:gridCol w="2431473">
                  <a:extLst>
                    <a:ext uri="{9D8B030D-6E8A-4147-A177-3AD203B41FA5}">
                      <a16:colId xmlns:a16="http://schemas.microsoft.com/office/drawing/2014/main" val="726420392"/>
                    </a:ext>
                  </a:extLst>
                </a:gridCol>
                <a:gridCol w="2431473">
                  <a:extLst>
                    <a:ext uri="{9D8B030D-6E8A-4147-A177-3AD203B41FA5}">
                      <a16:colId xmlns:a16="http://schemas.microsoft.com/office/drawing/2014/main" val="2879040956"/>
                    </a:ext>
                  </a:extLst>
                </a:gridCol>
                <a:gridCol w="2431473">
                  <a:extLst>
                    <a:ext uri="{9D8B030D-6E8A-4147-A177-3AD203B41FA5}">
                      <a16:colId xmlns:a16="http://schemas.microsoft.com/office/drawing/2014/main" val="763713941"/>
                    </a:ext>
                  </a:extLst>
                </a:gridCol>
              </a:tblGrid>
              <a:tr h="569982">
                <a:tc>
                  <a:txBody>
                    <a:bodyPr/>
                    <a:lstStyle/>
                    <a:p>
                      <a:r>
                        <a:rPr lang="en-US">
                          <a:solidFill>
                            <a:srgbClr val="000000"/>
                          </a:solidFill>
                          <a:effectLst/>
                        </a:rPr>
                        <a:t>Lot #</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N</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Mean</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2481837920"/>
                  </a:ext>
                </a:extLst>
              </a:tr>
              <a:tr h="569982">
                <a:tc>
                  <a:txBody>
                    <a:bodyPr/>
                    <a:lstStyle/>
                    <a:p>
                      <a:r>
                        <a:rPr lang="en-US" dirty="0">
                          <a:effectLst/>
                        </a:rPr>
                        <a:t>1</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5</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29.65</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2460447288"/>
                  </a:ext>
                </a:extLst>
              </a:tr>
              <a:tr h="569982">
                <a:tc>
                  <a:txBody>
                    <a:bodyPr/>
                    <a:lstStyle/>
                    <a:p>
                      <a:r>
                        <a:rPr lang="en-US">
                          <a:effectLst/>
                        </a:rPr>
                        <a:t>2</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30.43</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3842991286"/>
                  </a:ext>
                </a:extLst>
              </a:tr>
              <a:tr h="569982">
                <a:tc>
                  <a:txBody>
                    <a:bodyPr/>
                    <a:lstStyle/>
                    <a:p>
                      <a:r>
                        <a:rPr lang="en-US">
                          <a:effectLst/>
                        </a:rPr>
                        <a:t>3</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26.77</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1602934827"/>
                  </a:ext>
                </a:extLst>
              </a:tr>
              <a:tr h="569982">
                <a:tc>
                  <a:txBody>
                    <a:bodyPr/>
                    <a:lstStyle/>
                    <a:p>
                      <a:r>
                        <a:rPr lang="en-US">
                          <a:effectLst/>
                        </a:rPr>
                        <a:t>4</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30.42</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1077650782"/>
                  </a:ext>
                </a:extLst>
              </a:tr>
              <a:tr h="569982">
                <a:tc>
                  <a:txBody>
                    <a:bodyPr/>
                    <a:lstStyle/>
                    <a:p>
                      <a:r>
                        <a:rPr lang="en-US">
                          <a:effectLst/>
                        </a:rPr>
                        <a:t>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29.37</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2449913005"/>
                  </a:ext>
                </a:extLst>
              </a:tr>
            </a:tbl>
          </a:graphicData>
        </a:graphic>
      </p:graphicFrame>
      <p:sp>
        <p:nvSpPr>
          <p:cNvPr id="8" name="Rectangle 2"/>
          <p:cNvSpPr>
            <a:spLocks noChangeArrowheads="1"/>
          </p:cNvSpPr>
          <p:nvPr/>
        </p:nvSpPr>
        <p:spPr bwMode="auto">
          <a:xfrm>
            <a:off x="838200" y="1800915"/>
            <a:ext cx="8003875" cy="868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rgbClr val="333333"/>
                </a:solidFill>
                <a:effectLst/>
                <a:latin typeface="avenir-light"/>
              </a:rPr>
              <a:t>Table 1: Mean torque measurements from tests of five lots of adhesive</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Domine"/>
              </a:rPr>
              <a:t/>
            </a:r>
            <a:br>
              <a:rPr kumimoji="0" lang="en-US" altLang="en-US" sz="1400" b="0" i="0" u="none" strike="noStrike" cap="none" normalizeH="0" baseline="0" dirty="0">
                <a:ln>
                  <a:noFill/>
                </a:ln>
                <a:solidFill>
                  <a:srgbClr val="333333"/>
                </a:solidFill>
                <a:effectLst/>
                <a:latin typeface="Domi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t>18</a:t>
            </a:fld>
            <a:endParaRPr lang="en-US"/>
          </a:p>
        </p:txBody>
      </p:sp>
    </p:spTree>
    <p:extLst>
      <p:ext uri="{BB962C8B-B14F-4D97-AF65-F5344CB8AC3E}">
        <p14:creationId xmlns:p14="http://schemas.microsoft.com/office/powerpoint/2010/main" val="3757100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86563283"/>
              </p:ext>
            </p:extLst>
          </p:nvPr>
        </p:nvGraphicFramePr>
        <p:xfrm>
          <a:off x="1932709" y="2895600"/>
          <a:ext cx="9303330" cy="2373555"/>
        </p:xfrm>
        <a:graphic>
          <a:graphicData uri="http://schemas.openxmlformats.org/drawingml/2006/table">
            <a:tbl>
              <a:tblPr/>
              <a:tblGrid>
                <a:gridCol w="1550555">
                  <a:extLst>
                    <a:ext uri="{9D8B030D-6E8A-4147-A177-3AD203B41FA5}">
                      <a16:colId xmlns:a16="http://schemas.microsoft.com/office/drawing/2014/main" val="3660144060"/>
                    </a:ext>
                  </a:extLst>
                </a:gridCol>
                <a:gridCol w="1550555">
                  <a:extLst>
                    <a:ext uri="{9D8B030D-6E8A-4147-A177-3AD203B41FA5}">
                      <a16:colId xmlns:a16="http://schemas.microsoft.com/office/drawing/2014/main" val="1625452299"/>
                    </a:ext>
                  </a:extLst>
                </a:gridCol>
                <a:gridCol w="1550555">
                  <a:extLst>
                    <a:ext uri="{9D8B030D-6E8A-4147-A177-3AD203B41FA5}">
                      <a16:colId xmlns:a16="http://schemas.microsoft.com/office/drawing/2014/main" val="4127749365"/>
                    </a:ext>
                  </a:extLst>
                </a:gridCol>
                <a:gridCol w="1550555">
                  <a:extLst>
                    <a:ext uri="{9D8B030D-6E8A-4147-A177-3AD203B41FA5}">
                      <a16:colId xmlns:a16="http://schemas.microsoft.com/office/drawing/2014/main" val="2255610611"/>
                    </a:ext>
                  </a:extLst>
                </a:gridCol>
                <a:gridCol w="1550555">
                  <a:extLst>
                    <a:ext uri="{9D8B030D-6E8A-4147-A177-3AD203B41FA5}">
                      <a16:colId xmlns:a16="http://schemas.microsoft.com/office/drawing/2014/main" val="3322899722"/>
                    </a:ext>
                  </a:extLst>
                </a:gridCol>
                <a:gridCol w="1550555">
                  <a:extLst>
                    <a:ext uri="{9D8B030D-6E8A-4147-A177-3AD203B41FA5}">
                      <a16:colId xmlns:a16="http://schemas.microsoft.com/office/drawing/2014/main" val="4109467282"/>
                    </a:ext>
                  </a:extLst>
                </a:gridCol>
              </a:tblGrid>
              <a:tr h="544805">
                <a:tc>
                  <a:txBody>
                    <a:bodyPr/>
                    <a:lstStyle/>
                    <a:p>
                      <a:r>
                        <a:rPr lang="en-US">
                          <a:solidFill>
                            <a:srgbClr val="000000"/>
                          </a:solidFill>
                          <a:effectLst/>
                        </a:rPr>
                        <a:t>Source</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DF</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Sum of Squares</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Mean Square</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F Ratio</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dirty="0" err="1">
                          <a:solidFill>
                            <a:srgbClr val="000000"/>
                          </a:solidFill>
                          <a:effectLst/>
                        </a:rPr>
                        <a:t>Prob</a:t>
                      </a:r>
                      <a:r>
                        <a:rPr lang="en-US" dirty="0">
                          <a:solidFill>
                            <a:srgbClr val="000000"/>
                          </a:solidFill>
                          <a:effectLst/>
                        </a:rPr>
                        <a:t>-&gt; F</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4016147076"/>
                  </a:ext>
                </a:extLst>
              </a:tr>
              <a:tr h="544805">
                <a:tc>
                  <a:txBody>
                    <a:bodyPr/>
                    <a:lstStyle/>
                    <a:p>
                      <a:r>
                        <a:rPr lang="en-US">
                          <a:effectLst/>
                        </a:rPr>
                        <a:t>Lot</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45.25</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11.31</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6.90</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0.0012</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370072425"/>
                  </a:ext>
                </a:extLst>
              </a:tr>
              <a:tr h="544805">
                <a:tc>
                  <a:txBody>
                    <a:bodyPr/>
                    <a:lstStyle/>
                    <a:p>
                      <a:r>
                        <a:rPr lang="en-US">
                          <a:effectLst/>
                        </a:rPr>
                        <a:t>Error</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32.80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1.64</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 </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 </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3533797223"/>
                  </a:ext>
                </a:extLst>
              </a:tr>
              <a:tr h="544805">
                <a:tc>
                  <a:txBody>
                    <a:bodyPr/>
                    <a:lstStyle/>
                    <a:p>
                      <a:r>
                        <a:rPr lang="en-US">
                          <a:effectLst/>
                        </a:rPr>
                        <a:t>Total</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24</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78.05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 </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 </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 </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1046597459"/>
                  </a:ext>
                </a:extLst>
              </a:tr>
            </a:tbl>
          </a:graphicData>
        </a:graphic>
      </p:graphicFrame>
      <p:sp>
        <p:nvSpPr>
          <p:cNvPr id="5" name="Rectangle 1"/>
          <p:cNvSpPr>
            <a:spLocks noChangeArrowheads="1"/>
          </p:cNvSpPr>
          <p:nvPr/>
        </p:nvSpPr>
        <p:spPr bwMode="auto">
          <a:xfrm>
            <a:off x="838200" y="2438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rgbClr val="333333"/>
                </a:solidFill>
                <a:effectLst/>
                <a:latin typeface="avenir-light"/>
              </a:rPr>
              <a:t>Table 2: ANOVA table with results from our torque measurements</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t>19</a:t>
            </a:fld>
            <a:endParaRPr lang="en-US"/>
          </a:p>
        </p:txBody>
      </p:sp>
    </p:spTree>
    <p:extLst>
      <p:ext uri="{BB962C8B-B14F-4D97-AF65-F5344CB8AC3E}">
        <p14:creationId xmlns:p14="http://schemas.microsoft.com/office/powerpoint/2010/main" val="453294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682926" y="2024032"/>
            <a:ext cx="7054970" cy="4152481"/>
          </a:xfrm>
        </p:spPr>
        <p:txBody>
          <a:bodyPr>
            <a:normAutofit/>
          </a:bodyPr>
          <a:lstStyle/>
          <a:p>
            <a:pPr algn="just"/>
            <a:r>
              <a:rPr lang="en-US" sz="2600" dirty="0" smtClean="0">
                <a:latin typeface="Times New Roman" panose="02020603050405020304" pitchFamily="18" charset="0"/>
                <a:cs typeface="Times New Roman" panose="02020603050405020304" pitchFamily="18" charset="0"/>
              </a:rPr>
              <a:t>One key element in this table to focus on for now is the p-value. The p-value is used to evaluate the validity of the null hypothesis that all the means are the same. In our example, the p-value (</a:t>
            </a:r>
            <a:r>
              <a:rPr lang="en-US" sz="2600" dirty="0" err="1" smtClean="0">
                <a:latin typeface="Times New Roman" panose="02020603050405020304" pitchFamily="18" charset="0"/>
                <a:cs typeface="Times New Roman" panose="02020603050405020304" pitchFamily="18" charset="0"/>
              </a:rPr>
              <a:t>Prob</a:t>
            </a:r>
            <a:r>
              <a:rPr lang="en-US" sz="2600" dirty="0" smtClean="0">
                <a:latin typeface="Times New Roman" panose="02020603050405020304" pitchFamily="18" charset="0"/>
                <a:cs typeface="Times New Roman" panose="02020603050405020304" pitchFamily="18" charset="0"/>
              </a:rPr>
              <a:t>-&gt; F) is 0.0012. This small p-value can be taken as evidence that the means are not all the same</a:t>
            </a:r>
          </a:p>
          <a:p>
            <a:pPr algn="just"/>
            <a:r>
              <a:rPr lang="en-US" sz="2600" dirty="0" smtClean="0">
                <a:latin typeface="Times New Roman" panose="02020603050405020304" pitchFamily="18" charset="0"/>
                <a:cs typeface="Times New Roman" panose="02020603050405020304" pitchFamily="18" charset="0"/>
              </a:rPr>
              <a:t>Remember, an ANOVA test will not tell you which mean or means differs from the others, and (unlike our example) this isn't always obvious from a plot of the data</a:t>
            </a:r>
            <a:endParaRPr lang="en-US" sz="2600" dirty="0">
              <a:latin typeface="Times New Roman" panose="02020603050405020304" pitchFamily="18" charset="0"/>
              <a:cs typeface="Times New Roman" panose="02020603050405020304" pitchFamily="18" charset="0"/>
            </a:endParaRPr>
          </a:p>
        </p:txBody>
      </p:sp>
      <p:sp>
        <p:nvSpPr>
          <p:cNvPr id="4" name="Content Placeholder 2"/>
          <p:cNvSpPr txBox="1">
            <a:spLocks/>
          </p:cNvSpPr>
          <p:nvPr/>
        </p:nvSpPr>
        <p:spPr>
          <a:xfrm>
            <a:off x="7995249" y="4427929"/>
            <a:ext cx="3943709" cy="14725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i="1" dirty="0"/>
              <a:t>Hypothesis</a:t>
            </a:r>
            <a:r>
              <a:rPr lang="en-US" sz="1600" i="1" dirty="0"/>
              <a:t>: the viscosity of the adhesive is not consistent among different lots</a:t>
            </a:r>
          </a:p>
          <a:p>
            <a:r>
              <a:rPr lang="en-US" sz="1600" b="1" i="1" dirty="0"/>
              <a:t>Null Hypothesis: </a:t>
            </a:r>
            <a:r>
              <a:rPr lang="en-US" sz="1600" i="1" dirty="0"/>
              <a:t>the viscosity of the adhesive is consistent in all lots</a:t>
            </a:r>
          </a:p>
        </p:txBody>
      </p:sp>
      <p:sp>
        <p:nvSpPr>
          <p:cNvPr id="5" name="Slide Number Placeholder 4"/>
          <p:cNvSpPr>
            <a:spLocks noGrp="1"/>
          </p:cNvSpPr>
          <p:nvPr>
            <p:ph type="sldNum" sz="quarter" idx="12"/>
          </p:nvPr>
        </p:nvSpPr>
        <p:spPr/>
        <p:txBody>
          <a:bodyPr/>
          <a:lstStyle/>
          <a:p>
            <a:fld id="{7307D28F-5A9D-4E18-8428-07D5AC5FC289}" type="slidenum">
              <a:rPr lang="en-US" smtClean="0"/>
              <a:t>20</a:t>
            </a:fld>
            <a:endParaRPr lang="en-US"/>
          </a:p>
        </p:txBody>
      </p:sp>
    </p:spTree>
    <p:extLst>
      <p:ext uri="{BB962C8B-B14F-4D97-AF65-F5344CB8AC3E}">
        <p14:creationId xmlns:p14="http://schemas.microsoft.com/office/powerpoint/2010/main" val="3704711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One-way ANOVA calculation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72832072"/>
              </p:ext>
            </p:extLst>
          </p:nvPr>
        </p:nvGraphicFramePr>
        <p:xfrm>
          <a:off x="2057401" y="2388278"/>
          <a:ext cx="6961908" cy="3680012"/>
        </p:xfrm>
        <a:graphic>
          <a:graphicData uri="http://schemas.openxmlformats.org/drawingml/2006/table">
            <a:tbl>
              <a:tblPr/>
              <a:tblGrid>
                <a:gridCol w="1125988">
                  <a:extLst>
                    <a:ext uri="{9D8B030D-6E8A-4147-A177-3AD203B41FA5}">
                      <a16:colId xmlns:a16="http://schemas.microsoft.com/office/drawing/2014/main" val="3184670589"/>
                    </a:ext>
                  </a:extLst>
                </a:gridCol>
                <a:gridCol w="1167184">
                  <a:extLst>
                    <a:ext uri="{9D8B030D-6E8A-4147-A177-3AD203B41FA5}">
                      <a16:colId xmlns:a16="http://schemas.microsoft.com/office/drawing/2014/main" val="4110195003"/>
                    </a:ext>
                  </a:extLst>
                </a:gridCol>
                <a:gridCol w="1167184">
                  <a:extLst>
                    <a:ext uri="{9D8B030D-6E8A-4147-A177-3AD203B41FA5}">
                      <a16:colId xmlns:a16="http://schemas.microsoft.com/office/drawing/2014/main" val="3371922380"/>
                    </a:ext>
                  </a:extLst>
                </a:gridCol>
                <a:gridCol w="1167184">
                  <a:extLst>
                    <a:ext uri="{9D8B030D-6E8A-4147-A177-3AD203B41FA5}">
                      <a16:colId xmlns:a16="http://schemas.microsoft.com/office/drawing/2014/main" val="1903042229"/>
                    </a:ext>
                  </a:extLst>
                </a:gridCol>
                <a:gridCol w="1167184">
                  <a:extLst>
                    <a:ext uri="{9D8B030D-6E8A-4147-A177-3AD203B41FA5}">
                      <a16:colId xmlns:a16="http://schemas.microsoft.com/office/drawing/2014/main" val="564085337"/>
                    </a:ext>
                  </a:extLst>
                </a:gridCol>
                <a:gridCol w="1167184">
                  <a:extLst>
                    <a:ext uri="{9D8B030D-6E8A-4147-A177-3AD203B41FA5}">
                      <a16:colId xmlns:a16="http://schemas.microsoft.com/office/drawing/2014/main" val="1747928274"/>
                    </a:ext>
                  </a:extLst>
                </a:gridCol>
              </a:tblGrid>
              <a:tr h="525716">
                <a:tc>
                  <a:txBody>
                    <a:bodyPr/>
                    <a:lstStyle/>
                    <a:p>
                      <a:r>
                        <a:rPr lang="en-US">
                          <a:solidFill>
                            <a:srgbClr val="000000"/>
                          </a:solidFill>
                          <a:effectLst/>
                        </a:rPr>
                        <a:t> </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1</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2</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3</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4</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5</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2933462368"/>
                  </a:ext>
                </a:extLst>
              </a:tr>
              <a:tr h="525716">
                <a:tc>
                  <a:txBody>
                    <a:bodyPr/>
                    <a:lstStyle/>
                    <a:p>
                      <a:r>
                        <a:rPr lang="en-US">
                          <a:solidFill>
                            <a:srgbClr val="000000"/>
                          </a:solidFill>
                          <a:effectLst/>
                        </a:rPr>
                        <a:t>Jar 1</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29.39</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30.63</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27.16</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31.03</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29.67</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1096816240"/>
                  </a:ext>
                </a:extLst>
              </a:tr>
              <a:tr h="525716">
                <a:tc>
                  <a:txBody>
                    <a:bodyPr/>
                    <a:lstStyle/>
                    <a:p>
                      <a:r>
                        <a:rPr lang="en-US">
                          <a:solidFill>
                            <a:srgbClr val="000000"/>
                          </a:solidFill>
                          <a:effectLst/>
                        </a:rPr>
                        <a:t>Jar 2</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a:effectLst/>
                        </a:rPr>
                        <a:t>31.51</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32.10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26.63</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30.98</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29.32</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312935352"/>
                  </a:ext>
                </a:extLst>
              </a:tr>
              <a:tr h="525716">
                <a:tc>
                  <a:txBody>
                    <a:bodyPr/>
                    <a:lstStyle/>
                    <a:p>
                      <a:r>
                        <a:rPr lang="en-US">
                          <a:solidFill>
                            <a:srgbClr val="000000"/>
                          </a:solidFill>
                          <a:effectLst/>
                        </a:rPr>
                        <a:t>Jar 3</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30.88</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30.11</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25.31</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28.95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26.87</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2597674833"/>
                  </a:ext>
                </a:extLst>
              </a:tr>
              <a:tr h="525716">
                <a:tc>
                  <a:txBody>
                    <a:bodyPr/>
                    <a:lstStyle/>
                    <a:p>
                      <a:r>
                        <a:rPr lang="en-US">
                          <a:solidFill>
                            <a:srgbClr val="000000"/>
                          </a:solidFill>
                          <a:effectLst/>
                        </a:rPr>
                        <a:t>Jar 4</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a:effectLst/>
                        </a:rPr>
                        <a:t>27.63</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29.63</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27.66</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31.45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31.59</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607644867"/>
                  </a:ext>
                </a:extLst>
              </a:tr>
              <a:tr h="525716">
                <a:tc>
                  <a:txBody>
                    <a:bodyPr/>
                    <a:lstStyle/>
                    <a:p>
                      <a:r>
                        <a:rPr lang="en-US">
                          <a:solidFill>
                            <a:srgbClr val="000000"/>
                          </a:solidFill>
                          <a:effectLst/>
                        </a:rPr>
                        <a:t>Jar 5</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28.85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29.68</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27.10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29.70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29.41</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3821989974"/>
                  </a:ext>
                </a:extLst>
              </a:tr>
              <a:tr h="525716">
                <a:tc>
                  <a:txBody>
                    <a:bodyPr/>
                    <a:lstStyle/>
                    <a:p>
                      <a:r>
                        <a:rPr lang="en-US" b="1">
                          <a:solidFill>
                            <a:srgbClr val="000000"/>
                          </a:solidFill>
                          <a:effectLst/>
                        </a:rPr>
                        <a:t>Mean</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b="1">
                          <a:effectLst/>
                        </a:rPr>
                        <a:t>29.65</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a:effectLst/>
                        </a:rPr>
                        <a:t>30.43</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a:effectLst/>
                        </a:rPr>
                        <a:t>26.77</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dirty="0">
                          <a:effectLst/>
                        </a:rPr>
                        <a:t>30.42</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dirty="0">
                          <a:effectLst/>
                        </a:rPr>
                        <a:t>29.37</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270651249"/>
                  </a:ext>
                </a:extLst>
              </a:tr>
            </a:tbl>
          </a:graphicData>
        </a:graphic>
      </p:graphicFrame>
      <p:sp>
        <p:nvSpPr>
          <p:cNvPr id="5" name="Rectangle 1"/>
          <p:cNvSpPr>
            <a:spLocks noChangeArrowheads="1"/>
          </p:cNvSpPr>
          <p:nvPr/>
        </p:nvSpPr>
        <p:spPr bwMode="auto">
          <a:xfrm>
            <a:off x="1233054" y="1874896"/>
            <a:ext cx="2998321" cy="65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rgbClr val="333333"/>
                </a:solidFill>
                <a:effectLst/>
                <a:latin typeface="avenir-light"/>
              </a:rPr>
              <a:t>Table 3: Torque measurements by Lot</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t>21</a:t>
            </a:fld>
            <a:endParaRPr lang="en-US"/>
          </a:p>
        </p:txBody>
      </p:sp>
    </p:spTree>
    <p:extLst>
      <p:ext uri="{BB962C8B-B14F-4D97-AF65-F5344CB8AC3E}">
        <p14:creationId xmlns:p14="http://schemas.microsoft.com/office/powerpoint/2010/main" val="3048635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115780" y="1475028"/>
            <a:ext cx="8150220" cy="4710112"/>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t>22</a:t>
            </a:fld>
            <a:endParaRPr lang="en-US"/>
          </a:p>
        </p:txBody>
      </p:sp>
    </p:spTree>
    <p:extLst>
      <p:ext uri="{BB962C8B-B14F-4D97-AF65-F5344CB8AC3E}">
        <p14:creationId xmlns:p14="http://schemas.microsoft.com/office/powerpoint/2010/main" val="3666011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 of Squares</a:t>
            </a:r>
            <a:endParaRPr lang="en-US" dirty="0"/>
          </a:p>
        </p:txBody>
      </p:sp>
      <p:sp>
        <p:nvSpPr>
          <p:cNvPr id="3" name="Content Placeholder 2"/>
          <p:cNvSpPr>
            <a:spLocks noGrp="1"/>
          </p:cNvSpPr>
          <p:nvPr>
            <p:ph idx="1"/>
          </p:nvPr>
        </p:nvSpPr>
        <p:spPr>
          <a:xfrm>
            <a:off x="692727" y="1506970"/>
            <a:ext cx="10515600" cy="4351338"/>
          </a:xfrm>
        </p:spPr>
        <p:txBody>
          <a:bodyPr/>
          <a:lstStyle/>
          <a:p>
            <a:pPr algn="just"/>
            <a:r>
              <a:rPr lang="en-US" dirty="0">
                <a:latin typeface="Times New Roman" panose="02020603050405020304" pitchFamily="18" charset="0"/>
                <a:cs typeface="Times New Roman" panose="02020603050405020304" pitchFamily="18" charset="0"/>
              </a:rPr>
              <a:t>The sum of squares gives us a way to quantify variability in a data set by focusing on the difference between each data point and the mean of all data points in that data set. The formula below partitions the overall variability into </a:t>
            </a:r>
            <a:r>
              <a:rPr lang="en-US" b="1" dirty="0">
                <a:latin typeface="Times New Roman" panose="02020603050405020304" pitchFamily="18" charset="0"/>
                <a:cs typeface="Times New Roman" panose="02020603050405020304" pitchFamily="18" charset="0"/>
              </a:rPr>
              <a:t>two parts</a:t>
            </a:r>
            <a:r>
              <a:rPr lang="en-US" dirty="0">
                <a:latin typeface="Times New Roman" panose="02020603050405020304" pitchFamily="18" charset="0"/>
                <a:cs typeface="Times New Roman" panose="02020603050405020304" pitchFamily="18" charset="0"/>
              </a:rPr>
              <a:t>: the variability due to the model or the factor levels, and the variability due to random error.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052079" y="3835039"/>
            <a:ext cx="10156248" cy="2498473"/>
          </a:xfrm>
          <a:prstGeom prst="rect">
            <a:avLst/>
          </a:prstGeom>
        </p:spPr>
      </p:pic>
      <p:sp>
        <p:nvSpPr>
          <p:cNvPr id="5" name="Slide Number Placeholder 4"/>
          <p:cNvSpPr>
            <a:spLocks noGrp="1"/>
          </p:cNvSpPr>
          <p:nvPr>
            <p:ph type="sldNum" sz="quarter" idx="12"/>
          </p:nvPr>
        </p:nvSpPr>
        <p:spPr/>
        <p:txBody>
          <a:bodyPr/>
          <a:lstStyle/>
          <a:p>
            <a:fld id="{7307D28F-5A9D-4E18-8428-07D5AC5FC289}" type="slidenum">
              <a:rPr lang="en-US" smtClean="0"/>
              <a:t>23</a:t>
            </a:fld>
            <a:endParaRPr lang="en-US"/>
          </a:p>
        </p:txBody>
      </p:sp>
    </p:spTree>
    <p:extLst>
      <p:ext uri="{BB962C8B-B14F-4D97-AF65-F5344CB8AC3E}">
        <p14:creationId xmlns:p14="http://schemas.microsoft.com/office/powerpoint/2010/main" val="307605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690687"/>
            <a:ext cx="10624090" cy="3906549"/>
          </a:xfrm>
          <a:prstGeom prst="rect">
            <a:avLst/>
          </a:prstGeom>
        </p:spPr>
      </p:pic>
      <p:sp>
        <p:nvSpPr>
          <p:cNvPr id="5" name="TextBox 4"/>
          <p:cNvSpPr txBox="1"/>
          <p:nvPr/>
        </p:nvSpPr>
        <p:spPr>
          <a:xfrm>
            <a:off x="6096000" y="5597236"/>
            <a:ext cx="249381" cy="1200329"/>
          </a:xfrm>
          <a:prstGeom prst="rect">
            <a:avLst/>
          </a:prstGeom>
          <a:noFill/>
        </p:spPr>
        <p:txBody>
          <a:bodyPr wrap="square" rtlCol="0">
            <a:spAutoFit/>
          </a:bodyPr>
          <a:lstStyle/>
          <a:p>
            <a:r>
              <a:rPr lang="en-US" sz="2400" b="1" dirty="0"/>
              <a:t>.</a:t>
            </a:r>
          </a:p>
          <a:p>
            <a:r>
              <a:rPr lang="en-US" sz="2400" b="1" dirty="0"/>
              <a:t>..</a:t>
            </a:r>
          </a:p>
        </p:txBody>
      </p:sp>
      <p:sp>
        <p:nvSpPr>
          <p:cNvPr id="3" name="Slide Number Placeholder 2"/>
          <p:cNvSpPr>
            <a:spLocks noGrp="1"/>
          </p:cNvSpPr>
          <p:nvPr>
            <p:ph type="sldNum" sz="quarter" idx="12"/>
          </p:nvPr>
        </p:nvSpPr>
        <p:spPr/>
        <p:txBody>
          <a:bodyPr/>
          <a:lstStyle/>
          <a:p>
            <a:fld id="{7307D28F-5A9D-4E18-8428-07D5AC5FC289}" type="slidenum">
              <a:rPr lang="en-US" smtClean="0"/>
              <a:t>24</a:t>
            </a:fld>
            <a:endParaRPr lang="en-US"/>
          </a:p>
        </p:txBody>
      </p:sp>
    </p:spTree>
    <p:extLst>
      <p:ext uri="{BB962C8B-B14F-4D97-AF65-F5344CB8AC3E}">
        <p14:creationId xmlns:p14="http://schemas.microsoft.com/office/powerpoint/2010/main" val="1453211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537855"/>
            <a:ext cx="10515600" cy="4639108"/>
          </a:xfrm>
        </p:spPr>
        <p:txBody>
          <a:bodyPr/>
          <a:lstStyle/>
          <a:p>
            <a:pPr marL="0" indent="0" algn="ctr">
              <a:buNone/>
            </a:pPr>
            <a:r>
              <a:rPr lang="en-US" b="1" dirty="0"/>
              <a:t>.</a:t>
            </a:r>
          </a:p>
          <a:p>
            <a:pPr marL="0" indent="0" algn="ctr">
              <a:buNone/>
            </a:pPr>
            <a:r>
              <a:rPr lang="en-US" b="1" dirty="0"/>
              <a:t>.</a:t>
            </a:r>
          </a:p>
          <a:p>
            <a:endParaRPr lang="en-US" dirty="0"/>
          </a:p>
        </p:txBody>
      </p:sp>
      <p:pic>
        <p:nvPicPr>
          <p:cNvPr id="4" name="Picture 3"/>
          <p:cNvPicPr>
            <a:picLocks noChangeAspect="1"/>
          </p:cNvPicPr>
          <p:nvPr/>
        </p:nvPicPr>
        <p:blipFill>
          <a:blip r:embed="rId2"/>
          <a:stretch>
            <a:fillRect/>
          </a:stretch>
        </p:blipFill>
        <p:spPr>
          <a:xfrm>
            <a:off x="725632" y="2599691"/>
            <a:ext cx="11006740" cy="3837709"/>
          </a:xfrm>
          <a:prstGeom prst="rect">
            <a:avLst/>
          </a:prstGeom>
        </p:spPr>
      </p:pic>
      <p:sp>
        <p:nvSpPr>
          <p:cNvPr id="5" name="Slide Number Placeholder 4"/>
          <p:cNvSpPr>
            <a:spLocks noGrp="1"/>
          </p:cNvSpPr>
          <p:nvPr>
            <p:ph type="sldNum" sz="quarter" idx="12"/>
          </p:nvPr>
        </p:nvSpPr>
        <p:spPr/>
        <p:txBody>
          <a:bodyPr/>
          <a:lstStyle/>
          <a:p>
            <a:fld id="{7307D28F-5A9D-4E18-8428-07D5AC5FC289}" type="slidenum">
              <a:rPr lang="en-US" smtClean="0"/>
              <a:t>25</a:t>
            </a:fld>
            <a:endParaRPr lang="en-US"/>
          </a:p>
        </p:txBody>
      </p:sp>
    </p:spTree>
    <p:extLst>
      <p:ext uri="{BB962C8B-B14F-4D97-AF65-F5344CB8AC3E}">
        <p14:creationId xmlns:p14="http://schemas.microsoft.com/office/powerpoint/2010/main" val="218166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Degrees of Freedom (DF)</a:t>
            </a:r>
            <a:r>
              <a:rPr lang="en-US" b="1" dirty="0"/>
              <a:t/>
            </a:r>
            <a:br>
              <a:rPr lang="en-US" b="1" dirty="0"/>
            </a:br>
            <a:endParaRPr lang="en-US" dirty="0"/>
          </a:p>
        </p:txBody>
      </p:sp>
      <p:sp>
        <p:nvSpPr>
          <p:cNvPr id="3" name="Content Placeholder 2"/>
          <p:cNvSpPr>
            <a:spLocks noGrp="1"/>
          </p:cNvSpPr>
          <p:nvPr>
            <p:ph idx="1"/>
          </p:nvPr>
        </p:nvSpPr>
        <p:spPr>
          <a:xfrm>
            <a:off x="838199" y="1411557"/>
            <a:ext cx="10515600" cy="4351338"/>
          </a:xfrm>
        </p:spPr>
        <p:txBody>
          <a:bodyPr/>
          <a:lstStyle/>
          <a:p>
            <a:r>
              <a:rPr lang="en-US" sz="2400" dirty="0">
                <a:latin typeface="Times New Roman" panose="02020603050405020304" pitchFamily="18" charset="0"/>
                <a:cs typeface="Times New Roman" panose="02020603050405020304" pitchFamily="18" charset="0"/>
              </a:rPr>
              <a:t>The number of values that are free to vary in a data set</a:t>
            </a:r>
          </a:p>
          <a:p>
            <a:r>
              <a:rPr lang="en-US" sz="2400" dirty="0">
                <a:latin typeface="Times New Roman" panose="02020603050405020304" pitchFamily="18" charset="0"/>
                <a:cs typeface="Times New Roman" panose="02020603050405020304" pitchFamily="18" charset="0"/>
              </a:rPr>
              <a:t>The degrees of freedom indicates the number of independent pieces of information used to calculate each sum of squares.</a:t>
            </a:r>
          </a:p>
          <a:p>
            <a:r>
              <a:rPr lang="en-US" sz="2400" dirty="0">
                <a:latin typeface="Times New Roman" panose="02020603050405020304" pitchFamily="18" charset="0"/>
                <a:cs typeface="Times New Roman" panose="02020603050405020304" pitchFamily="18" charset="0"/>
              </a:rPr>
              <a:t>For a one-factor design with a factor at k levels (five lots in our example) and a total of N observations (five jars per lot for a total of 25), the degrees of freedom are as follows: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82917153"/>
              </p:ext>
            </p:extLst>
          </p:nvPr>
        </p:nvGraphicFramePr>
        <p:xfrm>
          <a:off x="838199" y="4027618"/>
          <a:ext cx="10134601" cy="1999108"/>
        </p:xfrm>
        <a:graphic>
          <a:graphicData uri="http://schemas.openxmlformats.org/drawingml/2006/table">
            <a:tbl>
              <a:tblPr/>
              <a:tblGrid>
                <a:gridCol w="2237510">
                  <a:extLst>
                    <a:ext uri="{9D8B030D-6E8A-4147-A177-3AD203B41FA5}">
                      <a16:colId xmlns:a16="http://schemas.microsoft.com/office/drawing/2014/main" val="1631488494"/>
                    </a:ext>
                  </a:extLst>
                </a:gridCol>
                <a:gridCol w="4142509">
                  <a:extLst>
                    <a:ext uri="{9D8B030D-6E8A-4147-A177-3AD203B41FA5}">
                      <a16:colId xmlns:a16="http://schemas.microsoft.com/office/drawing/2014/main" val="1753918608"/>
                    </a:ext>
                  </a:extLst>
                </a:gridCol>
                <a:gridCol w="3754582">
                  <a:extLst>
                    <a:ext uri="{9D8B030D-6E8A-4147-A177-3AD203B41FA5}">
                      <a16:colId xmlns:a16="http://schemas.microsoft.com/office/drawing/2014/main" val="500180760"/>
                    </a:ext>
                  </a:extLst>
                </a:gridCol>
              </a:tblGrid>
              <a:tr h="499777">
                <a:tc>
                  <a:txBody>
                    <a:bodyPr/>
                    <a:lstStyle/>
                    <a:p>
                      <a:r>
                        <a:rPr lang="en-US" sz="1800">
                          <a:solidFill>
                            <a:srgbClr val="000000"/>
                          </a:solidFill>
                          <a:effectLst/>
                        </a:rPr>
                        <a:t> </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pPr algn="ctr"/>
                      <a:r>
                        <a:rPr lang="en-US" sz="1800" dirty="0">
                          <a:solidFill>
                            <a:srgbClr val="000000"/>
                          </a:solidFill>
                          <a:effectLst/>
                        </a:rPr>
                        <a:t>Degrees of Freedom (DF) Formula</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pPr algn="ctr"/>
                      <a:r>
                        <a:rPr lang="en-US" sz="1800">
                          <a:solidFill>
                            <a:srgbClr val="000000"/>
                          </a:solidFill>
                          <a:effectLst/>
                        </a:rPr>
                        <a:t>Calculated Degrees of Freedom </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290570722"/>
                  </a:ext>
                </a:extLst>
              </a:tr>
              <a:tr h="499777">
                <a:tc>
                  <a:txBody>
                    <a:bodyPr/>
                    <a:lstStyle/>
                    <a:p>
                      <a:r>
                        <a:rPr lang="en-US" sz="1800">
                          <a:solidFill>
                            <a:srgbClr val="000000"/>
                          </a:solidFill>
                          <a:effectLst/>
                        </a:rPr>
                        <a:t>SS (Factor)</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pPr algn="ctr"/>
                      <a:r>
                        <a:rPr lang="en-US" sz="1800" dirty="0">
                          <a:effectLst/>
                        </a:rPr>
                        <a:t>k - 1</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pPr algn="ctr"/>
                      <a:r>
                        <a:rPr lang="en-US" sz="1800">
                          <a:effectLst/>
                        </a:rPr>
                        <a:t>5 - 1 = 4</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690759559"/>
                  </a:ext>
                </a:extLst>
              </a:tr>
              <a:tr h="499777">
                <a:tc>
                  <a:txBody>
                    <a:bodyPr/>
                    <a:lstStyle/>
                    <a:p>
                      <a:r>
                        <a:rPr lang="en-US" sz="1800">
                          <a:solidFill>
                            <a:srgbClr val="000000"/>
                          </a:solidFill>
                          <a:effectLst/>
                        </a:rPr>
                        <a:t>SS (Error)</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pPr algn="ctr"/>
                      <a:r>
                        <a:rPr lang="en-US" sz="1800">
                          <a:effectLst/>
                        </a:rPr>
                        <a:t>N - k</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pPr algn="ctr"/>
                      <a:r>
                        <a:rPr lang="en-US" sz="1800">
                          <a:effectLst/>
                        </a:rPr>
                        <a:t>25 - 5 = 20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4244046711"/>
                  </a:ext>
                </a:extLst>
              </a:tr>
              <a:tr h="499777">
                <a:tc>
                  <a:txBody>
                    <a:bodyPr/>
                    <a:lstStyle/>
                    <a:p>
                      <a:r>
                        <a:rPr lang="en-US" sz="1800">
                          <a:solidFill>
                            <a:srgbClr val="000000"/>
                          </a:solidFill>
                          <a:effectLst/>
                        </a:rPr>
                        <a:t>SS (Total)</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pPr algn="ctr"/>
                      <a:r>
                        <a:rPr lang="en-US" sz="1800">
                          <a:effectLst/>
                        </a:rPr>
                        <a:t>N - 1</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pPr algn="ctr"/>
                      <a:r>
                        <a:rPr lang="en-US" sz="1800" dirty="0">
                          <a:effectLst/>
                        </a:rPr>
                        <a:t>25 - 1 = 24</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3150293503"/>
                  </a:ext>
                </a:extLst>
              </a:tr>
            </a:tbl>
          </a:graphicData>
        </a:graphic>
      </p:graphicFrame>
      <p:sp>
        <p:nvSpPr>
          <p:cNvPr id="5" name="Rectangle 1"/>
          <p:cNvSpPr>
            <a:spLocks noChangeArrowheads="1"/>
          </p:cNvSpPr>
          <p:nvPr/>
        </p:nvSpPr>
        <p:spPr bwMode="auto">
          <a:xfrm>
            <a:off x="838199" y="40277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333333"/>
                </a:solidFill>
                <a:effectLst/>
                <a:latin typeface="Domine"/>
              </a:rPr>
              <a:t/>
            </a:r>
            <a:br>
              <a:rPr kumimoji="0" lang="en-US" altLang="en-US" sz="1400" b="0" i="0" u="none" strike="noStrike" cap="none" normalizeH="0" baseline="0">
                <a:ln>
                  <a:noFill/>
                </a:ln>
                <a:solidFill>
                  <a:srgbClr val="333333"/>
                </a:solidFill>
                <a:effectLst/>
                <a:latin typeface="Domi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Slide Number Placeholder 5"/>
          <p:cNvSpPr>
            <a:spLocks noGrp="1"/>
          </p:cNvSpPr>
          <p:nvPr>
            <p:ph type="sldNum" sz="quarter" idx="12"/>
          </p:nvPr>
        </p:nvSpPr>
        <p:spPr/>
        <p:txBody>
          <a:bodyPr/>
          <a:lstStyle/>
          <a:p>
            <a:fld id="{7307D28F-5A9D-4E18-8428-07D5AC5FC289}" type="slidenum">
              <a:rPr lang="en-US" smtClean="0"/>
              <a:t>26</a:t>
            </a:fld>
            <a:endParaRPr lang="en-US"/>
          </a:p>
        </p:txBody>
      </p:sp>
    </p:spTree>
    <p:extLst>
      <p:ext uri="{BB962C8B-B14F-4D97-AF65-F5344CB8AC3E}">
        <p14:creationId xmlns:p14="http://schemas.microsoft.com/office/powerpoint/2010/main" val="3464131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Mean Squares (MS) and F Ratio</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We divide each sum of squares by the corresponding degrees of freedom to obtain Mean Squares (</a:t>
            </a:r>
            <a:r>
              <a:rPr lang="en-US" b="1" dirty="0">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 When the null hypothesis is true (i.e. the means are equal), </a:t>
            </a:r>
            <a:r>
              <a:rPr lang="en-US" b="1" dirty="0">
                <a:latin typeface="Times New Roman" panose="02020603050405020304" pitchFamily="18" charset="0"/>
                <a:cs typeface="Times New Roman" panose="02020603050405020304" pitchFamily="18" charset="0"/>
              </a:rPr>
              <a:t>MS (Factor) and MS (Error) are both would be about the same size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Their ratio, or the F ratio, would be close to one. </a:t>
            </a:r>
            <a:r>
              <a:rPr lang="en-US" dirty="0">
                <a:latin typeface="Times New Roman" panose="02020603050405020304" pitchFamily="18" charset="0"/>
                <a:cs typeface="Times New Roman" panose="02020603050405020304" pitchFamily="18" charset="0"/>
              </a:rPr>
              <a:t>When the null hypothesis is not true then the MS (Factor) will be larger than MS (Error) and </a:t>
            </a:r>
            <a:r>
              <a:rPr lang="en-US" b="1" dirty="0">
                <a:latin typeface="Times New Roman" panose="02020603050405020304" pitchFamily="18" charset="0"/>
                <a:cs typeface="Times New Roman" panose="02020603050405020304" pitchFamily="18" charset="0"/>
              </a:rPr>
              <a:t>their ratio greater than 1</a:t>
            </a:r>
            <a:r>
              <a:rPr lang="en-US" dirty="0">
                <a:latin typeface="Times New Roman" panose="02020603050405020304" pitchFamily="18" charset="0"/>
                <a:cs typeface="Times New Roman" panose="02020603050405020304" pitchFamily="18" charset="0"/>
              </a:rPr>
              <a:t>. In our adhesive testing example, the computed F ratio, 6.90, presents significant evidence </a:t>
            </a:r>
            <a:r>
              <a:rPr lang="en-US" b="1" dirty="0">
                <a:latin typeface="Times New Roman" panose="02020603050405020304" pitchFamily="18" charset="0"/>
                <a:cs typeface="Times New Roman" panose="02020603050405020304" pitchFamily="18" charset="0"/>
              </a:rPr>
              <a:t>against</a:t>
            </a:r>
            <a:r>
              <a:rPr lang="en-US" dirty="0">
                <a:latin typeface="Times New Roman" panose="02020603050405020304" pitchFamily="18" charset="0"/>
                <a:cs typeface="Times New Roman" panose="02020603050405020304" pitchFamily="18" charset="0"/>
              </a:rPr>
              <a:t> the null hypothesis that the means are equal.</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t>27</a:t>
            </a:fld>
            <a:endParaRPr lang="en-US"/>
          </a:p>
        </p:txBody>
      </p:sp>
    </p:spTree>
    <p:extLst>
      <p:ext uri="{BB962C8B-B14F-4D97-AF65-F5344CB8AC3E}">
        <p14:creationId xmlns:p14="http://schemas.microsoft.com/office/powerpoint/2010/main" val="3850000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72874680"/>
              </p:ext>
            </p:extLst>
          </p:nvPr>
        </p:nvGraphicFramePr>
        <p:xfrm>
          <a:off x="1420091" y="2896318"/>
          <a:ext cx="9608126" cy="1932612"/>
        </p:xfrm>
        <a:graphic>
          <a:graphicData uri="http://schemas.openxmlformats.org/drawingml/2006/table">
            <a:tbl>
              <a:tblPr/>
              <a:tblGrid>
                <a:gridCol w="1866982">
                  <a:extLst>
                    <a:ext uri="{9D8B030D-6E8A-4147-A177-3AD203B41FA5}">
                      <a16:colId xmlns:a16="http://schemas.microsoft.com/office/drawing/2014/main" val="3402079035"/>
                    </a:ext>
                  </a:extLst>
                </a:gridCol>
                <a:gridCol w="1935286">
                  <a:extLst>
                    <a:ext uri="{9D8B030D-6E8A-4147-A177-3AD203B41FA5}">
                      <a16:colId xmlns:a16="http://schemas.microsoft.com/office/drawing/2014/main" val="420112480"/>
                    </a:ext>
                  </a:extLst>
                </a:gridCol>
                <a:gridCol w="1935286">
                  <a:extLst>
                    <a:ext uri="{9D8B030D-6E8A-4147-A177-3AD203B41FA5}">
                      <a16:colId xmlns:a16="http://schemas.microsoft.com/office/drawing/2014/main" val="2904786448"/>
                    </a:ext>
                  </a:extLst>
                </a:gridCol>
                <a:gridCol w="2026513">
                  <a:extLst>
                    <a:ext uri="{9D8B030D-6E8A-4147-A177-3AD203B41FA5}">
                      <a16:colId xmlns:a16="http://schemas.microsoft.com/office/drawing/2014/main" val="262350905"/>
                    </a:ext>
                  </a:extLst>
                </a:gridCol>
                <a:gridCol w="1844059">
                  <a:extLst>
                    <a:ext uri="{9D8B030D-6E8A-4147-A177-3AD203B41FA5}">
                      <a16:colId xmlns:a16="http://schemas.microsoft.com/office/drawing/2014/main" val="4129478475"/>
                    </a:ext>
                  </a:extLst>
                </a:gridCol>
              </a:tblGrid>
              <a:tr h="734506">
                <a:tc>
                  <a:txBody>
                    <a:bodyPr/>
                    <a:lstStyle/>
                    <a:p>
                      <a:r>
                        <a:rPr lang="en-US">
                          <a:solidFill>
                            <a:srgbClr val="000000"/>
                          </a:solidFill>
                          <a:effectLst/>
                        </a:rPr>
                        <a:t> </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dirty="0">
                          <a:solidFill>
                            <a:srgbClr val="000000"/>
                          </a:solidFill>
                          <a:effectLst/>
                        </a:rPr>
                        <a:t>Sum of Squares (SS)</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Degrees of Freedom (DF)</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Mean Squares</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F Ratio</a:t>
                      </a: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1555817890"/>
                  </a:ext>
                </a:extLst>
              </a:tr>
              <a:tr h="728652">
                <a:tc>
                  <a:txBody>
                    <a:bodyPr/>
                    <a:lstStyle/>
                    <a:p>
                      <a:r>
                        <a:rPr lang="en-US">
                          <a:solidFill>
                            <a:srgbClr val="000000"/>
                          </a:solidFill>
                          <a:effectLst/>
                        </a:rPr>
                        <a:t>SS (Factor)</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45.25</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45.25/4 = 11.31</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11.31/1.64 = 6.90</a:t>
                      </a: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extLst>
                  <a:ext uri="{0D108BD9-81ED-4DB2-BD59-A6C34878D82A}">
                    <a16:rowId xmlns:a16="http://schemas.microsoft.com/office/drawing/2014/main" val="3404552611"/>
                  </a:ext>
                </a:extLst>
              </a:tr>
              <a:tr h="461906">
                <a:tc>
                  <a:txBody>
                    <a:bodyPr/>
                    <a:lstStyle/>
                    <a:p>
                      <a:r>
                        <a:rPr lang="en-US">
                          <a:solidFill>
                            <a:srgbClr val="000000"/>
                          </a:solidFill>
                          <a:effectLst/>
                        </a:rPr>
                        <a:t>SS (Error)</a:t>
                      </a: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dirty="0">
                          <a:effectLst/>
                        </a:rPr>
                        <a:t>32.80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20</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32.80/20 = 1.64</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 </a:t>
                      </a: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extLst>
                  <a:ext uri="{0D108BD9-81ED-4DB2-BD59-A6C34878D82A}">
                    <a16:rowId xmlns:a16="http://schemas.microsoft.com/office/drawing/2014/main" val="4253828916"/>
                  </a:ext>
                </a:extLst>
              </a:tr>
            </a:tbl>
          </a:graphicData>
        </a:graphic>
      </p:graphicFrame>
      <p:sp>
        <p:nvSpPr>
          <p:cNvPr id="5" name="Rectangle 1"/>
          <p:cNvSpPr>
            <a:spLocks noChangeArrowheads="1"/>
          </p:cNvSpPr>
          <p:nvPr/>
        </p:nvSpPr>
        <p:spPr bwMode="auto">
          <a:xfrm>
            <a:off x="955963" y="243911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rgbClr val="333333"/>
                </a:solidFill>
                <a:effectLst/>
                <a:latin typeface="avenir-light"/>
              </a:rPr>
              <a:t>Table 6: Calculating mean squares and F ratio</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Domine"/>
              </a:rPr>
              <a:t/>
            </a:r>
            <a:br>
              <a:rPr kumimoji="0" lang="en-US" altLang="en-US" sz="1400" b="0" i="0" u="none" strike="noStrike" cap="none" normalizeH="0" baseline="0" dirty="0">
                <a:ln>
                  <a:noFill/>
                </a:ln>
                <a:solidFill>
                  <a:srgbClr val="333333"/>
                </a:solidFill>
                <a:effectLst/>
                <a:latin typeface="Domi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t>28</a:t>
            </a:fld>
            <a:endParaRPr lang="en-US"/>
          </a:p>
        </p:txBody>
      </p:sp>
    </p:spTree>
    <p:extLst>
      <p:ext uri="{BB962C8B-B14F-4D97-AF65-F5344CB8AC3E}">
        <p14:creationId xmlns:p14="http://schemas.microsoft.com/office/powerpoint/2010/main" val="2765865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724</TotalTime>
  <Words>1388</Words>
  <Application>Microsoft Office PowerPoint</Application>
  <PresentationFormat>Widescreen</PresentationFormat>
  <Paragraphs>211</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avenir-light</vt:lpstr>
      <vt:lpstr>Calibri</vt:lpstr>
      <vt:lpstr>Calibri Light</vt:lpstr>
      <vt:lpstr>Domine</vt:lpstr>
      <vt:lpstr>Times New Roman</vt:lpstr>
      <vt:lpstr>Office Theme</vt:lpstr>
      <vt:lpstr>Data Collection Techniques and ANOVA Test</vt:lpstr>
      <vt:lpstr>Software Metrics Data Collection</vt:lpstr>
      <vt:lpstr>What is Good Data?</vt:lpstr>
      <vt:lpstr>How to Define the Data</vt:lpstr>
      <vt:lpstr>How to Define the Data</vt:lpstr>
      <vt:lpstr>Data Collection Techniques for Software Field Studies</vt:lpstr>
      <vt:lpstr>A Taxonomy of Data Collection</vt:lpstr>
      <vt:lpstr>Data Collection Techniques</vt:lpstr>
      <vt:lpstr>Some Definitions</vt:lpstr>
      <vt:lpstr>Definitions</vt:lpstr>
      <vt:lpstr>PowerPoint Presentation</vt:lpstr>
      <vt:lpstr>ANOVA Test</vt:lpstr>
      <vt:lpstr>One-Way ANOVA</vt:lpstr>
      <vt:lpstr>One-Way ANOVA (cont..)</vt:lpstr>
      <vt:lpstr>Examples </vt:lpstr>
      <vt:lpstr>Example </vt:lpstr>
      <vt:lpstr>PowerPoint Presentation</vt:lpstr>
      <vt:lpstr> </vt:lpstr>
      <vt:lpstr>PowerPoint Presentation</vt:lpstr>
      <vt:lpstr>PowerPoint Presentation</vt:lpstr>
      <vt:lpstr>One-way ANOVA calculation</vt:lpstr>
      <vt:lpstr>PowerPoint Presentation</vt:lpstr>
      <vt:lpstr>Sum of Squares</vt:lpstr>
      <vt:lpstr>PowerPoint Presentation</vt:lpstr>
      <vt:lpstr>PowerPoint Presentation</vt:lpstr>
      <vt:lpstr>Degrees of Freedom (DF) </vt:lpstr>
      <vt:lpstr>Mean Squares (MS) and F Ratio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79</cp:revision>
  <dcterms:created xsi:type="dcterms:W3CDTF">2022-08-03T06:30:09Z</dcterms:created>
  <dcterms:modified xsi:type="dcterms:W3CDTF">2025-05-19T08:13:39Z</dcterms:modified>
</cp:coreProperties>
</file>