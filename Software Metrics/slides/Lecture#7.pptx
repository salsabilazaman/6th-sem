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316" r:id="rId3"/>
    <p:sldId id="257" r:id="rId4"/>
    <p:sldId id="258" r:id="rId5"/>
    <p:sldId id="259" r:id="rId6"/>
    <p:sldId id="260" r:id="rId7"/>
    <p:sldId id="261" r:id="rId8"/>
    <p:sldId id="263" r:id="rId9"/>
    <p:sldId id="262" r:id="rId10"/>
    <p:sldId id="314" r:id="rId11"/>
    <p:sldId id="315" r:id="rId12"/>
    <p:sldId id="264" r:id="rId13"/>
    <p:sldId id="265" r:id="rId14"/>
    <p:sldId id="266" r:id="rId15"/>
    <p:sldId id="267" r:id="rId16"/>
    <p:sldId id="268" r:id="rId17"/>
    <p:sldId id="270" r:id="rId18"/>
    <p:sldId id="271" r:id="rId19"/>
    <p:sldId id="295" r:id="rId20"/>
    <p:sldId id="272" r:id="rId21"/>
    <p:sldId id="273" r:id="rId22"/>
    <p:sldId id="274" r:id="rId23"/>
    <p:sldId id="275" r:id="rId24"/>
    <p:sldId id="276" r:id="rId25"/>
    <p:sldId id="277" r:id="rId26"/>
    <p:sldId id="297" r:id="rId27"/>
    <p:sldId id="278" r:id="rId28"/>
    <p:sldId id="279" r:id="rId29"/>
    <p:sldId id="280" r:id="rId30"/>
    <p:sldId id="281" r:id="rId31"/>
    <p:sldId id="282" r:id="rId32"/>
    <p:sldId id="283" r:id="rId33"/>
    <p:sldId id="285" r:id="rId34"/>
    <p:sldId id="287" r:id="rId35"/>
    <p:sldId id="284" r:id="rId36"/>
    <p:sldId id="286" r:id="rId37"/>
    <p:sldId id="288" r:id="rId38"/>
    <p:sldId id="289" r:id="rId39"/>
    <p:sldId id="298" r:id="rId40"/>
    <p:sldId id="299" r:id="rId41"/>
    <p:sldId id="296" r:id="rId42"/>
    <p:sldId id="300" r:id="rId43"/>
    <p:sldId id="301" r:id="rId44"/>
    <p:sldId id="302" r:id="rId45"/>
    <p:sldId id="303" r:id="rId46"/>
    <p:sldId id="304" r:id="rId47"/>
    <p:sldId id="305" r:id="rId48"/>
    <p:sldId id="307" r:id="rId49"/>
    <p:sldId id="306" r:id="rId50"/>
    <p:sldId id="308" r:id="rId51"/>
    <p:sldId id="309" r:id="rId52"/>
    <p:sldId id="310" r:id="rId53"/>
    <p:sldId id="313" r:id="rId54"/>
    <p:sldId id="311" r:id="rId55"/>
    <p:sldId id="312"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579D28-FBA2-4E11-BF7B-01F3A6E90453}" type="datetimeFigureOut">
              <a:rPr lang="en-US" smtClean="0"/>
              <a:t>5/25/2025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9CA70-5DFF-40AE-992B-8CE1A7826206}" type="slidenum">
              <a:rPr lang="en-US" smtClean="0"/>
              <a:t>‹#›</a:t>
            </a:fld>
            <a:endParaRPr lang="en-US"/>
          </a:p>
        </p:txBody>
      </p:sp>
    </p:spTree>
    <p:extLst>
      <p:ext uri="{BB962C8B-B14F-4D97-AF65-F5344CB8AC3E}">
        <p14:creationId xmlns:p14="http://schemas.microsoft.com/office/powerpoint/2010/main" val="970008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39CA70-5DFF-40AE-992B-8CE1A7826206}" type="slidenum">
              <a:rPr lang="en-US" smtClean="0"/>
              <a:t>5</a:t>
            </a:fld>
            <a:endParaRPr lang="en-US"/>
          </a:p>
        </p:txBody>
      </p:sp>
    </p:spTree>
    <p:extLst>
      <p:ext uri="{BB962C8B-B14F-4D97-AF65-F5344CB8AC3E}">
        <p14:creationId xmlns:p14="http://schemas.microsoft.com/office/powerpoint/2010/main" val="424742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087BAD3-9D42-4048-ACC2-AD8BD27DF9A4}" type="datetime1">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480492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8CE60-8959-4696-A8DD-B8F5289C320C}" type="datetime1">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450833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99CEF1E-A773-4035-AF8A-B470FD4A7DC5}" type="datetime1">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3589391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1D5FB6E-034E-44CD-8122-07275726AC9A}" type="datetime1">
              <a:rPr lang="en-US" smtClean="0"/>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139343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631BA56-BB30-4FC6-8A18-A95810EDD4CB}" type="datetime1">
              <a:rPr lang="en-US" smtClean="0"/>
              <a:t>5/25/2025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3371295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3B90DF-41B9-4C2B-8FC2-A9E1E21CDDDC}" type="datetime1">
              <a:rPr lang="en-US" smtClean="0"/>
              <a:t>5/25/2025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3284440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75BA13-F8A1-463C-BA29-6B62B68239B6}" type="datetime1">
              <a:rPr lang="en-US" smtClean="0"/>
              <a:t>5/25/2025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3853763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9C915D-7673-4E37-87DF-D9F9FDE0F69B}" type="datetime1">
              <a:rPr lang="en-US" smtClean="0"/>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2641553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A5DED4F-D232-4388-9300-85A61A4439BA}" type="datetime1">
              <a:rPr lang="en-US" smtClean="0"/>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941941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EEEE9-011E-4EBE-BE5F-E7B28B51ED94}" type="datetime1">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3602783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546608-B868-430B-B4E9-4E3233908C8F}" type="datetime1">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AA8BD-D267-4C4E-B16C-9A3CB850B983}" type="slidenum">
              <a:rPr lang="en-US" smtClean="0"/>
              <a:t>‹#›</a:t>
            </a:fld>
            <a:endParaRPr lang="en-US"/>
          </a:p>
        </p:txBody>
      </p:sp>
    </p:spTree>
    <p:extLst>
      <p:ext uri="{BB962C8B-B14F-4D97-AF65-F5344CB8AC3E}">
        <p14:creationId xmlns:p14="http://schemas.microsoft.com/office/powerpoint/2010/main" val="113445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6E0116-0783-4C1E-BFA5-120E80361191}" type="datetime1">
              <a:rPr lang="en-US" smtClean="0"/>
              <a:t>5/25/2025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AAA8BD-D267-4C4E-B16C-9A3CB850B983}" type="slidenum">
              <a:rPr lang="en-US" smtClean="0"/>
              <a:t>‹#›</a:t>
            </a:fld>
            <a:endParaRPr lang="en-US"/>
          </a:p>
        </p:txBody>
      </p:sp>
    </p:spTree>
    <p:extLst>
      <p:ext uri="{BB962C8B-B14F-4D97-AF65-F5344CB8AC3E}">
        <p14:creationId xmlns:p14="http://schemas.microsoft.com/office/powerpoint/2010/main" val="3226897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ifpug.org/"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Measuring Internal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Product Attributes</a:t>
            </a:r>
          </a:p>
        </p:txBody>
      </p:sp>
      <p:sp>
        <p:nvSpPr>
          <p:cNvPr id="3" name="Subtitle 2"/>
          <p:cNvSpPr>
            <a:spLocks noGrp="1"/>
          </p:cNvSpPr>
          <p:nvPr>
            <p:ph type="subTitle" idx="1"/>
          </p:nvPr>
        </p:nvSpPr>
        <p:spPr/>
        <p:txBody>
          <a:bodyPr/>
          <a:lstStyle/>
          <a:p>
            <a:r>
              <a:rPr lang="en-US" dirty="0"/>
              <a:t>Size</a:t>
            </a:r>
          </a:p>
        </p:txBody>
      </p:sp>
      <p:sp>
        <p:nvSpPr>
          <p:cNvPr id="4" name="Slide Number Placeholder 3"/>
          <p:cNvSpPr>
            <a:spLocks noGrp="1"/>
          </p:cNvSpPr>
          <p:nvPr>
            <p:ph type="sldNum" sz="quarter" idx="12"/>
          </p:nvPr>
        </p:nvSpPr>
        <p:spPr/>
        <p:txBody>
          <a:bodyPr/>
          <a:lstStyle/>
          <a:p>
            <a:fld id="{06AAA8BD-D267-4C4E-B16C-9A3CB850B983}" type="slidenum">
              <a:rPr lang="en-US" smtClean="0"/>
              <a:t>1</a:t>
            </a:fld>
            <a:endParaRPr lang="en-US"/>
          </a:p>
        </p:txBody>
      </p:sp>
    </p:spTree>
    <p:extLst>
      <p:ext uri="{BB962C8B-B14F-4D97-AF65-F5344CB8AC3E}">
        <p14:creationId xmlns:p14="http://schemas.microsoft.com/office/powerpoint/2010/main" val="1222462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14C45-C1E5-4636-86AD-FC0F8306775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Internal Product Attributes</a:t>
            </a:r>
            <a:endParaRPr lang="en-US" dirty="0"/>
          </a:p>
        </p:txBody>
      </p:sp>
      <p:sp>
        <p:nvSpPr>
          <p:cNvPr id="3" name="Content Placeholder 2">
            <a:extLst>
              <a:ext uri="{FF2B5EF4-FFF2-40B4-BE49-F238E27FC236}">
                <a16:creationId xmlns:a16="http://schemas.microsoft.com/office/drawing/2014/main" id="{AA9012FD-125C-4A79-AD60-3726587DDF0C}"/>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software engineering, internal product attributes refer to the inherent characteristics of the software codebase and architecture—those aspects that are not directly visible to the end user but impact maintainability, reliability, efficiency, and quality.</a:t>
            </a:r>
          </a:p>
        </p:txBody>
      </p:sp>
      <p:sp>
        <p:nvSpPr>
          <p:cNvPr id="4" name="Slide Number Placeholder 3">
            <a:extLst>
              <a:ext uri="{FF2B5EF4-FFF2-40B4-BE49-F238E27FC236}">
                <a16:creationId xmlns:a16="http://schemas.microsoft.com/office/drawing/2014/main" id="{272DA635-7B91-4606-B698-17C61BFFA520}"/>
              </a:ext>
            </a:extLst>
          </p:cNvPr>
          <p:cNvSpPr>
            <a:spLocks noGrp="1"/>
          </p:cNvSpPr>
          <p:nvPr>
            <p:ph type="sldNum" sz="quarter" idx="12"/>
          </p:nvPr>
        </p:nvSpPr>
        <p:spPr/>
        <p:txBody>
          <a:bodyPr/>
          <a:lstStyle/>
          <a:p>
            <a:fld id="{06AAA8BD-D267-4C4E-B16C-9A3CB850B983}" type="slidenum">
              <a:rPr lang="en-US" smtClean="0"/>
              <a:t>2</a:t>
            </a:fld>
            <a:endParaRPr lang="en-US"/>
          </a:p>
        </p:txBody>
      </p:sp>
    </p:spTree>
    <p:extLst>
      <p:ext uri="{BB962C8B-B14F-4D97-AF65-F5344CB8AC3E}">
        <p14:creationId xmlns:p14="http://schemas.microsoft.com/office/powerpoint/2010/main" val="274527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Software Size</a:t>
            </a: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Size measures only indicate how much of an entity we have.</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Size alone cannot directly indicate external attributes such as effort, productivity, and cost</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doesn’t measure the external attributes like “coding difficulties”, however, it is a good measure to predict software development time and resources. e.g.,</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Productivity=size/effort</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Defect density = Defect count/size</a:t>
            </a:r>
          </a:p>
        </p:txBody>
      </p:sp>
      <p:sp>
        <p:nvSpPr>
          <p:cNvPr id="4" name="Slide Number Placeholder 3"/>
          <p:cNvSpPr>
            <a:spLocks noGrp="1"/>
          </p:cNvSpPr>
          <p:nvPr>
            <p:ph type="sldNum" sz="quarter" idx="12"/>
          </p:nvPr>
        </p:nvSpPr>
        <p:spPr/>
        <p:txBody>
          <a:bodyPr/>
          <a:lstStyle/>
          <a:p>
            <a:fld id="{06AAA8BD-D267-4C4E-B16C-9A3CB850B983}" type="slidenum">
              <a:rPr lang="en-US" smtClean="0"/>
              <a:t>3</a:t>
            </a:fld>
            <a:endParaRPr lang="en-US"/>
          </a:p>
        </p:txBody>
      </p:sp>
    </p:spTree>
    <p:extLst>
      <p:ext uri="{BB962C8B-B14F-4D97-AF65-F5344CB8AC3E}">
        <p14:creationId xmlns:p14="http://schemas.microsoft.com/office/powerpoint/2010/main" val="3003053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924713" cy="1325563"/>
          </a:xfrm>
        </p:spPr>
        <p:txBody>
          <a:bodyPr/>
          <a:lstStyle/>
          <a:p>
            <a:r>
              <a:rPr lang="en-US" dirty="0">
                <a:latin typeface="Times New Roman" panose="02020603050405020304" pitchFamily="18" charset="0"/>
                <a:cs typeface="Times New Roman" panose="02020603050405020304" pitchFamily="18" charset="0"/>
              </a:rPr>
              <a:t>Properties of Valid Software Size Measurement</a:t>
            </a:r>
          </a:p>
        </p:txBody>
      </p:sp>
      <p:sp>
        <p:nvSpPr>
          <p:cNvPr id="3" name="Content Placeholder 2"/>
          <p:cNvSpPr>
            <a:spLocks noGrp="1"/>
          </p:cNvSpPr>
          <p:nvPr>
            <p:ph idx="1"/>
          </p:nvPr>
        </p:nvSpPr>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Three properties for any valid measure of software size:</a:t>
            </a:r>
          </a:p>
          <a:p>
            <a:pPr lvl="2">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Nonnegativity</a:t>
            </a:r>
            <a:r>
              <a:rPr lang="en-US" dirty="0">
                <a:latin typeface="Times New Roman" panose="02020603050405020304" pitchFamily="18" charset="0"/>
                <a:cs typeface="Times New Roman" panose="02020603050405020304" pitchFamily="18" charset="0"/>
              </a:rPr>
              <a:t>: All systems have nonnegative size.</a:t>
            </a:r>
          </a:p>
          <a:p>
            <a:pPr lvl="2">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Null value: The size of a system with no elements is zero.</a:t>
            </a:r>
          </a:p>
          <a:p>
            <a:pPr lvl="2">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Additivity: The size of the union of two modules is the sum of the sizes of the two modules after subtracting the size of the intersection</a:t>
            </a:r>
          </a:p>
          <a:p>
            <a:pPr marL="914400" lvl="2" indent="0">
              <a:buNone/>
            </a:pPr>
            <a:endParaRPr lang="en-US" dirty="0"/>
          </a:p>
          <a:p>
            <a:pPr marL="0" indent="0">
              <a:buNone/>
            </a:pPr>
            <a:r>
              <a:rPr lang="en-US" dirty="0"/>
              <a:t>		</a:t>
            </a:r>
          </a:p>
        </p:txBody>
      </p:sp>
      <p:sp>
        <p:nvSpPr>
          <p:cNvPr id="4" name="Slide Number Placeholder 3"/>
          <p:cNvSpPr>
            <a:spLocks noGrp="1"/>
          </p:cNvSpPr>
          <p:nvPr>
            <p:ph type="sldNum" sz="quarter" idx="12"/>
          </p:nvPr>
        </p:nvSpPr>
        <p:spPr/>
        <p:txBody>
          <a:bodyPr/>
          <a:lstStyle/>
          <a:p>
            <a:fld id="{06AAA8BD-D267-4C4E-B16C-9A3CB850B983}" type="slidenum">
              <a:rPr lang="en-US" smtClean="0"/>
              <a:t>4</a:t>
            </a:fld>
            <a:endParaRPr lang="en-US"/>
          </a:p>
        </p:txBody>
      </p:sp>
    </p:spTree>
    <p:extLst>
      <p:ext uri="{BB962C8B-B14F-4D97-AF65-F5344CB8AC3E}">
        <p14:creationId xmlns:p14="http://schemas.microsoft.com/office/powerpoint/2010/main" val="347174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Code Size</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most commonly used measure of source code size is the number of lines of code (LOCs). </a:t>
            </a:r>
          </a:p>
          <a:p>
            <a:r>
              <a:rPr lang="en-US" dirty="0">
                <a:latin typeface="Times New Roman" panose="02020603050405020304" pitchFamily="18" charset="0"/>
                <a:cs typeface="Times New Roman" panose="02020603050405020304" pitchFamily="18" charset="0"/>
              </a:rPr>
              <a:t>We must explain how each of the following is handled:</a:t>
            </a:r>
          </a:p>
          <a:p>
            <a:pPr lvl="2"/>
            <a:r>
              <a:rPr lang="en-US" dirty="0">
                <a:latin typeface="Times New Roman" panose="02020603050405020304" pitchFamily="18" charset="0"/>
                <a:cs typeface="Times New Roman" panose="02020603050405020304" pitchFamily="18" charset="0"/>
              </a:rPr>
              <a:t>Blank lines</a:t>
            </a:r>
          </a:p>
          <a:p>
            <a:pPr lvl="2"/>
            <a:r>
              <a:rPr lang="en-US" dirty="0">
                <a:latin typeface="Times New Roman" panose="02020603050405020304" pitchFamily="18" charset="0"/>
                <a:cs typeface="Times New Roman" panose="02020603050405020304" pitchFamily="18" charset="0"/>
              </a:rPr>
              <a:t>Comment lines</a:t>
            </a:r>
          </a:p>
          <a:p>
            <a:pPr lvl="2"/>
            <a:r>
              <a:rPr lang="en-US" dirty="0">
                <a:latin typeface="Times New Roman" panose="02020603050405020304" pitchFamily="18" charset="0"/>
                <a:cs typeface="Times New Roman" panose="02020603050405020304" pitchFamily="18" charset="0"/>
              </a:rPr>
              <a:t>Data declarations</a:t>
            </a:r>
          </a:p>
          <a:p>
            <a:pPr lvl="2"/>
            <a:r>
              <a:rPr lang="en-US" dirty="0">
                <a:latin typeface="Times New Roman" panose="02020603050405020304" pitchFamily="18" charset="0"/>
                <a:cs typeface="Times New Roman" panose="02020603050405020304" pitchFamily="18" charset="0"/>
              </a:rPr>
              <a:t>Lines that contain several separate instructions</a:t>
            </a:r>
          </a:p>
          <a:p>
            <a:pPr marL="914400" lvl="2" indent="0">
              <a:buNone/>
            </a:pPr>
            <a:endParaRPr lang="en-US" dirty="0">
              <a:latin typeface="Times New Roman" panose="02020603050405020304" pitchFamily="18" charset="0"/>
              <a:cs typeface="Times New Roman" panose="02020603050405020304" pitchFamily="18" charset="0"/>
            </a:endParaRPr>
          </a:p>
          <a:p>
            <a:pPr marL="228600" lvl="2">
              <a:spcBef>
                <a:spcPts val="1000"/>
              </a:spcBef>
            </a:pPr>
            <a:r>
              <a:rPr lang="en-US" sz="2800" dirty="0">
                <a:latin typeface="Times New Roman" panose="02020603050405020304" pitchFamily="18" charset="0"/>
                <a:cs typeface="Times New Roman" panose="02020603050405020304" pitchFamily="18" charset="0"/>
              </a:rPr>
              <a:t>One count can be as much as five times larger than another, simply because of the difference in counting technique</a:t>
            </a:r>
          </a:p>
        </p:txBody>
      </p:sp>
      <p:sp>
        <p:nvSpPr>
          <p:cNvPr id="4" name="Slide Number Placeholder 3"/>
          <p:cNvSpPr>
            <a:spLocks noGrp="1"/>
          </p:cNvSpPr>
          <p:nvPr>
            <p:ph type="sldNum" sz="quarter" idx="12"/>
          </p:nvPr>
        </p:nvSpPr>
        <p:spPr/>
        <p:txBody>
          <a:bodyPr/>
          <a:lstStyle/>
          <a:p>
            <a:fld id="{06AAA8BD-D267-4C4E-B16C-9A3CB850B983}" type="slidenum">
              <a:rPr lang="en-US" smtClean="0"/>
              <a:t>5</a:t>
            </a:fld>
            <a:endParaRPr lang="en-US"/>
          </a:p>
        </p:txBody>
      </p:sp>
    </p:spTree>
    <p:extLst>
      <p:ext uri="{BB962C8B-B14F-4D97-AF65-F5344CB8AC3E}">
        <p14:creationId xmlns:p14="http://schemas.microsoft.com/office/powerpoint/2010/main" val="3058238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LOC Definitions</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NCLOC: Non-Commented Lines of Code (Comments and blank lines removed), sometimes called </a:t>
            </a:r>
            <a:r>
              <a:rPr lang="en-US" b="1" dirty="0">
                <a:latin typeface="Times New Roman" panose="02020603050405020304" pitchFamily="18" charset="0"/>
                <a:cs typeface="Times New Roman" panose="02020603050405020304" pitchFamily="18" charset="0"/>
              </a:rPr>
              <a:t>effective lines of a code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CLOC: Number of comment lines of program text (CLOC)</a:t>
            </a:r>
          </a:p>
          <a:p>
            <a:r>
              <a:rPr lang="en-US" dirty="0">
                <a:latin typeface="Times New Roman" panose="02020603050405020304" pitchFamily="18" charset="0"/>
                <a:cs typeface="Times New Roman" panose="02020603050405020304" pitchFamily="18" charset="0"/>
              </a:rPr>
              <a:t>Total size (LOC) = NCLOC + CLOC</a:t>
            </a:r>
          </a:p>
          <a:p>
            <a:r>
              <a:rPr lang="en-US" dirty="0">
                <a:latin typeface="Times New Roman" panose="02020603050405020304" pitchFamily="18" charset="0"/>
                <a:cs typeface="Times New Roman" panose="02020603050405020304" pitchFamily="18" charset="0"/>
              </a:rPr>
              <a:t>Density of comments = CLOC / LOC</a:t>
            </a:r>
          </a:p>
          <a:p>
            <a:r>
              <a:rPr lang="en-US" dirty="0">
                <a:latin typeface="Times New Roman" panose="02020603050405020304" pitchFamily="18" charset="0"/>
                <a:cs typeface="Times New Roman" panose="02020603050405020304" pitchFamily="18" charset="0"/>
              </a:rPr>
              <a:t>Is NCLOC a valid measure?</a:t>
            </a:r>
          </a:p>
          <a:p>
            <a:r>
              <a:rPr lang="en-US" dirty="0">
                <a:latin typeface="Times New Roman" panose="02020603050405020304" pitchFamily="18" charset="0"/>
                <a:cs typeface="Times New Roman" panose="02020603050405020304" pitchFamily="18" charset="0"/>
              </a:rPr>
              <a:t>The number of executable statements (ES): counts separate statements on the same physical line as distinct. It ignores comment lines, data declarations, and headings</a:t>
            </a:r>
          </a:p>
        </p:txBody>
      </p:sp>
      <p:sp>
        <p:nvSpPr>
          <p:cNvPr id="4" name="Slide Number Placeholder 3"/>
          <p:cNvSpPr>
            <a:spLocks noGrp="1"/>
          </p:cNvSpPr>
          <p:nvPr>
            <p:ph type="sldNum" sz="quarter" idx="12"/>
          </p:nvPr>
        </p:nvSpPr>
        <p:spPr/>
        <p:txBody>
          <a:bodyPr/>
          <a:lstStyle/>
          <a:p>
            <a:fld id="{06AAA8BD-D267-4C4E-B16C-9A3CB850B983}" type="slidenum">
              <a:rPr lang="en-US" smtClean="0"/>
              <a:t>6</a:t>
            </a:fld>
            <a:endParaRPr lang="en-US"/>
          </a:p>
        </p:txBody>
      </p:sp>
    </p:spTree>
    <p:extLst>
      <p:ext uri="{BB962C8B-B14F-4D97-AF65-F5344CB8AC3E}">
        <p14:creationId xmlns:p14="http://schemas.microsoft.com/office/powerpoint/2010/main" val="4067977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Halstead’s Approach</a:t>
            </a:r>
          </a:p>
        </p:txBody>
      </p:sp>
      <p:sp>
        <p:nvSpPr>
          <p:cNvPr id="3" name="Content Placeholder 2"/>
          <p:cNvSpPr>
            <a:spLocks noGrp="1"/>
          </p:cNvSpPr>
          <p:nvPr>
            <p:ph idx="1"/>
          </p:nvPr>
        </p:nvSpPr>
        <p:spPr>
          <a:xfrm>
            <a:off x="838200" y="1563757"/>
            <a:ext cx="10515600" cy="4613206"/>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Halstead’s Software Science is a theoretical approach to measuring software complexity and predicting attributes of a program based on its code</a:t>
            </a:r>
          </a:p>
          <a:p>
            <a:pPr algn="just"/>
            <a:r>
              <a:rPr lang="en-US" dirty="0">
                <a:latin typeface="Times New Roman" panose="02020603050405020304" pitchFamily="18" charset="0"/>
                <a:cs typeface="Times New Roman" panose="02020603050405020304" pitchFamily="18" charset="0"/>
              </a:rPr>
              <a:t>The approach is based on quantifying the properties of a program by examining its </a:t>
            </a:r>
            <a:r>
              <a:rPr lang="en-US" b="1" dirty="0">
                <a:latin typeface="Times New Roman" panose="02020603050405020304" pitchFamily="18" charset="0"/>
                <a:cs typeface="Times New Roman" panose="02020603050405020304" pitchFamily="18" charset="0"/>
              </a:rPr>
              <a:t>operators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operands</a:t>
            </a:r>
            <a:r>
              <a:rPr lang="en-US" dirty="0">
                <a:latin typeface="Times New Roman" panose="02020603050405020304" pitchFamily="18" charset="0"/>
                <a:cs typeface="Times New Roman" panose="02020603050405020304" pitchFamily="18" charset="0"/>
              </a:rPr>
              <a:t>, aiming to provide objective measures of complexity, size, and effort.</a:t>
            </a:r>
          </a:p>
          <a:p>
            <a:pPr algn="just"/>
            <a:r>
              <a:rPr lang="en-US" dirty="0">
                <a:latin typeface="Times New Roman" panose="02020603050405020304" pitchFamily="18" charset="0"/>
                <a:cs typeface="Times New Roman" panose="02020603050405020304" pitchFamily="18" charset="0"/>
              </a:rPr>
              <a:t>Halstead’s theory is based on four fundamental measures derived from the source code:</a:t>
            </a:r>
          </a:p>
          <a:p>
            <a:pPr lvl="2" algn="just"/>
            <a:r>
              <a:rPr lang="en-US" dirty="0">
                <a:latin typeface="Times New Roman" panose="02020603050405020304" pitchFamily="18" charset="0"/>
                <a:cs typeface="Times New Roman" panose="02020603050405020304" pitchFamily="18" charset="0"/>
              </a:rPr>
              <a:t>µ</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Number of unique operators</a:t>
            </a:r>
          </a:p>
          <a:p>
            <a:pPr lvl="2"/>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µ</a:t>
            </a:r>
            <a:r>
              <a:rPr lang="en-US" baseline="-25000"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 Number of unique operands</a:t>
            </a:r>
          </a:p>
          <a:p>
            <a:pPr lvl="2"/>
            <a:r>
              <a:rPr lang="en-US" i="1" dirty="0">
                <a:latin typeface="Times New Roman" panose="02020603050405020304" pitchFamily="18" charset="0"/>
                <a:cs typeface="Times New Roman" panose="02020603050405020304" pitchFamily="18" charset="0"/>
              </a:rPr>
              <a:t>N</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Total occurrences of operators</a:t>
            </a:r>
          </a:p>
          <a:p>
            <a:pPr lvl="2"/>
            <a:r>
              <a:rPr lang="en-US" i="1" dirty="0">
                <a:latin typeface="Times New Roman" panose="02020603050405020304" pitchFamily="18" charset="0"/>
                <a:cs typeface="Times New Roman" panose="02020603050405020304" pitchFamily="18" charset="0"/>
              </a:rPr>
              <a:t>N</a:t>
            </a:r>
            <a:r>
              <a:rPr lang="en-US" baseline="-25000"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 Total occurrences of operands</a:t>
            </a:r>
          </a:p>
          <a:p>
            <a:pPr marL="914400" lvl="2" indent="0">
              <a:buNone/>
            </a:pPr>
            <a:endParaRPr lang="en-US" dirty="0">
              <a:latin typeface="Times New Roman" panose="02020603050405020304" pitchFamily="18" charset="0"/>
              <a:cs typeface="Times New Roman" panose="02020603050405020304" pitchFamily="18" charset="0"/>
            </a:endParaRPr>
          </a:p>
          <a:p>
            <a:pPr marL="914400" lvl="2" indent="0">
              <a:buNone/>
            </a:pPr>
            <a:r>
              <a:rPr lang="en-US" sz="2800" dirty="0">
                <a:latin typeface="Times New Roman" panose="02020603050405020304" pitchFamily="18" charset="0"/>
                <a:cs typeface="Times New Roman" panose="02020603050405020304" pitchFamily="18" charset="0"/>
              </a:rPr>
              <a:t>From these basic measures, Halstead derived several important metrics</a:t>
            </a:r>
          </a:p>
          <a:p>
            <a:pPr lvl="2"/>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7</a:t>
            </a:fld>
            <a:endParaRPr lang="en-US"/>
          </a:p>
        </p:txBody>
      </p:sp>
    </p:spTree>
    <p:extLst>
      <p:ext uri="{BB962C8B-B14F-4D97-AF65-F5344CB8AC3E}">
        <p14:creationId xmlns:p14="http://schemas.microsoft.com/office/powerpoint/2010/main" val="1212856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latin typeface="Times New Roman" panose="02020603050405020304" pitchFamily="18" charset="0"/>
                <a:cs typeface="Times New Roman" panose="02020603050405020304" pitchFamily="18" charset="0"/>
              </a:rPr>
              <a:t>Halstead’s Approach</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b="1" dirty="0">
                <a:latin typeface="Times New Roman" panose="02020603050405020304" pitchFamily="18" charset="0"/>
                <a:cs typeface="Times New Roman" panose="02020603050405020304" pitchFamily="18" charset="0"/>
              </a:rPr>
              <a:t>Halstead Program Length: </a:t>
            </a:r>
            <a:r>
              <a:rPr lang="en-US" dirty="0">
                <a:latin typeface="Times New Roman" panose="02020603050405020304" pitchFamily="18" charset="0"/>
                <a:cs typeface="Times New Roman" panose="02020603050405020304" pitchFamily="18" charset="0"/>
              </a:rPr>
              <a:t>The total number of operator occurrences and the total number of operand occurrences. N = </a:t>
            </a:r>
            <a:r>
              <a:rPr lang="en-US" i="1" dirty="0">
                <a:latin typeface="Times New Roman" panose="02020603050405020304" pitchFamily="18" charset="0"/>
                <a:cs typeface="Times New Roman" panose="02020603050405020304" pitchFamily="18" charset="0"/>
              </a:rPr>
              <a:t>N</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 </a:t>
            </a:r>
            <a:r>
              <a:rPr lang="en-US" i="1" dirty="0">
                <a:latin typeface="Times New Roman" panose="02020603050405020304" pitchFamily="18" charset="0"/>
                <a:cs typeface="Times New Roman" panose="02020603050405020304" pitchFamily="18" charset="0"/>
              </a:rPr>
              <a:t>N</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p>
          <a:p>
            <a:pPr marL="0" indent="0" fontAlgn="base">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Estimated program length </a:t>
            </a:r>
            <a:r>
              <a:rPr lang="en-US" dirty="0">
                <a:latin typeface="Times New Roman" panose="02020603050405020304" pitchFamily="18" charset="0"/>
                <a:cs typeface="Times New Roman" panose="02020603050405020304" pitchFamily="18" charset="0"/>
              </a:rPr>
              <a:t>is, N</a:t>
            </a:r>
            <a:r>
              <a:rPr lang="en-US" baseline="30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µ</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log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µ</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 µ</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log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µ</a:t>
            </a:r>
            <a:r>
              <a:rPr lang="en-US" baseline="-25000" dirty="0">
                <a:latin typeface="Times New Roman" panose="02020603050405020304" pitchFamily="18" charset="0"/>
                <a:cs typeface="Times New Roman" panose="02020603050405020304" pitchFamily="18" charset="0"/>
              </a:rPr>
              <a:t>2</a:t>
            </a:r>
          </a:p>
          <a:p>
            <a:pPr fontAlgn="base"/>
            <a:r>
              <a:rPr lang="en-US" b="1" dirty="0">
                <a:latin typeface="Times New Roman" panose="02020603050405020304" pitchFamily="18" charset="0"/>
                <a:cs typeface="Times New Roman" panose="02020603050405020304" pitchFamily="18" charset="0"/>
              </a:rPr>
              <a:t>Halstead Vocabulary: </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µ = µ</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µ</a:t>
            </a:r>
            <a:r>
              <a:rPr lang="en-US" baseline="-25000"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Program Volume: </a:t>
            </a:r>
            <a:r>
              <a:rPr lang="pt-BR" dirty="0">
                <a:latin typeface="Times New Roman" panose="02020603050405020304" pitchFamily="18" charset="0"/>
                <a:cs typeface="Times New Roman" panose="02020603050405020304" pitchFamily="18" charset="0"/>
              </a:rPr>
              <a:t>V = Size * (log</a:t>
            </a:r>
            <a:r>
              <a:rPr lang="pt-BR" baseline="-25000" dirty="0">
                <a:latin typeface="Times New Roman" panose="02020603050405020304" pitchFamily="18" charset="0"/>
                <a:cs typeface="Times New Roman" panose="02020603050405020304" pitchFamily="18" charset="0"/>
              </a:rPr>
              <a:t>2</a:t>
            </a:r>
            <a:r>
              <a:rPr lang="pt-BR" dirty="0">
                <a:latin typeface="Times New Roman" panose="02020603050405020304" pitchFamily="18" charset="0"/>
                <a:cs typeface="Times New Roman" panose="02020603050405020304" pitchFamily="18" charset="0"/>
              </a:rPr>
              <a:t> vocabulary) = N * log</a:t>
            </a:r>
            <a:r>
              <a:rPr lang="pt-BR" baseline="-25000" dirty="0">
                <a:latin typeface="Times New Roman" panose="02020603050405020304" pitchFamily="18" charset="0"/>
                <a:cs typeface="Times New Roman" panose="02020603050405020304" pitchFamily="18" charset="0"/>
              </a:rPr>
              <a:t>2</a:t>
            </a:r>
            <a:r>
              <a:rPr lang="pt-BR"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µ</a:t>
            </a:r>
            <a:r>
              <a:rPr lang="pt-BR" dirty="0">
                <a:latin typeface="Times New Roman" panose="02020603050405020304" pitchFamily="18" charset="0"/>
                <a:cs typeface="Times New Roman" panose="02020603050405020304" pitchFamily="18" charset="0"/>
              </a:rPr>
              <a:t>) </a:t>
            </a:r>
          </a:p>
          <a:p>
            <a:pPr fontAlgn="base"/>
            <a:r>
              <a:rPr lang="en-US" b="1" dirty="0">
                <a:latin typeface="Times New Roman" panose="02020603050405020304" pitchFamily="18" charset="0"/>
                <a:cs typeface="Times New Roman" panose="02020603050405020304" pitchFamily="18" charset="0"/>
              </a:rPr>
              <a:t>Program Difficulty: </a:t>
            </a:r>
            <a:r>
              <a:rPr lang="pt-BR" dirty="0">
                <a:latin typeface="Times New Roman" panose="02020603050405020304" pitchFamily="18" charset="0"/>
                <a:cs typeface="Times New Roman" panose="02020603050405020304" pitchFamily="18" charset="0"/>
              </a:rPr>
              <a:t>D = (</a:t>
            </a:r>
            <a:r>
              <a:rPr lang="en-US" dirty="0">
                <a:latin typeface="Times New Roman" panose="02020603050405020304" pitchFamily="18" charset="0"/>
                <a:cs typeface="Times New Roman" panose="02020603050405020304" pitchFamily="18" charset="0"/>
              </a:rPr>
              <a:t>µ</a:t>
            </a:r>
            <a:r>
              <a:rPr lang="en-US" baseline="-25000" dirty="0">
                <a:latin typeface="Times New Roman" panose="02020603050405020304" pitchFamily="18" charset="0"/>
                <a:cs typeface="Times New Roman" panose="02020603050405020304" pitchFamily="18" charset="0"/>
              </a:rPr>
              <a:t>1</a:t>
            </a:r>
            <a:r>
              <a:rPr lang="pt-BR" dirty="0">
                <a:latin typeface="Times New Roman" panose="02020603050405020304" pitchFamily="18" charset="0"/>
                <a:cs typeface="Times New Roman" panose="02020603050405020304" pitchFamily="18" charset="0"/>
              </a:rPr>
              <a:t> / 2) * (</a:t>
            </a:r>
            <a:r>
              <a:rPr lang="en-US" i="1" dirty="0">
                <a:latin typeface="Times New Roman" panose="02020603050405020304" pitchFamily="18" charset="0"/>
                <a:cs typeface="Times New Roman" panose="02020603050405020304" pitchFamily="18" charset="0"/>
              </a:rPr>
              <a:t>N</a:t>
            </a:r>
            <a:r>
              <a:rPr lang="en-US" baseline="-25000" dirty="0">
                <a:latin typeface="Times New Roman" panose="02020603050405020304" pitchFamily="18" charset="0"/>
                <a:cs typeface="Times New Roman" panose="02020603050405020304" pitchFamily="18" charset="0"/>
              </a:rPr>
              <a:t>2</a:t>
            </a:r>
            <a:r>
              <a:rPr lang="pt-BR"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µ</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p>
          <a:p>
            <a:pPr fontAlgn="base"/>
            <a:r>
              <a:rPr lang="en-US" b="1" dirty="0">
                <a:latin typeface="Times New Roman" panose="02020603050405020304" pitchFamily="18" charset="0"/>
                <a:cs typeface="Times New Roman" panose="02020603050405020304" pitchFamily="18" charset="0"/>
              </a:rPr>
              <a:t>Programming Effort: </a:t>
            </a:r>
            <a:r>
              <a:rPr lang="it-IT" dirty="0">
                <a:latin typeface="Times New Roman" panose="02020603050405020304" pitchFamily="18" charset="0"/>
                <a:cs typeface="Times New Roman" panose="02020603050405020304" pitchFamily="18" charset="0"/>
              </a:rPr>
              <a:t>E = D * V = Difficulty * Volume </a:t>
            </a:r>
          </a:p>
          <a:p>
            <a:pPr fontAlgn="base"/>
            <a:r>
              <a:rPr lang="en-US" b="1" dirty="0">
                <a:latin typeface="Times New Roman" panose="02020603050405020304" pitchFamily="18" charset="0"/>
                <a:cs typeface="Times New Roman" panose="02020603050405020304" pitchFamily="18" charset="0"/>
              </a:rPr>
              <a:t>Programming Time </a:t>
            </a:r>
            <a:r>
              <a:rPr lang="en-US" dirty="0">
                <a:latin typeface="Times New Roman" panose="02020603050405020304" pitchFamily="18" charset="0"/>
                <a:cs typeface="Times New Roman" panose="02020603050405020304" pitchFamily="18" charset="0"/>
              </a:rPr>
              <a:t>(T) = E/18</a:t>
            </a:r>
          </a:p>
          <a:p>
            <a:pPr marL="457200" lvl="1" indent="0">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8</a:t>
            </a:fld>
            <a:endParaRPr lang="en-US"/>
          </a:p>
        </p:txBody>
      </p:sp>
    </p:spTree>
    <p:extLst>
      <p:ext uri="{BB962C8B-B14F-4D97-AF65-F5344CB8AC3E}">
        <p14:creationId xmlns:p14="http://schemas.microsoft.com/office/powerpoint/2010/main" val="2543354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Halstead’s Approach Example</a:t>
            </a:r>
          </a:p>
        </p:txBody>
      </p:sp>
      <p:sp>
        <p:nvSpPr>
          <p:cNvPr id="3" name="Slide Number Placeholder 2"/>
          <p:cNvSpPr>
            <a:spLocks noGrp="1"/>
          </p:cNvSpPr>
          <p:nvPr>
            <p:ph type="sldNum" sz="quarter" idx="12"/>
          </p:nvPr>
        </p:nvSpPr>
        <p:spPr/>
        <p:txBody>
          <a:bodyPr/>
          <a:lstStyle/>
          <a:p>
            <a:fld id="{06AAA8BD-D267-4C4E-B16C-9A3CB850B983}" type="slidenum">
              <a:rPr lang="en-US" smtClean="0"/>
              <a:t>9</a:t>
            </a:fld>
            <a:endParaRPr lang="en-US"/>
          </a:p>
        </p:txBody>
      </p:sp>
      <p:sp>
        <p:nvSpPr>
          <p:cNvPr id="6" name="Content Placeholder 5">
            <a:extLst>
              <a:ext uri="{FF2B5EF4-FFF2-40B4-BE49-F238E27FC236}">
                <a16:creationId xmlns:a16="http://schemas.microsoft.com/office/drawing/2014/main" id="{61C2F1DC-40A2-4331-BE66-C66DB0FEC67E}"/>
              </a:ext>
            </a:extLst>
          </p:cNvPr>
          <p:cNvSpPr>
            <a:spLocks noGrp="1"/>
          </p:cNvSpPr>
          <p:nvPr>
            <p:ph idx="1"/>
          </p:nvPr>
        </p:nvSpPr>
        <p:spPr>
          <a:xfrm>
            <a:off x="-231000" y="1669408"/>
            <a:ext cx="3954861" cy="1325564"/>
          </a:xfrm>
        </p:spPr>
        <p:txBody>
          <a:bodyPr>
            <a:normAutofit/>
          </a:bodyPr>
          <a:lstStyle/>
          <a:p>
            <a:pPr marL="457200" lvl="1" indent="0">
              <a:buNone/>
            </a:pPr>
            <a:r>
              <a:rPr lang="en-US" sz="1800" dirty="0">
                <a:latin typeface="Courier New" panose="02070309020205020404" pitchFamily="49" charset="0"/>
                <a:cs typeface="Courier New" panose="02070309020205020404" pitchFamily="49" charset="0"/>
              </a:rPr>
              <a:t>def multiply(a, b):</a:t>
            </a:r>
          </a:p>
          <a:p>
            <a:pPr marL="457200" lvl="1" indent="0">
              <a:buNone/>
            </a:pPr>
            <a:r>
              <a:rPr lang="en-US" sz="1800" dirty="0">
                <a:latin typeface="Courier New" panose="02070309020205020404" pitchFamily="49" charset="0"/>
                <a:cs typeface="Courier New" panose="02070309020205020404" pitchFamily="49" charset="0"/>
              </a:rPr>
              <a:t>    result = a * b</a:t>
            </a:r>
          </a:p>
          <a:p>
            <a:pPr marL="457200" lvl="1" indent="0">
              <a:buNone/>
            </a:pPr>
            <a:r>
              <a:rPr lang="en-US" sz="1800" dirty="0">
                <a:latin typeface="Courier New" panose="02070309020205020404" pitchFamily="49" charset="0"/>
                <a:cs typeface="Courier New" panose="02070309020205020404" pitchFamily="49" charset="0"/>
              </a:rPr>
              <a:t>    return result; </a:t>
            </a:r>
          </a:p>
        </p:txBody>
      </p:sp>
      <p:pic>
        <p:nvPicPr>
          <p:cNvPr id="10" name="Picture 9">
            <a:extLst>
              <a:ext uri="{FF2B5EF4-FFF2-40B4-BE49-F238E27FC236}">
                <a16:creationId xmlns:a16="http://schemas.microsoft.com/office/drawing/2014/main" id="{3A3D3E54-207F-481A-A79A-5070E30E1AC5}"/>
              </a:ext>
            </a:extLst>
          </p:cNvPr>
          <p:cNvPicPr>
            <a:picLocks noChangeAspect="1"/>
          </p:cNvPicPr>
          <p:nvPr/>
        </p:nvPicPr>
        <p:blipFill>
          <a:blip r:embed="rId2"/>
          <a:stretch>
            <a:fillRect/>
          </a:stretch>
        </p:blipFill>
        <p:spPr>
          <a:xfrm>
            <a:off x="3445566" y="1285461"/>
            <a:ext cx="8452624" cy="5070889"/>
          </a:xfrm>
          <a:prstGeom prst="rect">
            <a:avLst/>
          </a:prstGeom>
        </p:spPr>
      </p:pic>
    </p:spTree>
    <p:extLst>
      <p:ext uri="{BB962C8B-B14F-4D97-AF65-F5344CB8AC3E}">
        <p14:creationId xmlns:p14="http://schemas.microsoft.com/office/powerpoint/2010/main" val="152243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0A8F5-C4EA-4D2A-B8F1-A0FDA29139B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Halstead’s Approach Example</a:t>
            </a:r>
          </a:p>
        </p:txBody>
      </p:sp>
      <p:sp>
        <p:nvSpPr>
          <p:cNvPr id="4" name="Slide Number Placeholder 3">
            <a:extLst>
              <a:ext uri="{FF2B5EF4-FFF2-40B4-BE49-F238E27FC236}">
                <a16:creationId xmlns:a16="http://schemas.microsoft.com/office/drawing/2014/main" id="{B1C9832C-2FC7-44BA-BFFA-DA815420496F}"/>
              </a:ext>
            </a:extLst>
          </p:cNvPr>
          <p:cNvSpPr>
            <a:spLocks noGrp="1"/>
          </p:cNvSpPr>
          <p:nvPr>
            <p:ph type="sldNum" sz="quarter" idx="12"/>
          </p:nvPr>
        </p:nvSpPr>
        <p:spPr/>
        <p:txBody>
          <a:bodyPr/>
          <a:lstStyle/>
          <a:p>
            <a:fld id="{06AAA8BD-D267-4C4E-B16C-9A3CB850B983}" type="slidenum">
              <a:rPr lang="en-US" smtClean="0"/>
              <a:t>10</a:t>
            </a:fld>
            <a:endParaRPr lang="en-US"/>
          </a:p>
        </p:txBody>
      </p:sp>
      <p:graphicFrame>
        <p:nvGraphicFramePr>
          <p:cNvPr id="8" name="Content Placeholder 7">
            <a:extLst>
              <a:ext uri="{FF2B5EF4-FFF2-40B4-BE49-F238E27FC236}">
                <a16:creationId xmlns:a16="http://schemas.microsoft.com/office/drawing/2014/main" id="{466D63A7-4856-4BE7-A032-DE92FAB977FA}"/>
              </a:ext>
            </a:extLst>
          </p:cNvPr>
          <p:cNvGraphicFramePr>
            <a:graphicFrameLocks noGrp="1"/>
          </p:cNvGraphicFramePr>
          <p:nvPr>
            <p:ph idx="1"/>
            <p:extLst>
              <p:ext uri="{D42A27DB-BD31-4B8C-83A1-F6EECF244321}">
                <p14:modId xmlns:p14="http://schemas.microsoft.com/office/powerpoint/2010/main" val="2412223115"/>
              </p:ext>
            </p:extLst>
          </p:nvPr>
        </p:nvGraphicFramePr>
        <p:xfrm>
          <a:off x="967407" y="1855303"/>
          <a:ext cx="9647583" cy="4015409"/>
        </p:xfrm>
        <a:graphic>
          <a:graphicData uri="http://schemas.openxmlformats.org/drawingml/2006/table">
            <a:tbl>
              <a:tblPr firstRow="1" firstCol="1" bandRow="1">
                <a:tableStyleId>{5C22544A-7EE6-4342-B048-85BDC9FD1C3A}</a:tableStyleId>
              </a:tblPr>
              <a:tblGrid>
                <a:gridCol w="3215861">
                  <a:extLst>
                    <a:ext uri="{9D8B030D-6E8A-4147-A177-3AD203B41FA5}">
                      <a16:colId xmlns:a16="http://schemas.microsoft.com/office/drawing/2014/main" val="4025874958"/>
                    </a:ext>
                  </a:extLst>
                </a:gridCol>
                <a:gridCol w="3215861">
                  <a:extLst>
                    <a:ext uri="{9D8B030D-6E8A-4147-A177-3AD203B41FA5}">
                      <a16:colId xmlns:a16="http://schemas.microsoft.com/office/drawing/2014/main" val="293934910"/>
                    </a:ext>
                  </a:extLst>
                </a:gridCol>
                <a:gridCol w="3215861">
                  <a:extLst>
                    <a:ext uri="{9D8B030D-6E8A-4147-A177-3AD203B41FA5}">
                      <a16:colId xmlns:a16="http://schemas.microsoft.com/office/drawing/2014/main" val="4037958430"/>
                    </a:ext>
                  </a:extLst>
                </a:gridCol>
              </a:tblGrid>
              <a:tr h="765785">
                <a:tc>
                  <a:txBody>
                    <a:bodyPr/>
                    <a:lstStyle/>
                    <a:p>
                      <a:pPr marL="0" marR="0" algn="ctr">
                        <a:lnSpc>
                          <a:spcPct val="107000"/>
                        </a:lnSpc>
                        <a:spcBef>
                          <a:spcPts val="0"/>
                        </a:spcBef>
                        <a:spcAft>
                          <a:spcPts val="0"/>
                        </a:spcAft>
                      </a:pPr>
                      <a:r>
                        <a:rPr lang="en-US" sz="1200">
                          <a:effectLst/>
                        </a:rPr>
                        <a:t>Metric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rPr>
                        <a:t>Value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rPr>
                        <a:t>Formula / Explanation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7377347"/>
                  </a:ext>
                </a:extLst>
              </a:tr>
              <a:tr h="765785">
                <a:tc>
                  <a:txBody>
                    <a:bodyPr/>
                    <a:lstStyle/>
                    <a:p>
                      <a:pPr marL="0" marR="0" algn="ctr">
                        <a:lnSpc>
                          <a:spcPct val="107000"/>
                        </a:lnSpc>
                        <a:spcBef>
                          <a:spcPts val="0"/>
                        </a:spcBef>
                        <a:spcAft>
                          <a:spcPts val="0"/>
                        </a:spcAft>
                      </a:pPr>
                      <a:r>
                        <a:rPr lang="en-US" sz="2400">
                          <a:effectLst/>
                        </a:rPr>
                        <a:t>µ</a:t>
                      </a:r>
                      <a:r>
                        <a:rPr lang="en-US" sz="2400" baseline="-25000">
                          <a:effectLst/>
                        </a:rPr>
                        <a:t>1</a:t>
                      </a:r>
                      <a:r>
                        <a:rPr lang="en-US" sz="2400">
                          <a:effectLst/>
                        </a:rPr>
                        <a:t> (Distinct operators)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def, (), :, =, *, return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05920114"/>
                  </a:ext>
                </a:extLst>
              </a:tr>
              <a:tr h="765785">
                <a:tc>
                  <a:txBody>
                    <a:bodyPr/>
                    <a:lstStyle/>
                    <a:p>
                      <a:pPr marL="0" marR="0" algn="ctr">
                        <a:lnSpc>
                          <a:spcPct val="107000"/>
                        </a:lnSpc>
                        <a:spcBef>
                          <a:spcPts val="0"/>
                        </a:spcBef>
                        <a:spcAft>
                          <a:spcPts val="0"/>
                        </a:spcAft>
                      </a:pPr>
                      <a:r>
                        <a:rPr lang="en-US" sz="2400">
                          <a:effectLst/>
                        </a:rPr>
                        <a:t>µ</a:t>
                      </a:r>
                      <a:r>
                        <a:rPr lang="en-US" sz="2400" baseline="-25000">
                          <a:effectLst/>
                        </a:rPr>
                        <a:t>2</a:t>
                      </a:r>
                      <a:r>
                        <a:rPr lang="en-US" sz="2400">
                          <a:effectLst/>
                        </a:rPr>
                        <a:t> (Distinct operands)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4</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multiply, a, b, result</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10899014"/>
                  </a:ext>
                </a:extLst>
              </a:tr>
              <a:tr h="765785">
                <a:tc>
                  <a:txBody>
                    <a:bodyPr/>
                    <a:lstStyle/>
                    <a:p>
                      <a:pPr marL="0" marR="0" algn="ctr">
                        <a:lnSpc>
                          <a:spcPct val="107000"/>
                        </a:lnSpc>
                        <a:spcBef>
                          <a:spcPts val="0"/>
                        </a:spcBef>
                        <a:spcAft>
                          <a:spcPts val="0"/>
                        </a:spcAft>
                      </a:pPr>
                      <a:r>
                        <a:rPr lang="en-US" sz="2400">
                          <a:effectLst/>
                        </a:rPr>
                        <a:t>N₁ (Total operators)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7</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def, (), :, =, *, return,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88585670"/>
                  </a:ext>
                </a:extLst>
              </a:tr>
              <a:tr h="952269">
                <a:tc>
                  <a:txBody>
                    <a:bodyPr/>
                    <a:lstStyle/>
                    <a:p>
                      <a:pPr marL="0" marR="0" algn="ctr">
                        <a:lnSpc>
                          <a:spcPct val="107000"/>
                        </a:lnSpc>
                        <a:spcBef>
                          <a:spcPts val="0"/>
                        </a:spcBef>
                        <a:spcAft>
                          <a:spcPts val="0"/>
                        </a:spcAft>
                      </a:pPr>
                      <a:r>
                        <a:rPr lang="en-US" sz="2400">
                          <a:effectLst/>
                        </a:rPr>
                        <a:t>N₂ (Total operands)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rPr>
                        <a:t>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dirty="0">
                          <a:effectLst/>
                        </a:rPr>
                        <a:t>multiply, a, b, result, result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278690"/>
                  </a:ext>
                </a:extLst>
              </a:tr>
            </a:tbl>
          </a:graphicData>
        </a:graphic>
      </p:graphicFrame>
    </p:spTree>
    <p:extLst>
      <p:ext uri="{BB962C8B-B14F-4D97-AF65-F5344CB8AC3E}">
        <p14:creationId xmlns:p14="http://schemas.microsoft.com/office/powerpoint/2010/main" val="69948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1E524-A26F-4231-8540-F11D86E39B9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Insight</a:t>
            </a:r>
          </a:p>
        </p:txBody>
      </p:sp>
      <p:sp>
        <p:nvSpPr>
          <p:cNvPr id="4" name="Slide Number Placeholder 3">
            <a:extLst>
              <a:ext uri="{FF2B5EF4-FFF2-40B4-BE49-F238E27FC236}">
                <a16:creationId xmlns:a16="http://schemas.microsoft.com/office/drawing/2014/main" id="{3C082EE5-A849-4F65-8D6D-71DBEBFA7003}"/>
              </a:ext>
            </a:extLst>
          </p:cNvPr>
          <p:cNvSpPr>
            <a:spLocks noGrp="1"/>
          </p:cNvSpPr>
          <p:nvPr>
            <p:ph type="sldNum" sz="quarter" idx="12"/>
          </p:nvPr>
        </p:nvSpPr>
        <p:spPr/>
        <p:txBody>
          <a:bodyPr/>
          <a:lstStyle/>
          <a:p>
            <a:fld id="{06AAA8BD-D267-4C4E-B16C-9A3CB850B983}" type="slidenum">
              <a:rPr lang="en-US" smtClean="0"/>
              <a:t>11</a:t>
            </a:fld>
            <a:endParaRPr lang="en-US"/>
          </a:p>
        </p:txBody>
      </p:sp>
      <p:sp>
        <p:nvSpPr>
          <p:cNvPr id="5" name="Rectangle 4">
            <a:extLst>
              <a:ext uri="{FF2B5EF4-FFF2-40B4-BE49-F238E27FC236}">
                <a16:creationId xmlns:a16="http://schemas.microsoft.com/office/drawing/2014/main" id="{2DEAC5C5-747B-4C2D-B5EF-471D07B1B996}"/>
              </a:ext>
            </a:extLst>
          </p:cNvPr>
          <p:cNvSpPr/>
          <p:nvPr/>
        </p:nvSpPr>
        <p:spPr>
          <a:xfrm>
            <a:off x="1276455" y="1580765"/>
            <a:ext cx="9766852" cy="5262979"/>
          </a:xfrm>
          <a:prstGeom prst="rect">
            <a:avLst/>
          </a:prstGeom>
        </p:spPr>
        <p:txBody>
          <a:bodyPr wrap="square">
            <a:spAutoFit/>
          </a:bodyPr>
          <a:lstStyle/>
          <a:p>
            <a:pPr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Low Program Difficulty (D)</a:t>
            </a:r>
            <a:r>
              <a:rPr lang="en-US" sz="2800" dirty="0">
                <a:latin typeface="Times New Roman" panose="02020603050405020304" pitchFamily="18" charset="0"/>
                <a:cs typeface="Times New Roman" panose="02020603050405020304" pitchFamily="18" charset="0"/>
              </a:rPr>
              <a:t>: Indicates that the code is relatively  easy to understand and modify.</a:t>
            </a:r>
          </a:p>
          <a:p>
            <a:pPr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Effort (E)</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Programming Time (T)</a:t>
            </a:r>
            <a:r>
              <a:rPr lang="en-US" sz="2800" dirty="0">
                <a:latin typeface="Times New Roman" panose="02020603050405020304" pitchFamily="18" charset="0"/>
                <a:cs typeface="Times New Roman" panose="02020603050405020304" pitchFamily="18" charset="0"/>
              </a:rPr>
              <a:t> are also low, reflecting the simplicity of the program.</a:t>
            </a:r>
          </a:p>
          <a:p>
            <a:pPr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Volume (V)</a:t>
            </a:r>
            <a:r>
              <a:rPr lang="en-US" sz="2800" dirty="0">
                <a:latin typeface="Times New Roman" panose="02020603050405020304" pitchFamily="18" charset="0"/>
                <a:cs typeface="Times New Roman" panose="02020603050405020304" pitchFamily="18" charset="0"/>
              </a:rPr>
              <a:t> is moderate, as the program is small and straightforward.</a:t>
            </a:r>
          </a:p>
          <a:p>
            <a:pPr>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Cyclomatic Complexity??</a:t>
            </a:r>
          </a:p>
          <a:p>
            <a:pPr>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Code Smells?</a:t>
            </a:r>
          </a:p>
          <a:p>
            <a:pPr>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Code Duplications?</a:t>
            </a:r>
          </a:p>
          <a:p>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6746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Alternative Size Measures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We can measure the size in terms of</a:t>
            </a:r>
          </a:p>
          <a:p>
            <a:pPr lvl="2"/>
            <a:r>
              <a:rPr lang="en-US" dirty="0">
                <a:latin typeface="Times New Roman" panose="02020603050405020304" pitchFamily="18" charset="0"/>
                <a:cs typeface="Times New Roman" panose="02020603050405020304" pitchFamily="18" charset="0"/>
              </a:rPr>
              <a:t>Number of bytes of computer storage</a:t>
            </a:r>
          </a:p>
          <a:p>
            <a:pPr lvl="2"/>
            <a:r>
              <a:rPr lang="en-US" dirty="0">
                <a:latin typeface="Times New Roman" panose="02020603050405020304" pitchFamily="18" charset="0"/>
                <a:cs typeface="Times New Roman" panose="02020603050405020304" pitchFamily="18" charset="0"/>
              </a:rPr>
              <a:t>Number of characters in the program text</a:t>
            </a:r>
          </a:p>
          <a:p>
            <a:pPr lvl="2"/>
            <a:endParaRPr lang="en-US" dirty="0"/>
          </a:p>
        </p:txBody>
      </p:sp>
      <p:pic>
        <p:nvPicPr>
          <p:cNvPr id="4" name="Picture 3"/>
          <p:cNvPicPr>
            <a:picLocks noChangeAspect="1"/>
          </p:cNvPicPr>
          <p:nvPr/>
        </p:nvPicPr>
        <p:blipFill>
          <a:blip r:embed="rId2"/>
          <a:stretch>
            <a:fillRect/>
          </a:stretch>
        </p:blipFill>
        <p:spPr>
          <a:xfrm>
            <a:off x="1085513" y="3237500"/>
            <a:ext cx="9356935" cy="3161305"/>
          </a:xfrm>
          <a:prstGeom prst="rect">
            <a:avLst/>
          </a:prstGeom>
        </p:spPr>
      </p:pic>
      <p:sp>
        <p:nvSpPr>
          <p:cNvPr id="5" name="Slide Number Placeholder 4"/>
          <p:cNvSpPr>
            <a:spLocks noGrp="1"/>
          </p:cNvSpPr>
          <p:nvPr>
            <p:ph type="sldNum" sz="quarter" idx="12"/>
          </p:nvPr>
        </p:nvSpPr>
        <p:spPr/>
        <p:txBody>
          <a:bodyPr/>
          <a:lstStyle/>
          <a:p>
            <a:fld id="{06AAA8BD-D267-4C4E-B16C-9A3CB850B983}" type="slidenum">
              <a:rPr lang="en-US" smtClean="0"/>
              <a:t>12</a:t>
            </a:fld>
            <a:endParaRPr lang="en-US"/>
          </a:p>
        </p:txBody>
      </p:sp>
    </p:spTree>
    <p:extLst>
      <p:ext uri="{BB962C8B-B14F-4D97-AF65-F5344CB8AC3E}">
        <p14:creationId xmlns:p14="http://schemas.microsoft.com/office/powerpoint/2010/main" val="3061113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Design Size</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Count design elements rather than LOCs</a:t>
            </a:r>
          </a:p>
          <a:p>
            <a:pPr algn="just"/>
            <a:r>
              <a:rPr lang="en-US" dirty="0">
                <a:latin typeface="Times New Roman" panose="02020603050405020304" pitchFamily="18" charset="0"/>
                <a:cs typeface="Times New Roman" panose="02020603050405020304" pitchFamily="18" charset="0"/>
              </a:rPr>
              <a:t>Appropriate size measure depends on the design methodology, the artifacts developed, and the level of abstraction</a:t>
            </a:r>
          </a:p>
          <a:p>
            <a:pPr algn="just"/>
            <a:r>
              <a:rPr lang="en-US" dirty="0">
                <a:latin typeface="Times New Roman" panose="02020603050405020304" pitchFamily="18" charset="0"/>
                <a:cs typeface="Times New Roman" panose="02020603050405020304" pitchFamily="18" charset="0"/>
              </a:rPr>
              <a:t>To measure the size of a procedural design, you can count the number of procedures and functions at the lowest level of abstraction</a:t>
            </a:r>
          </a:p>
          <a:p>
            <a:pPr algn="just"/>
            <a:r>
              <a:rPr lang="en-US" dirty="0">
                <a:latin typeface="Times New Roman" panose="02020603050405020304" pitchFamily="18" charset="0"/>
                <a:cs typeface="Times New Roman" panose="02020603050405020304" pitchFamily="18" charset="0"/>
              </a:rPr>
              <a:t>At higher levels of abstraction, you can count the number of packages and subsystems. You can measure the size of a package or subsystem in terms of the number of functions and procedures in the package.</a:t>
            </a:r>
          </a:p>
        </p:txBody>
      </p:sp>
      <p:sp>
        <p:nvSpPr>
          <p:cNvPr id="4" name="Slide Number Placeholder 3"/>
          <p:cNvSpPr>
            <a:spLocks noGrp="1"/>
          </p:cNvSpPr>
          <p:nvPr>
            <p:ph type="sldNum" sz="quarter" idx="12"/>
          </p:nvPr>
        </p:nvSpPr>
        <p:spPr/>
        <p:txBody>
          <a:bodyPr/>
          <a:lstStyle/>
          <a:p>
            <a:fld id="{06AAA8BD-D267-4C4E-B16C-9A3CB850B983}" type="slidenum">
              <a:rPr lang="en-US" smtClean="0"/>
              <a:t>13</a:t>
            </a:fld>
            <a:endParaRPr lang="en-US"/>
          </a:p>
        </p:txBody>
      </p:sp>
    </p:spTree>
    <p:extLst>
      <p:ext uri="{BB962C8B-B14F-4D97-AF65-F5344CB8AC3E}">
        <p14:creationId xmlns:p14="http://schemas.microsoft.com/office/powerpoint/2010/main" val="3085802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Design Size</a:t>
            </a:r>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Object-oriented designs add new abstraction mechanisms: objects, classes, interfaces, operations, methods, associations, inheritance, etc.</a:t>
            </a:r>
          </a:p>
          <a:p>
            <a:r>
              <a:rPr lang="en-US" dirty="0">
                <a:latin typeface="Times New Roman" panose="02020603050405020304" pitchFamily="18" charset="0"/>
                <a:cs typeface="Times New Roman" panose="02020603050405020304" pitchFamily="18" charset="0"/>
              </a:rPr>
              <a:t>Thus, we will measure the size in terms of packages, design patterns, classes, interfaces, abstract classes, operations, and methods.</a:t>
            </a:r>
          </a:p>
          <a:p>
            <a:pPr lvl="1"/>
            <a:r>
              <a:rPr lang="en-US" b="1" i="1" dirty="0">
                <a:latin typeface="Times New Roman" panose="02020603050405020304" pitchFamily="18" charset="0"/>
                <a:cs typeface="Times New Roman" panose="02020603050405020304" pitchFamily="18" charset="0"/>
              </a:rPr>
              <a:t>Packages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Number of sub packages, number of classes, interfaces (Java), or abstract classes (C++)</a:t>
            </a:r>
          </a:p>
          <a:p>
            <a:pPr lvl="1"/>
            <a:r>
              <a:rPr lang="en-US" b="1" i="1" dirty="0">
                <a:latin typeface="Times New Roman" panose="02020603050405020304" pitchFamily="18" charset="0"/>
                <a:cs typeface="Times New Roman" panose="02020603050405020304" pitchFamily="18" charset="0"/>
              </a:rPr>
              <a:t>Design patterns</a:t>
            </a:r>
            <a:r>
              <a:rPr lang="en-US" b="1" dirty="0">
                <a:latin typeface="Times New Roman" panose="02020603050405020304" pitchFamily="18" charset="0"/>
                <a:cs typeface="Times New Roman" panose="02020603050405020304" pitchFamily="18" charset="0"/>
              </a:rPr>
              <a:t>:</a:t>
            </a:r>
          </a:p>
          <a:p>
            <a:pPr lvl="2"/>
            <a:r>
              <a:rPr lang="en-US" dirty="0">
                <a:latin typeface="Times New Roman" panose="02020603050405020304" pitchFamily="18" charset="0"/>
                <a:cs typeface="Times New Roman" panose="02020603050405020304" pitchFamily="18" charset="0"/>
              </a:rPr>
              <a:t>Number of different design patterns used in a design</a:t>
            </a:r>
          </a:p>
          <a:p>
            <a:pPr lvl="2"/>
            <a:r>
              <a:rPr lang="en-US" dirty="0">
                <a:latin typeface="Times New Roman" panose="02020603050405020304" pitchFamily="18" charset="0"/>
                <a:cs typeface="Times New Roman" panose="02020603050405020304" pitchFamily="18" charset="0"/>
              </a:rPr>
              <a:t>Number of design pattern realizations for each pattern type</a:t>
            </a:r>
          </a:p>
          <a:p>
            <a:pPr lvl="2"/>
            <a:r>
              <a:rPr lang="en-US" dirty="0">
                <a:latin typeface="Times New Roman" panose="02020603050405020304" pitchFamily="18" charset="0"/>
                <a:cs typeface="Times New Roman" panose="02020603050405020304" pitchFamily="18" charset="0"/>
              </a:rPr>
              <a:t>Number of classes, interfaces, or abstract classes that play roles in each pattern realization</a:t>
            </a:r>
          </a:p>
          <a:p>
            <a:pPr lvl="1"/>
            <a:r>
              <a:rPr lang="en-US" b="1" i="1" dirty="0">
                <a:latin typeface="Times New Roman" panose="02020603050405020304" pitchFamily="18" charset="0"/>
                <a:cs typeface="Times New Roman" panose="02020603050405020304" pitchFamily="18" charset="0"/>
              </a:rPr>
              <a:t>Classes, interfaces, or abstract classes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Number of public methods or operations, number of attributes</a:t>
            </a:r>
          </a:p>
          <a:p>
            <a:pPr lvl="1"/>
            <a:r>
              <a:rPr lang="en-US" b="1" i="1" dirty="0">
                <a:latin typeface="Times New Roman" panose="02020603050405020304" pitchFamily="18" charset="0"/>
                <a:cs typeface="Times New Roman" panose="02020603050405020304" pitchFamily="18" charset="0"/>
              </a:rPr>
              <a:t>Methods or operations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Number of parameters, number of overloaded versions of a method or operation</a:t>
            </a:r>
          </a:p>
        </p:txBody>
      </p:sp>
      <p:sp>
        <p:nvSpPr>
          <p:cNvPr id="4" name="Slide Number Placeholder 3"/>
          <p:cNvSpPr>
            <a:spLocks noGrp="1"/>
          </p:cNvSpPr>
          <p:nvPr>
            <p:ph type="sldNum" sz="quarter" idx="12"/>
          </p:nvPr>
        </p:nvSpPr>
        <p:spPr/>
        <p:txBody>
          <a:bodyPr/>
          <a:lstStyle/>
          <a:p>
            <a:fld id="{06AAA8BD-D267-4C4E-B16C-9A3CB850B983}" type="slidenum">
              <a:rPr lang="en-US" smtClean="0"/>
              <a:t>14</a:t>
            </a:fld>
            <a:endParaRPr lang="en-US"/>
          </a:p>
        </p:txBody>
      </p:sp>
    </p:spTree>
    <p:extLst>
      <p:ext uri="{BB962C8B-B14F-4D97-AF65-F5344CB8AC3E}">
        <p14:creationId xmlns:p14="http://schemas.microsoft.com/office/powerpoint/2010/main" val="1410988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Design Size</a:t>
            </a: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Weighted Methods per Class (WMC) measure: </a:t>
            </a:r>
            <a:r>
              <a:rPr lang="en-US" dirty="0">
                <a:latin typeface="Times New Roman" panose="02020603050405020304" pitchFamily="18" charset="0"/>
                <a:cs typeface="Times New Roman" panose="02020603050405020304" pitchFamily="18" charset="0"/>
              </a:rPr>
              <a:t>measured by summing the weights of the methods in a class, where weights are unspecified complexity factors for each method</a:t>
            </a:r>
          </a:p>
          <a:p>
            <a:pPr algn="just"/>
            <a:r>
              <a:rPr lang="en-US" dirty="0">
                <a:latin typeface="Times New Roman" panose="02020603050405020304" pitchFamily="18" charset="0"/>
                <a:cs typeface="Times New Roman" panose="02020603050405020304" pitchFamily="18" charset="0"/>
              </a:rPr>
              <a:t>Both the number of methods and the number of attributes can serve as class size measures</a:t>
            </a:r>
          </a:p>
          <a:p>
            <a:pPr algn="just"/>
            <a:r>
              <a:rPr lang="en-US" dirty="0">
                <a:latin typeface="Times New Roman" panose="02020603050405020304" pitchFamily="18" charset="0"/>
                <a:cs typeface="Times New Roman" panose="02020603050405020304" pitchFamily="18" charset="0"/>
              </a:rPr>
              <a:t>One set of studies found that the number of methods is a better predictor of class change-proneness than the number of attributes</a:t>
            </a:r>
          </a:p>
        </p:txBody>
      </p:sp>
      <p:sp>
        <p:nvSpPr>
          <p:cNvPr id="4" name="Slide Number Placeholder 3"/>
          <p:cNvSpPr>
            <a:spLocks noGrp="1"/>
          </p:cNvSpPr>
          <p:nvPr>
            <p:ph type="sldNum" sz="quarter" idx="12"/>
          </p:nvPr>
        </p:nvSpPr>
        <p:spPr/>
        <p:txBody>
          <a:bodyPr/>
          <a:lstStyle/>
          <a:p>
            <a:fld id="{06AAA8BD-D267-4C4E-B16C-9A3CB850B983}" type="slidenum">
              <a:rPr lang="en-US" smtClean="0"/>
              <a:t>15</a:t>
            </a:fld>
            <a:endParaRPr lang="en-US"/>
          </a:p>
        </p:txBody>
      </p:sp>
    </p:spTree>
    <p:extLst>
      <p:ext uri="{BB962C8B-B14F-4D97-AF65-F5344CB8AC3E}">
        <p14:creationId xmlns:p14="http://schemas.microsoft.com/office/powerpoint/2010/main" val="1432737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Requirement Analysis and Specification Size</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Requirement and specification documents combine text, graphs, and special mathematical diagrams and symbols. </a:t>
            </a:r>
          </a:p>
          <a:p>
            <a:pPr algn="just"/>
            <a:r>
              <a:rPr lang="en-US" dirty="0">
                <a:latin typeface="Times New Roman" panose="02020603050405020304" pitchFamily="18" charset="0"/>
                <a:cs typeface="Times New Roman" panose="02020603050405020304" pitchFamily="18" charset="0"/>
              </a:rPr>
              <a:t>It may not be easy to generate a single-size measure because a requirement analysis often consists of a mix of document types. </a:t>
            </a:r>
          </a:p>
          <a:p>
            <a:pPr algn="just"/>
            <a:r>
              <a:rPr lang="en-US" dirty="0">
                <a:latin typeface="Times New Roman" panose="02020603050405020304" pitchFamily="18" charset="0"/>
                <a:cs typeface="Times New Roman" panose="02020603050405020304" pitchFamily="18" charset="0"/>
              </a:rPr>
              <a:t>For example, a use case analysis may consist of a UML use case diagram along with a set of use case scenarios that may be expressed as either text or as UML activity diagrams</a:t>
            </a:r>
          </a:p>
        </p:txBody>
      </p:sp>
      <p:sp>
        <p:nvSpPr>
          <p:cNvPr id="4" name="Slide Number Placeholder 3"/>
          <p:cNvSpPr>
            <a:spLocks noGrp="1"/>
          </p:cNvSpPr>
          <p:nvPr>
            <p:ph type="sldNum" sz="quarter" idx="12"/>
          </p:nvPr>
        </p:nvSpPr>
        <p:spPr/>
        <p:txBody>
          <a:bodyPr/>
          <a:lstStyle/>
          <a:p>
            <a:fld id="{06AAA8BD-D267-4C4E-B16C-9A3CB850B983}" type="slidenum">
              <a:rPr lang="en-US" smtClean="0"/>
              <a:t>16</a:t>
            </a:fld>
            <a:endParaRPr lang="en-US"/>
          </a:p>
        </p:txBody>
      </p:sp>
    </p:spTree>
    <p:extLst>
      <p:ext uri="{BB962C8B-B14F-4D97-AF65-F5344CB8AC3E}">
        <p14:creationId xmlns:p14="http://schemas.microsoft.com/office/powerpoint/2010/main" val="4072793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603050405020304" pitchFamily="18" charset="0"/>
                <a:cs typeface="Times New Roman" panose="02020603050405020304" pitchFamily="18" charset="0"/>
              </a:rPr>
              <a:t>Cost of a Project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altLang="tr-TR" dirty="0">
                <a:latin typeface="Times New Roman" panose="02020603050405020304" pitchFamily="18" charset="0"/>
                <a:cs typeface="Times New Roman" panose="02020603050405020304" pitchFamily="18" charset="0"/>
              </a:rPr>
              <a:t>The cost of a project is due to:</a:t>
            </a:r>
          </a:p>
          <a:p>
            <a:pPr lvl="1"/>
            <a:r>
              <a:rPr lang="en-US" altLang="tr-TR" dirty="0">
                <a:latin typeface="Times New Roman" panose="02020603050405020304" pitchFamily="18" charset="0"/>
                <a:cs typeface="Times New Roman" panose="02020603050405020304" pitchFamily="18" charset="0"/>
              </a:rPr>
              <a:t>The requirements for software, hardware, and human resources</a:t>
            </a:r>
          </a:p>
          <a:p>
            <a:pPr lvl="1"/>
            <a:r>
              <a:rPr lang="en-US" altLang="tr-TR" dirty="0">
                <a:latin typeface="Times New Roman" panose="02020603050405020304" pitchFamily="18" charset="0"/>
                <a:cs typeface="Times New Roman" panose="02020603050405020304" pitchFamily="18" charset="0"/>
              </a:rPr>
              <a:t>The cost of software development is due to the human resources needed</a:t>
            </a:r>
          </a:p>
          <a:p>
            <a:pPr lvl="1"/>
            <a:r>
              <a:rPr lang="en-US" altLang="tr-TR" dirty="0">
                <a:latin typeface="Times New Roman" panose="02020603050405020304" pitchFamily="18" charset="0"/>
                <a:cs typeface="Times New Roman" panose="02020603050405020304" pitchFamily="18" charset="0"/>
              </a:rPr>
              <a:t>Most cost estimates are measured in </a:t>
            </a:r>
            <a:r>
              <a:rPr lang="en-US" altLang="tr-TR" b="1" i="1" dirty="0">
                <a:latin typeface="Times New Roman" panose="02020603050405020304" pitchFamily="18" charset="0"/>
                <a:cs typeface="Times New Roman" panose="02020603050405020304" pitchFamily="18" charset="0"/>
              </a:rPr>
              <a:t>person-months  (PM)</a:t>
            </a:r>
          </a:p>
          <a:p>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t>17</a:t>
            </a:fld>
            <a:endParaRPr lang="en-US"/>
          </a:p>
        </p:txBody>
      </p:sp>
    </p:spTree>
    <p:extLst>
      <p:ext uri="{BB962C8B-B14F-4D97-AF65-F5344CB8AC3E}">
        <p14:creationId xmlns:p14="http://schemas.microsoft.com/office/powerpoint/2010/main" val="1922218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Software Cost Estimation</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3492357895"/>
              </p:ext>
            </p:extLst>
          </p:nvPr>
        </p:nvGraphicFramePr>
        <p:xfrm>
          <a:off x="1532762" y="2467578"/>
          <a:ext cx="8595464" cy="3018822"/>
        </p:xfrm>
        <a:graphic>
          <a:graphicData uri="http://schemas.openxmlformats.org/presentationml/2006/ole">
            <mc:AlternateContent xmlns:mc="http://schemas.openxmlformats.org/markup-compatibility/2006">
              <mc:Choice xmlns:v="urn:schemas-microsoft-com:vml" Requires="v">
                <p:oleObj spid="_x0000_s1183" name="Bitmap Image" r:id="rId3" imgW="5504762" imgH="1933333" progId="Paint.Picture">
                  <p:embed/>
                </p:oleObj>
              </mc:Choice>
              <mc:Fallback>
                <p:oleObj name="Bitmap Image" r:id="rId3" imgW="5504762" imgH="1933333" progId="Paint.Picture">
                  <p:embed/>
                  <p:pic>
                    <p:nvPicPr>
                      <p:cNvPr id="1229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2762" y="2467578"/>
                        <a:ext cx="8595464" cy="3018822"/>
                      </a:xfrm>
                      <a:prstGeom prst="rect">
                        <a:avLst/>
                      </a:prstGeom>
                      <a:noFill/>
                      <a:ln>
                        <a:noFill/>
                      </a:ln>
                    </p:spPr>
                  </p:pic>
                </p:oleObj>
              </mc:Fallback>
            </mc:AlternateContent>
          </a:graphicData>
        </a:graphic>
      </p:graphicFrame>
      <p:sp>
        <p:nvSpPr>
          <p:cNvPr id="3" name="Slide Number Placeholder 2"/>
          <p:cNvSpPr>
            <a:spLocks noGrp="1"/>
          </p:cNvSpPr>
          <p:nvPr>
            <p:ph type="sldNum" sz="quarter" idx="12"/>
          </p:nvPr>
        </p:nvSpPr>
        <p:spPr/>
        <p:txBody>
          <a:bodyPr/>
          <a:lstStyle/>
          <a:p>
            <a:fld id="{06AAA8BD-D267-4C4E-B16C-9A3CB850B983}" type="slidenum">
              <a:rPr lang="en-US" smtClean="0"/>
              <a:t>18</a:t>
            </a:fld>
            <a:endParaRPr lang="en-US"/>
          </a:p>
        </p:txBody>
      </p:sp>
    </p:spTree>
    <p:extLst>
      <p:ext uri="{BB962C8B-B14F-4D97-AF65-F5344CB8AC3E}">
        <p14:creationId xmlns:p14="http://schemas.microsoft.com/office/powerpoint/2010/main" val="500016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Actual View</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7042" y="1825625"/>
            <a:ext cx="5837916" cy="4351338"/>
          </a:xfrm>
        </p:spPr>
      </p:pic>
      <p:sp>
        <p:nvSpPr>
          <p:cNvPr id="3" name="Slide Number Placeholder 2"/>
          <p:cNvSpPr>
            <a:spLocks noGrp="1"/>
          </p:cNvSpPr>
          <p:nvPr>
            <p:ph type="sldNum" sz="quarter" idx="12"/>
          </p:nvPr>
        </p:nvSpPr>
        <p:spPr/>
        <p:txBody>
          <a:bodyPr/>
          <a:lstStyle/>
          <a:p>
            <a:fld id="{06AAA8BD-D267-4C4E-B16C-9A3CB850B983}" type="slidenum">
              <a:rPr lang="en-US" smtClean="0"/>
              <a:t>19</a:t>
            </a:fld>
            <a:endParaRPr lang="en-US"/>
          </a:p>
        </p:txBody>
      </p:sp>
    </p:spTree>
    <p:extLst>
      <p:ext uri="{BB962C8B-B14F-4D97-AF65-F5344CB8AC3E}">
        <p14:creationId xmlns:p14="http://schemas.microsoft.com/office/powerpoint/2010/main" val="2462627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Effort ( using LOC)</a:t>
            </a:r>
          </a:p>
        </p:txBody>
      </p:sp>
      <p:sp>
        <p:nvSpPr>
          <p:cNvPr id="3" name="Content Placeholder 2"/>
          <p:cNvSpPr>
            <a:spLocks noGrp="1"/>
          </p:cNvSpPr>
          <p:nvPr>
            <p:ph idx="1"/>
          </p:nvPr>
        </p:nvSpPr>
        <p:spPr/>
        <p:txBody>
          <a:bodyPr/>
          <a:lstStyle/>
          <a:p>
            <a:pPr>
              <a:spcBef>
                <a:spcPts val="500"/>
              </a:spcBef>
              <a:spcAft>
                <a:spcPts val="500"/>
              </a:spcAft>
            </a:pPr>
            <a:r>
              <a:rPr lang="en-US" altLang="tr-TR" dirty="0">
                <a:latin typeface="Times New Roman" panose="02020603050405020304" pitchFamily="18" charset="0"/>
                <a:cs typeface="Times New Roman" panose="02020603050405020304" pitchFamily="18" charset="0"/>
              </a:rPr>
              <a:t>Effort Equation </a:t>
            </a:r>
          </a:p>
          <a:p>
            <a:pPr lvl="1">
              <a:spcAft>
                <a:spcPts val="500"/>
              </a:spcAft>
            </a:pPr>
            <a:r>
              <a:rPr lang="en-US" altLang="tr-TR" b="1" dirty="0">
                <a:latin typeface="Times New Roman" panose="02020603050405020304" pitchFamily="18" charset="0"/>
                <a:cs typeface="Times New Roman" panose="02020603050405020304" pitchFamily="18" charset="0"/>
              </a:rPr>
              <a:t>PM = a * (KDSI)</a:t>
            </a:r>
            <a:r>
              <a:rPr lang="en-US" altLang="tr-TR" b="1" baseline="30000" dirty="0">
                <a:latin typeface="Times New Roman" panose="02020603050405020304" pitchFamily="18" charset="0"/>
                <a:cs typeface="Times New Roman" panose="02020603050405020304" pitchFamily="18" charset="0"/>
              </a:rPr>
              <a:t>b</a:t>
            </a:r>
            <a:r>
              <a:rPr lang="en-US" altLang="tr-TR" b="1" dirty="0">
                <a:latin typeface="Times New Roman" panose="02020603050405020304" pitchFamily="18" charset="0"/>
                <a:cs typeface="Times New Roman" panose="02020603050405020304" pitchFamily="18" charset="0"/>
              </a:rPr>
              <a:t> </a:t>
            </a:r>
            <a:r>
              <a:rPr lang="en-US" altLang="tr-TR" sz="1600" dirty="0">
                <a:latin typeface="Times New Roman" panose="02020603050405020304" pitchFamily="18" charset="0"/>
                <a:cs typeface="Times New Roman" panose="02020603050405020304" pitchFamily="18" charset="0"/>
              </a:rPr>
              <a:t>(person-months)</a:t>
            </a:r>
          </a:p>
          <a:p>
            <a:pPr lvl="2">
              <a:spcAft>
                <a:spcPts val="500"/>
              </a:spcAft>
            </a:pPr>
            <a:r>
              <a:rPr lang="en-US" altLang="tr-TR" dirty="0">
                <a:latin typeface="Times New Roman" panose="02020603050405020304" pitchFamily="18" charset="0"/>
                <a:cs typeface="Times New Roman" panose="02020603050405020304" pitchFamily="18" charset="0"/>
              </a:rPr>
              <a:t>where </a:t>
            </a:r>
            <a:r>
              <a:rPr lang="en-US" altLang="tr-TR" b="1" dirty="0">
                <a:latin typeface="Times New Roman" panose="02020603050405020304" pitchFamily="18" charset="0"/>
                <a:cs typeface="Times New Roman" panose="02020603050405020304" pitchFamily="18" charset="0"/>
              </a:rPr>
              <a:t>PM</a:t>
            </a:r>
            <a:r>
              <a:rPr lang="en-US" altLang="tr-TR" dirty="0">
                <a:latin typeface="Times New Roman" panose="02020603050405020304" pitchFamily="18" charset="0"/>
                <a:cs typeface="Times New Roman" panose="02020603050405020304" pitchFamily="18" charset="0"/>
              </a:rPr>
              <a:t> = number of person-month (=152 working hours), </a:t>
            </a:r>
          </a:p>
          <a:p>
            <a:pPr lvl="2">
              <a:spcAft>
                <a:spcPts val="500"/>
              </a:spcAft>
            </a:pPr>
            <a:r>
              <a:rPr lang="en-US" altLang="tr-TR" b="1" dirty="0">
                <a:latin typeface="Times New Roman" panose="02020603050405020304" pitchFamily="18" charset="0"/>
                <a:cs typeface="Times New Roman" panose="02020603050405020304" pitchFamily="18" charset="0"/>
              </a:rPr>
              <a:t>a</a:t>
            </a:r>
            <a:r>
              <a:rPr lang="en-US" altLang="tr-TR" dirty="0">
                <a:latin typeface="Times New Roman" panose="02020603050405020304" pitchFamily="18" charset="0"/>
                <a:cs typeface="Times New Roman" panose="02020603050405020304" pitchFamily="18" charset="0"/>
              </a:rPr>
              <a:t> = a constant, </a:t>
            </a:r>
          </a:p>
          <a:p>
            <a:pPr lvl="2">
              <a:spcAft>
                <a:spcPts val="500"/>
              </a:spcAft>
            </a:pPr>
            <a:r>
              <a:rPr lang="en-US" altLang="tr-TR" b="1" dirty="0">
                <a:latin typeface="Times New Roman" panose="02020603050405020304" pitchFamily="18" charset="0"/>
                <a:cs typeface="Times New Roman" panose="02020603050405020304" pitchFamily="18" charset="0"/>
              </a:rPr>
              <a:t>KDSI</a:t>
            </a:r>
            <a:r>
              <a:rPr lang="en-US" altLang="tr-TR" dirty="0">
                <a:latin typeface="Times New Roman" panose="02020603050405020304" pitchFamily="18" charset="0"/>
                <a:cs typeface="Times New Roman" panose="02020603050405020304" pitchFamily="18" charset="0"/>
              </a:rPr>
              <a:t> = thousands of "delivered source instructions" (DSI) and</a:t>
            </a:r>
          </a:p>
          <a:p>
            <a:pPr lvl="2">
              <a:spcAft>
                <a:spcPts val="500"/>
              </a:spcAft>
            </a:pPr>
            <a:r>
              <a:rPr lang="en-US" altLang="tr-TR" dirty="0">
                <a:latin typeface="Times New Roman" panose="02020603050405020304" pitchFamily="18" charset="0"/>
                <a:cs typeface="Times New Roman" panose="02020603050405020304" pitchFamily="18" charset="0"/>
              </a:rPr>
              <a:t> </a:t>
            </a:r>
            <a:r>
              <a:rPr lang="en-US" altLang="tr-TR" b="1" dirty="0">
                <a:latin typeface="Times New Roman" panose="02020603050405020304" pitchFamily="18" charset="0"/>
                <a:cs typeface="Times New Roman" panose="02020603050405020304" pitchFamily="18" charset="0"/>
              </a:rPr>
              <a:t>b</a:t>
            </a:r>
            <a:r>
              <a:rPr lang="en-US" altLang="tr-TR" dirty="0">
                <a:latin typeface="Times New Roman" panose="02020603050405020304" pitchFamily="18" charset="0"/>
                <a:cs typeface="Times New Roman" panose="02020603050405020304" pitchFamily="18" charset="0"/>
              </a:rPr>
              <a:t> = a constant. </a:t>
            </a:r>
          </a:p>
          <a:p>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t>20</a:t>
            </a:fld>
            <a:endParaRPr lang="en-US"/>
          </a:p>
        </p:txBody>
      </p:sp>
    </p:spTree>
    <p:extLst>
      <p:ext uri="{BB962C8B-B14F-4D97-AF65-F5344CB8AC3E}">
        <p14:creationId xmlns:p14="http://schemas.microsoft.com/office/powerpoint/2010/main" val="2543403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603050405020304" pitchFamily="18" charset="0"/>
                <a:cs typeface="Times New Roman" panose="02020603050405020304" pitchFamily="18" charset="0"/>
              </a:rPr>
              <a:t>Productivity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spcBef>
                <a:spcPts val="500"/>
              </a:spcBef>
              <a:spcAft>
                <a:spcPts val="500"/>
              </a:spcAft>
            </a:pPr>
            <a:r>
              <a:rPr lang="en-US" altLang="tr-TR" dirty="0">
                <a:latin typeface="Times New Roman" panose="02020603050405020304" pitchFamily="18" charset="0"/>
                <a:cs typeface="Times New Roman" panose="02020603050405020304" pitchFamily="18" charset="0"/>
              </a:rPr>
              <a:t>Productivity equation </a:t>
            </a:r>
          </a:p>
          <a:p>
            <a:pPr lvl="1">
              <a:spcAft>
                <a:spcPts val="500"/>
              </a:spcAft>
            </a:pPr>
            <a:r>
              <a:rPr lang="en-US" altLang="tr-TR" b="1" dirty="0">
                <a:latin typeface="Times New Roman" panose="02020603050405020304" pitchFamily="18" charset="0"/>
                <a:cs typeface="Times New Roman" panose="02020603050405020304" pitchFamily="18" charset="0"/>
              </a:rPr>
              <a:t>(DSI) / (PM) </a:t>
            </a:r>
          </a:p>
          <a:p>
            <a:pPr lvl="2">
              <a:spcAft>
                <a:spcPts val="500"/>
              </a:spcAft>
            </a:pPr>
            <a:r>
              <a:rPr lang="en-US" altLang="tr-TR" dirty="0">
                <a:latin typeface="Times New Roman" panose="02020603050405020304" pitchFamily="18" charset="0"/>
                <a:cs typeface="Times New Roman" panose="02020603050405020304" pitchFamily="18" charset="0"/>
              </a:rPr>
              <a:t>where </a:t>
            </a:r>
            <a:r>
              <a:rPr lang="en-US" altLang="tr-TR" b="1" dirty="0">
                <a:latin typeface="Times New Roman" panose="02020603050405020304" pitchFamily="18" charset="0"/>
                <a:cs typeface="Times New Roman" panose="02020603050405020304" pitchFamily="18" charset="0"/>
              </a:rPr>
              <a:t>PM</a:t>
            </a:r>
            <a:r>
              <a:rPr lang="en-US" altLang="tr-TR" dirty="0">
                <a:latin typeface="Times New Roman" panose="02020603050405020304" pitchFamily="18" charset="0"/>
                <a:cs typeface="Times New Roman" panose="02020603050405020304" pitchFamily="18" charset="0"/>
              </a:rPr>
              <a:t> = number of person-month (=152 working hours), </a:t>
            </a:r>
          </a:p>
          <a:p>
            <a:pPr lvl="2">
              <a:spcAft>
                <a:spcPts val="500"/>
              </a:spcAft>
            </a:pPr>
            <a:endParaRPr lang="en-US" altLang="tr-TR" dirty="0">
              <a:latin typeface="Times New Roman" panose="02020603050405020304" pitchFamily="18" charset="0"/>
              <a:cs typeface="Times New Roman" panose="02020603050405020304" pitchFamily="18" charset="0"/>
            </a:endParaRPr>
          </a:p>
          <a:p>
            <a:pPr lvl="2">
              <a:spcAft>
                <a:spcPts val="500"/>
              </a:spcAft>
            </a:pPr>
            <a:r>
              <a:rPr lang="en-US" altLang="tr-TR" b="1" dirty="0">
                <a:latin typeface="Times New Roman" panose="02020603050405020304" pitchFamily="18" charset="0"/>
                <a:cs typeface="Times New Roman" panose="02020603050405020304" pitchFamily="18" charset="0"/>
              </a:rPr>
              <a:t>DSI</a:t>
            </a:r>
            <a:r>
              <a:rPr lang="en-US" altLang="tr-TR" dirty="0">
                <a:latin typeface="Times New Roman" panose="02020603050405020304" pitchFamily="18" charset="0"/>
                <a:cs typeface="Times New Roman" panose="02020603050405020304" pitchFamily="18" charset="0"/>
              </a:rPr>
              <a:t> = "delivered source instructions"</a:t>
            </a:r>
          </a:p>
          <a:p>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t>21</a:t>
            </a:fld>
            <a:endParaRPr lang="en-US"/>
          </a:p>
        </p:txBody>
      </p:sp>
    </p:spTree>
    <p:extLst>
      <p:ext uri="{BB962C8B-B14F-4D97-AF65-F5344CB8AC3E}">
        <p14:creationId xmlns:p14="http://schemas.microsoft.com/office/powerpoint/2010/main" val="267777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603050405020304" pitchFamily="18" charset="0"/>
                <a:cs typeface="Times New Roman" panose="02020603050405020304" pitchFamily="18" charset="0"/>
              </a:rPr>
              <a:t>Schedule and Average Staffing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spcBef>
                <a:spcPts val="500"/>
              </a:spcBef>
              <a:spcAft>
                <a:spcPts val="500"/>
              </a:spcAft>
            </a:pPr>
            <a:r>
              <a:rPr lang="en-US" altLang="tr-TR" dirty="0">
                <a:latin typeface="Times New Roman" panose="02020603050405020304" pitchFamily="18" charset="0"/>
                <a:cs typeface="Times New Roman" panose="02020603050405020304" pitchFamily="18" charset="0"/>
              </a:rPr>
              <a:t>Schedule equation </a:t>
            </a:r>
          </a:p>
          <a:p>
            <a:pPr lvl="1">
              <a:spcAft>
                <a:spcPts val="500"/>
              </a:spcAft>
            </a:pPr>
            <a:r>
              <a:rPr lang="en-US" altLang="tr-TR" b="1" dirty="0">
                <a:latin typeface="Times New Roman" panose="02020603050405020304" pitchFamily="18" charset="0"/>
                <a:cs typeface="Times New Roman" panose="02020603050405020304" pitchFamily="18" charset="0"/>
              </a:rPr>
              <a:t>TDEV = c * (PM)</a:t>
            </a:r>
            <a:r>
              <a:rPr lang="en-US" altLang="tr-TR" b="1" baseline="30000" dirty="0">
                <a:latin typeface="Times New Roman" panose="02020603050405020304" pitchFamily="18" charset="0"/>
                <a:cs typeface="Times New Roman" panose="02020603050405020304" pitchFamily="18" charset="0"/>
              </a:rPr>
              <a:t>d</a:t>
            </a:r>
            <a:r>
              <a:rPr lang="en-US" altLang="tr-TR" b="1" dirty="0">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months)</a:t>
            </a:r>
            <a:r>
              <a:rPr lang="en-US" altLang="tr-TR" b="1" dirty="0">
                <a:latin typeface="Times New Roman" panose="02020603050405020304" pitchFamily="18" charset="0"/>
                <a:cs typeface="Times New Roman" panose="02020603050405020304" pitchFamily="18" charset="0"/>
              </a:rPr>
              <a:t> </a:t>
            </a:r>
            <a:endParaRPr lang="en-US" altLang="tr-TR" dirty="0">
              <a:latin typeface="Times New Roman" panose="02020603050405020304" pitchFamily="18" charset="0"/>
              <a:cs typeface="Times New Roman" panose="02020603050405020304" pitchFamily="18" charset="0"/>
            </a:endParaRPr>
          </a:p>
          <a:p>
            <a:pPr lvl="2">
              <a:spcAft>
                <a:spcPts val="500"/>
              </a:spcAft>
            </a:pPr>
            <a:r>
              <a:rPr lang="en-US" altLang="tr-TR" dirty="0">
                <a:latin typeface="Times New Roman" panose="02020603050405020304" pitchFamily="18" charset="0"/>
                <a:cs typeface="Times New Roman" panose="02020603050405020304" pitchFamily="18" charset="0"/>
              </a:rPr>
              <a:t>where TDEV = number of months estimated for software development. </a:t>
            </a:r>
          </a:p>
          <a:p>
            <a:r>
              <a:rPr lang="en-US" altLang="tr-TR" dirty="0">
                <a:latin typeface="Times New Roman" panose="02020603050405020304" pitchFamily="18" charset="0"/>
                <a:cs typeface="Times New Roman" panose="02020603050405020304" pitchFamily="18" charset="0"/>
              </a:rPr>
              <a:t>Average Staffing Equation</a:t>
            </a:r>
          </a:p>
          <a:p>
            <a:pPr lvl="1">
              <a:spcAft>
                <a:spcPts val="500"/>
              </a:spcAft>
            </a:pPr>
            <a:r>
              <a:rPr lang="en-US" altLang="tr-TR" b="1" dirty="0">
                <a:latin typeface="Times New Roman" panose="02020603050405020304" pitchFamily="18" charset="0"/>
                <a:cs typeface="Times New Roman" panose="02020603050405020304" pitchFamily="18" charset="0"/>
              </a:rPr>
              <a:t>(PM) / (TDEV)		 </a:t>
            </a:r>
            <a:r>
              <a:rPr lang="en-US" altLang="tr-TR" sz="2000" dirty="0">
                <a:latin typeface="Times New Roman" panose="02020603050405020304" pitchFamily="18" charset="0"/>
                <a:cs typeface="Times New Roman" panose="02020603050405020304" pitchFamily="18" charset="0"/>
              </a:rPr>
              <a:t>(FSP) </a:t>
            </a:r>
          </a:p>
          <a:p>
            <a:pPr lvl="2">
              <a:spcAft>
                <a:spcPts val="500"/>
              </a:spcAft>
            </a:pPr>
            <a:r>
              <a:rPr lang="en-US" altLang="tr-TR" dirty="0">
                <a:latin typeface="Times New Roman" panose="02020603050405020304" pitchFamily="18" charset="0"/>
                <a:cs typeface="Times New Roman" panose="02020603050405020304" pitchFamily="18" charset="0"/>
              </a:rPr>
              <a:t>where FSP means Full-time-equivalent Software Personnel.</a:t>
            </a:r>
          </a:p>
          <a:p>
            <a:pPr lvl="2">
              <a:spcAft>
                <a:spcPts val="500"/>
              </a:spcAft>
            </a:pPr>
            <a:endParaRPr lang="en-US" altLang="tr-TR" dirty="0"/>
          </a:p>
        </p:txBody>
      </p:sp>
      <p:sp>
        <p:nvSpPr>
          <p:cNvPr id="4" name="Slide Number Placeholder 3"/>
          <p:cNvSpPr>
            <a:spLocks noGrp="1"/>
          </p:cNvSpPr>
          <p:nvPr>
            <p:ph type="sldNum" sz="quarter" idx="12"/>
          </p:nvPr>
        </p:nvSpPr>
        <p:spPr/>
        <p:txBody>
          <a:bodyPr/>
          <a:lstStyle/>
          <a:p>
            <a:fld id="{06AAA8BD-D267-4C4E-B16C-9A3CB850B983}" type="slidenum">
              <a:rPr lang="en-US" smtClean="0"/>
              <a:t>22</a:t>
            </a:fld>
            <a:endParaRPr lang="en-US"/>
          </a:p>
        </p:txBody>
      </p:sp>
    </p:spTree>
    <p:extLst>
      <p:ext uri="{BB962C8B-B14F-4D97-AF65-F5344CB8AC3E}">
        <p14:creationId xmlns:p14="http://schemas.microsoft.com/office/powerpoint/2010/main" val="3923727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603050405020304" pitchFamily="18" charset="0"/>
                <a:cs typeface="Times New Roman" panose="02020603050405020304" pitchFamily="18" charset="0"/>
              </a:rPr>
              <a:t>Cost Estimation Process</a:t>
            </a:r>
            <a:endParaRPr lang="en-US" dirty="0">
              <a:latin typeface="Times New Roman" panose="02020603050405020304" pitchFamily="18" charset="0"/>
              <a:cs typeface="Times New Roman" panose="02020603050405020304" pitchFamily="18" charset="0"/>
            </a:endParaRPr>
          </a:p>
        </p:txBody>
      </p:sp>
      <p:sp>
        <p:nvSpPr>
          <p:cNvPr id="27" name="Text Box 16"/>
          <p:cNvSpPr txBox="1">
            <a:spLocks noChangeArrowheads="1"/>
          </p:cNvSpPr>
          <p:nvPr/>
        </p:nvSpPr>
        <p:spPr bwMode="auto">
          <a:xfrm>
            <a:off x="7604951" y="4511612"/>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zh-CN" sz="1600" b="1">
                <a:solidFill>
                  <a:srgbClr val="000000"/>
                </a:solidFill>
                <a:latin typeface="Verdana" panose="020B0604030504040204" pitchFamily="34" charset="0"/>
                <a:ea typeface="BatangChe" pitchFamily="49" charset="-128"/>
              </a:rPr>
              <a:t>Errors</a:t>
            </a:r>
            <a:endParaRPr lang="en-US" altLang="zh-CN" sz="1600" b="1">
              <a:latin typeface="Verdana" panose="020B0604030504040204" pitchFamily="34" charset="0"/>
              <a:ea typeface="BatangChe" pitchFamily="49" charset="-128"/>
            </a:endParaRPr>
          </a:p>
        </p:txBody>
      </p:sp>
      <p:sp>
        <p:nvSpPr>
          <p:cNvPr id="28" name="Text Box 17"/>
          <p:cNvSpPr txBox="1">
            <a:spLocks noChangeArrowheads="1"/>
          </p:cNvSpPr>
          <p:nvPr/>
        </p:nvSpPr>
        <p:spPr bwMode="auto">
          <a:xfrm>
            <a:off x="7628763" y="2835212"/>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zh-CN" sz="1600" b="1">
                <a:latin typeface="Verdana" panose="020B0604030504040204" pitchFamily="34" charset="0"/>
                <a:ea typeface="BatangChe" pitchFamily="49" charset="-128"/>
              </a:rPr>
              <a:t>Effort</a:t>
            </a:r>
          </a:p>
        </p:txBody>
      </p:sp>
      <p:sp>
        <p:nvSpPr>
          <p:cNvPr id="29" name="Text Box 18"/>
          <p:cNvSpPr txBox="1">
            <a:spLocks noChangeArrowheads="1"/>
          </p:cNvSpPr>
          <p:nvPr/>
        </p:nvSpPr>
        <p:spPr bwMode="auto">
          <a:xfrm>
            <a:off x="7628763" y="3368612"/>
            <a:ext cx="2743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zh-CN" sz="1600" b="1" dirty="0">
                <a:solidFill>
                  <a:srgbClr val="000000"/>
                </a:solidFill>
                <a:latin typeface="Verdana" panose="020B0604030504040204" pitchFamily="34" charset="0"/>
                <a:ea typeface="BatangChe" pitchFamily="49" charset="-128"/>
              </a:rPr>
              <a:t>Development Time</a:t>
            </a:r>
            <a:r>
              <a:rPr lang="en-US" altLang="zh-CN" sz="1600" b="1" dirty="0">
                <a:latin typeface="Verdana" panose="020B0604030504040204" pitchFamily="34" charset="0"/>
                <a:ea typeface="BatangChe" pitchFamily="49" charset="-128"/>
              </a:rPr>
              <a:t> </a:t>
            </a:r>
          </a:p>
        </p:txBody>
      </p:sp>
      <p:sp>
        <p:nvSpPr>
          <p:cNvPr id="30" name="Text Box 19"/>
          <p:cNvSpPr txBox="1">
            <a:spLocks noChangeArrowheads="1"/>
          </p:cNvSpPr>
          <p:nvPr/>
        </p:nvSpPr>
        <p:spPr bwMode="auto">
          <a:xfrm>
            <a:off x="1818513" y="2987612"/>
            <a:ext cx="2514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zh-CN" sz="1600" b="1" dirty="0">
                <a:solidFill>
                  <a:srgbClr val="000000"/>
                </a:solidFill>
                <a:latin typeface="Verdana" panose="020B0604030504040204" pitchFamily="34" charset="0"/>
                <a:ea typeface="BatangChe" pitchFamily="49" charset="-128"/>
              </a:rPr>
              <a:t>Size Table</a:t>
            </a:r>
          </a:p>
          <a:p>
            <a:pPr algn="r"/>
            <a:endParaRPr lang="en-US" altLang="zh-CN" sz="1600" b="1" dirty="0">
              <a:solidFill>
                <a:srgbClr val="000000"/>
              </a:solidFill>
              <a:latin typeface="Verdana" panose="020B0604030504040204" pitchFamily="34" charset="0"/>
              <a:ea typeface="BatangChe" pitchFamily="49" charset="-128"/>
            </a:endParaRPr>
          </a:p>
          <a:p>
            <a:pPr algn="r"/>
            <a:r>
              <a:rPr lang="en-US" altLang="zh-CN" sz="1600" b="1" dirty="0">
                <a:solidFill>
                  <a:srgbClr val="000000"/>
                </a:solidFill>
                <a:latin typeface="Verdana" panose="020B0604030504040204" pitchFamily="34" charset="0"/>
                <a:ea typeface="BatangChe" pitchFamily="49" charset="-128"/>
              </a:rPr>
              <a:t>Lines of Code</a:t>
            </a:r>
          </a:p>
          <a:p>
            <a:pPr algn="r"/>
            <a:endParaRPr lang="en-US" altLang="zh-CN" sz="1600" b="1" dirty="0">
              <a:solidFill>
                <a:srgbClr val="000000"/>
              </a:solidFill>
              <a:latin typeface="Verdana" panose="020B0604030504040204" pitchFamily="34" charset="0"/>
              <a:ea typeface="BatangChe" pitchFamily="49" charset="-128"/>
            </a:endParaRPr>
          </a:p>
          <a:p>
            <a:pPr algn="r"/>
            <a:r>
              <a:rPr lang="en-US" altLang="zh-CN" sz="1600" b="1" dirty="0">
                <a:solidFill>
                  <a:srgbClr val="000000"/>
                </a:solidFill>
                <a:latin typeface="Verdana" panose="020B0604030504040204" pitchFamily="34" charset="0"/>
                <a:ea typeface="BatangChe" pitchFamily="49" charset="-128"/>
              </a:rPr>
              <a:t>Number of Use Case</a:t>
            </a:r>
          </a:p>
          <a:p>
            <a:pPr algn="r"/>
            <a:endParaRPr lang="en-US" altLang="zh-CN" sz="1600" b="1" dirty="0">
              <a:solidFill>
                <a:srgbClr val="000000"/>
              </a:solidFill>
              <a:latin typeface="Verdana" panose="020B0604030504040204" pitchFamily="34" charset="0"/>
              <a:ea typeface="BatangChe" pitchFamily="49" charset="-128"/>
            </a:endParaRPr>
          </a:p>
          <a:p>
            <a:pPr algn="r"/>
            <a:r>
              <a:rPr lang="en-US" altLang="zh-CN" sz="1600" b="1" dirty="0">
                <a:solidFill>
                  <a:srgbClr val="000000"/>
                </a:solidFill>
                <a:latin typeface="Verdana" panose="020B0604030504040204" pitchFamily="34" charset="0"/>
                <a:ea typeface="BatangChe" pitchFamily="49" charset="-128"/>
              </a:rPr>
              <a:t>Function Point</a:t>
            </a:r>
            <a:endParaRPr lang="en-US" altLang="zh-CN" sz="1600" b="1" dirty="0">
              <a:latin typeface="Verdana" panose="020B0604030504040204" pitchFamily="34" charset="0"/>
              <a:ea typeface="BatangChe" pitchFamily="49" charset="-128"/>
            </a:endParaRPr>
          </a:p>
        </p:txBody>
      </p:sp>
      <p:sp>
        <p:nvSpPr>
          <p:cNvPr id="31" name="Line 20"/>
          <p:cNvSpPr>
            <a:spLocks noChangeShapeType="1"/>
          </p:cNvSpPr>
          <p:nvPr/>
        </p:nvSpPr>
        <p:spPr bwMode="auto">
          <a:xfrm>
            <a:off x="4275963" y="3825812"/>
            <a:ext cx="381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Oval 21"/>
          <p:cNvSpPr>
            <a:spLocks noChangeArrowheads="1"/>
          </p:cNvSpPr>
          <p:nvPr/>
        </p:nvSpPr>
        <p:spPr bwMode="auto">
          <a:xfrm>
            <a:off x="4656963" y="3140012"/>
            <a:ext cx="2514600" cy="1371600"/>
          </a:xfrm>
          <a:prstGeom prst="ellipse">
            <a:avLst/>
          </a:prstGeom>
          <a:solidFill>
            <a:srgbClr val="CCFFCC"/>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sp>
        <p:nvSpPr>
          <p:cNvPr id="33" name="Text Box 22"/>
          <p:cNvSpPr txBox="1">
            <a:spLocks noChangeArrowheads="1"/>
          </p:cNvSpPr>
          <p:nvPr/>
        </p:nvSpPr>
        <p:spPr bwMode="auto">
          <a:xfrm>
            <a:off x="4733163" y="3673412"/>
            <a:ext cx="25146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zh-CN" sz="1600" b="1">
                <a:latin typeface="Verdana" panose="020B0604030504040204" pitchFamily="34" charset="0"/>
                <a:ea typeface="BatangChe" pitchFamily="49" charset="-128"/>
              </a:rPr>
              <a:t>Estimation Process</a:t>
            </a:r>
          </a:p>
        </p:txBody>
      </p:sp>
      <p:sp>
        <p:nvSpPr>
          <p:cNvPr id="34" name="Line 23"/>
          <p:cNvSpPr>
            <a:spLocks noChangeShapeType="1"/>
          </p:cNvSpPr>
          <p:nvPr/>
        </p:nvSpPr>
        <p:spPr bwMode="auto">
          <a:xfrm flipV="1">
            <a:off x="7019163" y="2987612"/>
            <a:ext cx="609600" cy="4984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24"/>
          <p:cNvSpPr>
            <a:spLocks noChangeShapeType="1"/>
          </p:cNvSpPr>
          <p:nvPr/>
        </p:nvSpPr>
        <p:spPr bwMode="auto">
          <a:xfrm>
            <a:off x="7019163" y="4206812"/>
            <a:ext cx="609600" cy="457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25"/>
          <p:cNvSpPr>
            <a:spLocks noChangeShapeType="1"/>
          </p:cNvSpPr>
          <p:nvPr/>
        </p:nvSpPr>
        <p:spPr bwMode="auto">
          <a:xfrm flipV="1">
            <a:off x="7171563" y="3521012"/>
            <a:ext cx="5334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Text Box 26"/>
          <p:cNvSpPr txBox="1">
            <a:spLocks noChangeArrowheads="1"/>
          </p:cNvSpPr>
          <p:nvPr/>
        </p:nvSpPr>
        <p:spPr bwMode="auto">
          <a:xfrm>
            <a:off x="7628763" y="3946462"/>
            <a:ext cx="2667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kumimoji="1" lang="en-US" altLang="zh-CN" sz="1600" b="1">
                <a:latin typeface="Verdana" panose="020B0604030504040204" pitchFamily="34" charset="0"/>
                <a:ea typeface="BatangChe" pitchFamily="49" charset="-128"/>
              </a:rPr>
              <a:t>Number of Personnel</a:t>
            </a:r>
          </a:p>
        </p:txBody>
      </p:sp>
      <p:sp>
        <p:nvSpPr>
          <p:cNvPr id="38" name="Line 27"/>
          <p:cNvSpPr>
            <a:spLocks noChangeShapeType="1"/>
          </p:cNvSpPr>
          <p:nvPr/>
        </p:nvSpPr>
        <p:spPr bwMode="auto">
          <a:xfrm>
            <a:off x="7171563" y="3902012"/>
            <a:ext cx="5334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 name="Slide Number Placeholder 3"/>
          <p:cNvSpPr>
            <a:spLocks noGrp="1"/>
          </p:cNvSpPr>
          <p:nvPr>
            <p:ph type="sldNum" sz="quarter" idx="12"/>
          </p:nvPr>
        </p:nvSpPr>
        <p:spPr/>
        <p:txBody>
          <a:bodyPr/>
          <a:lstStyle/>
          <a:p>
            <a:fld id="{06AAA8BD-D267-4C4E-B16C-9A3CB850B983}" type="slidenum">
              <a:rPr lang="en-US" smtClean="0"/>
              <a:t>23</a:t>
            </a:fld>
            <a:endParaRPr lang="en-US"/>
          </a:p>
        </p:txBody>
      </p:sp>
    </p:spTree>
    <p:extLst>
      <p:ext uri="{BB962C8B-B14F-4D97-AF65-F5344CB8AC3E}">
        <p14:creationId xmlns:p14="http://schemas.microsoft.com/office/powerpoint/2010/main" val="2356943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603050405020304" pitchFamily="18" charset="0"/>
                <a:cs typeface="Times New Roman" panose="02020603050405020304" pitchFamily="18" charset="0"/>
              </a:rPr>
              <a:t>Project Size - Metrics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62500" lnSpcReduction="20000"/>
          </a:bodyPr>
          <a:lstStyle/>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functional requirements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Cumulative number of functional and non-functional requirements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Customer Test Cases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‘typical sized’ use cases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inquiries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files accessed (external, internal, master)</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Total number of components (subsystems, modules, procedures, routines, classes, methods)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Total number of interfaces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System Integration Test Cases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input and output parameters (summed over each interface)</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Designer Unit Test Cases</a:t>
            </a:r>
            <a:endParaRPr lang="en-US" altLang="tr-TR" dirty="0">
              <a:latin typeface="Times New Roman" panose="02020603050405020304" pitchFamily="18" charset="0"/>
              <a:cs typeface="Times New Roman" panose="02020603050405020304" pitchFamily="18" charset="0"/>
            </a:endParaRPr>
          </a:p>
          <a:p>
            <a:pPr marL="533400" indent="-533400">
              <a:buFontTx/>
              <a:buAutoNum type="arabicPeriod"/>
            </a:pPr>
            <a:r>
              <a:rPr lang="en-CA" altLang="tr-TR" b="1" dirty="0">
                <a:latin typeface="Times New Roman" panose="02020603050405020304" pitchFamily="18" charset="0"/>
                <a:cs typeface="Times New Roman" panose="02020603050405020304" pitchFamily="18" charset="0"/>
              </a:rPr>
              <a:t>Number of decisions (if, case statements) summed over each routine or method</a:t>
            </a:r>
          </a:p>
          <a:p>
            <a:pPr marL="533400" indent="-533400">
              <a:buFontTx/>
              <a:buAutoNum type="arabicPeriod"/>
            </a:pPr>
            <a:r>
              <a:rPr lang="en-CA" altLang="tr-TR" sz="2900" b="1" dirty="0">
                <a:latin typeface="Times New Roman" panose="02020603050405020304" pitchFamily="18" charset="0"/>
                <a:cs typeface="Times New Roman" panose="02020603050405020304" pitchFamily="18" charset="0"/>
              </a:rPr>
              <a:t>Lines of Code, summed over each routine or method</a:t>
            </a:r>
            <a:r>
              <a:rPr lang="en-US" altLang="tr-TR" sz="2900" b="1" dirty="0">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p:txBody>
          <a:bodyPr/>
          <a:lstStyle/>
          <a:p>
            <a:fld id="{06AAA8BD-D267-4C4E-B16C-9A3CB850B983}" type="slidenum">
              <a:rPr lang="en-US" smtClean="0"/>
              <a:t>24</a:t>
            </a:fld>
            <a:endParaRPr lang="en-US"/>
          </a:p>
        </p:txBody>
      </p:sp>
    </p:spTree>
    <p:extLst>
      <p:ext uri="{BB962C8B-B14F-4D97-AF65-F5344CB8AC3E}">
        <p14:creationId xmlns:p14="http://schemas.microsoft.com/office/powerpoint/2010/main" val="3502066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latin typeface="Times New Roman" panose="02020603050405020304" pitchFamily="18" charset="0"/>
                <a:cs typeface="Times New Roman" panose="02020603050405020304" pitchFamily="18" charset="0"/>
              </a:rPr>
              <a:t>Project Size - Metrics</a:t>
            </a:r>
            <a:endParaRPr lang="en-US" dirty="0">
              <a:latin typeface="Times New Roman" panose="02020603050405020304" pitchFamily="18" charset="0"/>
              <a:cs typeface="Times New Roman" panose="02020603050405020304" pitchFamily="18" charset="0"/>
            </a:endParaRPr>
          </a:p>
        </p:txBody>
      </p:sp>
      <p:sp>
        <p:nvSpPr>
          <p:cNvPr id="4" name="Rectangle 3"/>
          <p:cNvSpPr>
            <a:spLocks noGrp="1" noChangeArrowheads="1"/>
          </p:cNvSpPr>
          <p:nvPr>
            <p:ph idx="1"/>
          </p:nvPr>
        </p:nvSpPr>
        <p:spPr/>
        <p:txBody>
          <a:bodyPr/>
          <a:lstStyle/>
          <a:p>
            <a:pPr>
              <a:spcBef>
                <a:spcPct val="0"/>
              </a:spcBef>
              <a:buFontTx/>
              <a:buNone/>
            </a:pPr>
            <a:r>
              <a:rPr lang="en-CA" altLang="tr-TR" sz="2000" b="1" u="sng" dirty="0">
                <a:solidFill>
                  <a:srgbClr val="000000"/>
                </a:solidFill>
                <a:latin typeface="Helvetica" panose="020B0604020202020204" pitchFamily="34" charset="0"/>
                <a:cs typeface="Times New Roman" panose="02020603050405020304" pitchFamily="18" charset="0"/>
              </a:rPr>
              <a:t>Availability of Size Estimation Metrics:</a:t>
            </a:r>
            <a:endParaRPr lang="en-CA" altLang="tr-TR" sz="2000" dirty="0">
              <a:solidFill>
                <a:srgbClr val="000000"/>
              </a:solidFill>
              <a:latin typeface="Helvetica" panose="020B0604020202020204" pitchFamily="34" charset="0"/>
              <a:cs typeface="Times New Roman" panose="02020603050405020304" pitchFamily="18" charset="0"/>
            </a:endParaRPr>
          </a:p>
          <a:p>
            <a:endParaRPr lang="en-US" altLang="tr-TR" sz="2000" dirty="0"/>
          </a:p>
        </p:txBody>
      </p:sp>
      <p:grpSp>
        <p:nvGrpSpPr>
          <p:cNvPr id="5" name="Group 61"/>
          <p:cNvGrpSpPr>
            <a:grpSpLocks/>
          </p:cNvGrpSpPr>
          <p:nvPr/>
        </p:nvGrpSpPr>
        <p:grpSpPr bwMode="auto">
          <a:xfrm>
            <a:off x="2737104" y="2706624"/>
            <a:ext cx="5943600" cy="3124200"/>
            <a:chOff x="-2" y="516"/>
            <a:chExt cx="2099" cy="2537"/>
          </a:xfrm>
        </p:grpSpPr>
        <p:grpSp>
          <p:nvGrpSpPr>
            <p:cNvPr id="6" name="Group 59"/>
            <p:cNvGrpSpPr>
              <a:grpSpLocks/>
            </p:cNvGrpSpPr>
            <p:nvPr/>
          </p:nvGrpSpPr>
          <p:grpSpPr bwMode="auto">
            <a:xfrm>
              <a:off x="0" y="518"/>
              <a:ext cx="2095" cy="2533"/>
              <a:chOff x="0" y="518"/>
              <a:chExt cx="2095" cy="2533"/>
            </a:xfrm>
          </p:grpSpPr>
          <p:grpSp>
            <p:nvGrpSpPr>
              <p:cNvPr id="8" name="Group 24"/>
              <p:cNvGrpSpPr>
                <a:grpSpLocks/>
              </p:cNvGrpSpPr>
              <p:nvPr/>
            </p:nvGrpSpPr>
            <p:grpSpPr bwMode="auto">
              <a:xfrm>
                <a:off x="0" y="518"/>
                <a:ext cx="255" cy="518"/>
                <a:chOff x="0" y="518"/>
                <a:chExt cx="255" cy="518"/>
              </a:xfrm>
            </p:grpSpPr>
            <p:sp>
              <p:nvSpPr>
                <p:cNvPr id="60" name="Rectangle 5"/>
                <p:cNvSpPr>
                  <a:spLocks noChangeArrowheads="1"/>
                </p:cNvSpPr>
                <p:nvPr/>
              </p:nvSpPr>
              <p:spPr bwMode="auto">
                <a:xfrm>
                  <a:off x="43" y="518"/>
                  <a:ext cx="16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a:solidFill>
                        <a:srgbClr val="000000"/>
                      </a:solidFill>
                      <a:latin typeface="Helvetica" panose="020B0604020202020204" pitchFamily="34" charset="0"/>
                      <a:cs typeface="Times New Roman" panose="02020603050405020304" pitchFamily="18" charset="0"/>
                    </a:rPr>
                    <a:t> </a:t>
                  </a:r>
                </a:p>
                <a:p>
                  <a:endParaRPr lang="en-CA" altLang="tr-TR" sz="2000"/>
                </a:p>
              </p:txBody>
            </p:sp>
            <p:sp>
              <p:nvSpPr>
                <p:cNvPr id="61" name="Rectangle 23"/>
                <p:cNvSpPr>
                  <a:spLocks noChangeArrowheads="1"/>
                </p:cNvSpPr>
                <p:nvPr/>
              </p:nvSpPr>
              <p:spPr bwMode="auto">
                <a:xfrm>
                  <a:off x="0" y="518"/>
                  <a:ext cx="255"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9" name="Group 26"/>
              <p:cNvGrpSpPr>
                <a:grpSpLocks/>
              </p:cNvGrpSpPr>
              <p:nvPr/>
            </p:nvGrpSpPr>
            <p:grpSpPr bwMode="auto">
              <a:xfrm>
                <a:off x="255" y="518"/>
                <a:ext cx="1224" cy="518"/>
                <a:chOff x="255" y="518"/>
                <a:chExt cx="1224" cy="518"/>
              </a:xfrm>
            </p:grpSpPr>
            <p:sp>
              <p:nvSpPr>
                <p:cNvPr id="58" name="Rectangle 6"/>
                <p:cNvSpPr>
                  <a:spLocks noChangeArrowheads="1"/>
                </p:cNvSpPr>
                <p:nvPr/>
              </p:nvSpPr>
              <p:spPr bwMode="auto">
                <a:xfrm>
                  <a:off x="298" y="518"/>
                  <a:ext cx="113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dirty="0">
                      <a:solidFill>
                        <a:srgbClr val="000000"/>
                      </a:solidFill>
                      <a:latin typeface="Helvetica" panose="020B0604020202020204" pitchFamily="34" charset="0"/>
                      <a:cs typeface="Times New Roman" panose="02020603050405020304" pitchFamily="18" charset="0"/>
                    </a:rPr>
                    <a:t>Development Phase</a:t>
                  </a:r>
                  <a:endParaRPr lang="en-CA" altLang="tr-TR" sz="2000" dirty="0">
                    <a:solidFill>
                      <a:srgbClr val="000000"/>
                    </a:solidFill>
                    <a:latin typeface="Helvetica" panose="020B0604020202020204" pitchFamily="34" charset="0"/>
                    <a:cs typeface="Times New Roman" panose="02020603050405020304" pitchFamily="18" charset="0"/>
                  </a:endParaRPr>
                </a:p>
                <a:p>
                  <a:endParaRPr lang="en-CA" altLang="tr-TR" sz="2000" dirty="0"/>
                </a:p>
              </p:txBody>
            </p:sp>
            <p:sp>
              <p:nvSpPr>
                <p:cNvPr id="59" name="Rectangle 25"/>
                <p:cNvSpPr>
                  <a:spLocks noChangeArrowheads="1"/>
                </p:cNvSpPr>
                <p:nvPr/>
              </p:nvSpPr>
              <p:spPr bwMode="auto">
                <a:xfrm>
                  <a:off x="255" y="518"/>
                  <a:ext cx="1224"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0" name="Group 28"/>
              <p:cNvGrpSpPr>
                <a:grpSpLocks/>
              </p:cNvGrpSpPr>
              <p:nvPr/>
            </p:nvGrpSpPr>
            <p:grpSpPr bwMode="auto">
              <a:xfrm>
                <a:off x="1479" y="518"/>
                <a:ext cx="616" cy="518"/>
                <a:chOff x="1479" y="518"/>
                <a:chExt cx="616" cy="518"/>
              </a:xfrm>
            </p:grpSpPr>
            <p:sp>
              <p:nvSpPr>
                <p:cNvPr id="56" name="Rectangle 7"/>
                <p:cNvSpPr>
                  <a:spLocks noChangeArrowheads="1"/>
                </p:cNvSpPr>
                <p:nvPr/>
              </p:nvSpPr>
              <p:spPr bwMode="auto">
                <a:xfrm>
                  <a:off x="1522" y="518"/>
                  <a:ext cx="53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Available </a:t>
                  </a:r>
                  <a:endParaRPr lang="en-CA" altLang="tr-TR" sz="2000">
                    <a:solidFill>
                      <a:srgbClr val="000000"/>
                    </a:solidFill>
                    <a:latin typeface="Helvetica" panose="020B0604020202020204" pitchFamily="34" charset="0"/>
                    <a:cs typeface="Times New Roman" panose="02020603050405020304" pitchFamily="18" charset="0"/>
                  </a:endParaRPr>
                </a:p>
                <a:p>
                  <a:r>
                    <a:rPr lang="en-CA" altLang="tr-TR" sz="2000" b="1">
                      <a:solidFill>
                        <a:srgbClr val="000000"/>
                      </a:solidFill>
                      <a:latin typeface="Helvetica" panose="020B0604020202020204" pitchFamily="34" charset="0"/>
                      <a:cs typeface="Times New Roman" panose="02020603050405020304" pitchFamily="18" charset="0"/>
                    </a:rPr>
                    <a:t>Metrics</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57" name="Rectangle 27"/>
                <p:cNvSpPr>
                  <a:spLocks noChangeArrowheads="1"/>
                </p:cNvSpPr>
                <p:nvPr/>
              </p:nvSpPr>
              <p:spPr bwMode="auto">
                <a:xfrm>
                  <a:off x="1479" y="518"/>
                  <a:ext cx="616"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1" name="Group 30"/>
              <p:cNvGrpSpPr>
                <a:grpSpLocks/>
              </p:cNvGrpSpPr>
              <p:nvPr/>
            </p:nvGrpSpPr>
            <p:grpSpPr bwMode="auto">
              <a:xfrm>
                <a:off x="0" y="1036"/>
                <a:ext cx="255" cy="403"/>
                <a:chOff x="0" y="1036"/>
                <a:chExt cx="255" cy="403"/>
              </a:xfrm>
            </p:grpSpPr>
            <p:sp>
              <p:nvSpPr>
                <p:cNvPr id="54" name="Rectangle 8"/>
                <p:cNvSpPr>
                  <a:spLocks noChangeArrowheads="1"/>
                </p:cNvSpPr>
                <p:nvPr/>
              </p:nvSpPr>
              <p:spPr bwMode="auto">
                <a:xfrm>
                  <a:off x="43" y="1036"/>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a</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55" name="Rectangle 29"/>
                <p:cNvSpPr>
                  <a:spLocks noChangeArrowheads="1"/>
                </p:cNvSpPr>
                <p:nvPr/>
              </p:nvSpPr>
              <p:spPr bwMode="auto">
                <a:xfrm>
                  <a:off x="0" y="1036"/>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2" name="Group 32"/>
              <p:cNvGrpSpPr>
                <a:grpSpLocks/>
              </p:cNvGrpSpPr>
              <p:nvPr/>
            </p:nvGrpSpPr>
            <p:grpSpPr bwMode="auto">
              <a:xfrm>
                <a:off x="255" y="1036"/>
                <a:ext cx="1224" cy="403"/>
                <a:chOff x="255" y="1036"/>
                <a:chExt cx="1224" cy="403"/>
              </a:xfrm>
            </p:grpSpPr>
            <p:sp>
              <p:nvSpPr>
                <p:cNvPr id="52" name="Rectangle 9"/>
                <p:cNvSpPr>
                  <a:spLocks noChangeArrowheads="1"/>
                </p:cNvSpPr>
                <p:nvPr/>
              </p:nvSpPr>
              <p:spPr bwMode="auto">
                <a:xfrm>
                  <a:off x="298" y="1036"/>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Requirements Gathering</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53" name="Rectangle 31"/>
                <p:cNvSpPr>
                  <a:spLocks noChangeArrowheads="1"/>
                </p:cNvSpPr>
                <p:nvPr/>
              </p:nvSpPr>
              <p:spPr bwMode="auto">
                <a:xfrm>
                  <a:off x="255" y="1036"/>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3" name="Group 34"/>
              <p:cNvGrpSpPr>
                <a:grpSpLocks/>
              </p:cNvGrpSpPr>
              <p:nvPr/>
            </p:nvGrpSpPr>
            <p:grpSpPr bwMode="auto">
              <a:xfrm>
                <a:off x="1479" y="1036"/>
                <a:ext cx="616" cy="403"/>
                <a:chOff x="1479" y="1036"/>
                <a:chExt cx="616" cy="403"/>
              </a:xfrm>
            </p:grpSpPr>
            <p:sp>
              <p:nvSpPr>
                <p:cNvPr id="50" name="Rectangle 10"/>
                <p:cNvSpPr>
                  <a:spLocks noChangeArrowheads="1"/>
                </p:cNvSpPr>
                <p:nvPr/>
              </p:nvSpPr>
              <p:spPr bwMode="auto">
                <a:xfrm>
                  <a:off x="1522" y="1036"/>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1, 2, 3</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51" name="Rectangle 33"/>
                <p:cNvSpPr>
                  <a:spLocks noChangeArrowheads="1"/>
                </p:cNvSpPr>
                <p:nvPr/>
              </p:nvSpPr>
              <p:spPr bwMode="auto">
                <a:xfrm>
                  <a:off x="1479" y="1036"/>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4" name="Group 36"/>
              <p:cNvGrpSpPr>
                <a:grpSpLocks/>
              </p:cNvGrpSpPr>
              <p:nvPr/>
            </p:nvGrpSpPr>
            <p:grpSpPr bwMode="auto">
              <a:xfrm>
                <a:off x="0" y="1439"/>
                <a:ext cx="255" cy="403"/>
                <a:chOff x="0" y="1439"/>
                <a:chExt cx="255" cy="403"/>
              </a:xfrm>
            </p:grpSpPr>
            <p:sp>
              <p:nvSpPr>
                <p:cNvPr id="48" name="Rectangle 11"/>
                <p:cNvSpPr>
                  <a:spLocks noChangeArrowheads="1"/>
                </p:cNvSpPr>
                <p:nvPr/>
              </p:nvSpPr>
              <p:spPr bwMode="auto">
                <a:xfrm>
                  <a:off x="43" y="1439"/>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b</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49" name="Rectangle 35"/>
                <p:cNvSpPr>
                  <a:spLocks noChangeArrowheads="1"/>
                </p:cNvSpPr>
                <p:nvPr/>
              </p:nvSpPr>
              <p:spPr bwMode="auto">
                <a:xfrm>
                  <a:off x="0" y="1439"/>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5" name="Group 38"/>
              <p:cNvGrpSpPr>
                <a:grpSpLocks/>
              </p:cNvGrpSpPr>
              <p:nvPr/>
            </p:nvGrpSpPr>
            <p:grpSpPr bwMode="auto">
              <a:xfrm>
                <a:off x="255" y="1439"/>
                <a:ext cx="1224" cy="403"/>
                <a:chOff x="255" y="1439"/>
                <a:chExt cx="1224" cy="403"/>
              </a:xfrm>
            </p:grpSpPr>
            <p:sp>
              <p:nvSpPr>
                <p:cNvPr id="46" name="Rectangle 12"/>
                <p:cNvSpPr>
                  <a:spLocks noChangeArrowheads="1"/>
                </p:cNvSpPr>
                <p:nvPr/>
              </p:nvSpPr>
              <p:spPr bwMode="auto">
                <a:xfrm>
                  <a:off x="298" y="1439"/>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Requirements Analysis</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47" name="Rectangle 37"/>
                <p:cNvSpPr>
                  <a:spLocks noChangeArrowheads="1"/>
                </p:cNvSpPr>
                <p:nvPr/>
              </p:nvSpPr>
              <p:spPr bwMode="auto">
                <a:xfrm>
                  <a:off x="255" y="1439"/>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6" name="Group 40"/>
              <p:cNvGrpSpPr>
                <a:grpSpLocks/>
              </p:cNvGrpSpPr>
              <p:nvPr/>
            </p:nvGrpSpPr>
            <p:grpSpPr bwMode="auto">
              <a:xfrm>
                <a:off x="1479" y="1439"/>
                <a:ext cx="616" cy="403"/>
                <a:chOff x="1479" y="1439"/>
                <a:chExt cx="616" cy="403"/>
              </a:xfrm>
            </p:grpSpPr>
            <p:sp>
              <p:nvSpPr>
                <p:cNvPr id="44" name="Rectangle 13"/>
                <p:cNvSpPr>
                  <a:spLocks noChangeArrowheads="1"/>
                </p:cNvSpPr>
                <p:nvPr/>
              </p:nvSpPr>
              <p:spPr bwMode="auto">
                <a:xfrm>
                  <a:off x="1522" y="1439"/>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4, 5</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45" name="Rectangle 39"/>
                <p:cNvSpPr>
                  <a:spLocks noChangeArrowheads="1"/>
                </p:cNvSpPr>
                <p:nvPr/>
              </p:nvSpPr>
              <p:spPr bwMode="auto">
                <a:xfrm>
                  <a:off x="1479" y="1439"/>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7" name="Group 42"/>
              <p:cNvGrpSpPr>
                <a:grpSpLocks/>
              </p:cNvGrpSpPr>
              <p:nvPr/>
            </p:nvGrpSpPr>
            <p:grpSpPr bwMode="auto">
              <a:xfrm>
                <a:off x="0" y="1842"/>
                <a:ext cx="255" cy="403"/>
                <a:chOff x="0" y="1842"/>
                <a:chExt cx="255" cy="403"/>
              </a:xfrm>
            </p:grpSpPr>
            <p:sp>
              <p:nvSpPr>
                <p:cNvPr id="42" name="Rectangle 14"/>
                <p:cNvSpPr>
                  <a:spLocks noChangeArrowheads="1"/>
                </p:cNvSpPr>
                <p:nvPr/>
              </p:nvSpPr>
              <p:spPr bwMode="auto">
                <a:xfrm>
                  <a:off x="43" y="1842"/>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d</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43" name="Rectangle 41"/>
                <p:cNvSpPr>
                  <a:spLocks noChangeArrowheads="1"/>
                </p:cNvSpPr>
                <p:nvPr/>
              </p:nvSpPr>
              <p:spPr bwMode="auto">
                <a:xfrm>
                  <a:off x="0" y="1842"/>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8" name="Group 44"/>
              <p:cNvGrpSpPr>
                <a:grpSpLocks/>
              </p:cNvGrpSpPr>
              <p:nvPr/>
            </p:nvGrpSpPr>
            <p:grpSpPr bwMode="auto">
              <a:xfrm>
                <a:off x="255" y="1842"/>
                <a:ext cx="1224" cy="403"/>
                <a:chOff x="255" y="1842"/>
                <a:chExt cx="1224" cy="403"/>
              </a:xfrm>
            </p:grpSpPr>
            <p:sp>
              <p:nvSpPr>
                <p:cNvPr id="40" name="Rectangle 15"/>
                <p:cNvSpPr>
                  <a:spLocks noChangeArrowheads="1"/>
                </p:cNvSpPr>
                <p:nvPr/>
              </p:nvSpPr>
              <p:spPr bwMode="auto">
                <a:xfrm>
                  <a:off x="298" y="1842"/>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High Level Design</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41" name="Rectangle 43"/>
                <p:cNvSpPr>
                  <a:spLocks noChangeArrowheads="1"/>
                </p:cNvSpPr>
                <p:nvPr/>
              </p:nvSpPr>
              <p:spPr bwMode="auto">
                <a:xfrm>
                  <a:off x="255" y="1842"/>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19" name="Group 46"/>
              <p:cNvGrpSpPr>
                <a:grpSpLocks/>
              </p:cNvGrpSpPr>
              <p:nvPr/>
            </p:nvGrpSpPr>
            <p:grpSpPr bwMode="auto">
              <a:xfrm>
                <a:off x="1479" y="1842"/>
                <a:ext cx="616" cy="403"/>
                <a:chOff x="1479" y="1842"/>
                <a:chExt cx="616" cy="403"/>
              </a:xfrm>
            </p:grpSpPr>
            <p:sp>
              <p:nvSpPr>
                <p:cNvPr id="38" name="Rectangle 16"/>
                <p:cNvSpPr>
                  <a:spLocks noChangeArrowheads="1"/>
                </p:cNvSpPr>
                <p:nvPr/>
              </p:nvSpPr>
              <p:spPr bwMode="auto">
                <a:xfrm>
                  <a:off x="1522" y="1842"/>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6, 7, 8, 9</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39" name="Rectangle 45"/>
                <p:cNvSpPr>
                  <a:spLocks noChangeArrowheads="1"/>
                </p:cNvSpPr>
                <p:nvPr/>
              </p:nvSpPr>
              <p:spPr bwMode="auto">
                <a:xfrm>
                  <a:off x="1479" y="1842"/>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20" name="Group 48"/>
              <p:cNvGrpSpPr>
                <a:grpSpLocks/>
              </p:cNvGrpSpPr>
              <p:nvPr/>
            </p:nvGrpSpPr>
            <p:grpSpPr bwMode="auto">
              <a:xfrm>
                <a:off x="0" y="2245"/>
                <a:ext cx="255" cy="403"/>
                <a:chOff x="0" y="2245"/>
                <a:chExt cx="255" cy="403"/>
              </a:xfrm>
            </p:grpSpPr>
            <p:sp>
              <p:nvSpPr>
                <p:cNvPr id="36" name="Rectangle 17"/>
                <p:cNvSpPr>
                  <a:spLocks noChangeArrowheads="1"/>
                </p:cNvSpPr>
                <p:nvPr/>
              </p:nvSpPr>
              <p:spPr bwMode="auto">
                <a:xfrm>
                  <a:off x="43" y="2245"/>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e</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37" name="Rectangle 47"/>
                <p:cNvSpPr>
                  <a:spLocks noChangeArrowheads="1"/>
                </p:cNvSpPr>
                <p:nvPr/>
              </p:nvSpPr>
              <p:spPr bwMode="auto">
                <a:xfrm>
                  <a:off x="0" y="2245"/>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21" name="Group 50"/>
              <p:cNvGrpSpPr>
                <a:grpSpLocks/>
              </p:cNvGrpSpPr>
              <p:nvPr/>
            </p:nvGrpSpPr>
            <p:grpSpPr bwMode="auto">
              <a:xfrm>
                <a:off x="255" y="2245"/>
                <a:ext cx="1224" cy="403"/>
                <a:chOff x="255" y="2245"/>
                <a:chExt cx="1224" cy="403"/>
              </a:xfrm>
            </p:grpSpPr>
            <p:sp>
              <p:nvSpPr>
                <p:cNvPr id="34" name="Rectangle 18"/>
                <p:cNvSpPr>
                  <a:spLocks noChangeArrowheads="1"/>
                </p:cNvSpPr>
                <p:nvPr/>
              </p:nvSpPr>
              <p:spPr bwMode="auto">
                <a:xfrm>
                  <a:off x="298" y="2245"/>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Detailed Design</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35" name="Rectangle 49"/>
                <p:cNvSpPr>
                  <a:spLocks noChangeArrowheads="1"/>
                </p:cNvSpPr>
                <p:nvPr/>
              </p:nvSpPr>
              <p:spPr bwMode="auto">
                <a:xfrm>
                  <a:off x="255" y="2245"/>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22" name="Group 52"/>
              <p:cNvGrpSpPr>
                <a:grpSpLocks/>
              </p:cNvGrpSpPr>
              <p:nvPr/>
            </p:nvGrpSpPr>
            <p:grpSpPr bwMode="auto">
              <a:xfrm>
                <a:off x="1479" y="2245"/>
                <a:ext cx="616" cy="403"/>
                <a:chOff x="1479" y="2245"/>
                <a:chExt cx="616" cy="403"/>
              </a:xfrm>
            </p:grpSpPr>
            <p:sp>
              <p:nvSpPr>
                <p:cNvPr id="32" name="Rectangle 19"/>
                <p:cNvSpPr>
                  <a:spLocks noChangeArrowheads="1"/>
                </p:cNvSpPr>
                <p:nvPr/>
              </p:nvSpPr>
              <p:spPr bwMode="auto">
                <a:xfrm>
                  <a:off x="1522" y="2245"/>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10, 11, 12</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33" name="Rectangle 51"/>
                <p:cNvSpPr>
                  <a:spLocks noChangeArrowheads="1"/>
                </p:cNvSpPr>
                <p:nvPr/>
              </p:nvSpPr>
              <p:spPr bwMode="auto">
                <a:xfrm>
                  <a:off x="1479" y="2245"/>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23" name="Group 54"/>
              <p:cNvGrpSpPr>
                <a:grpSpLocks/>
              </p:cNvGrpSpPr>
              <p:nvPr/>
            </p:nvGrpSpPr>
            <p:grpSpPr bwMode="auto">
              <a:xfrm>
                <a:off x="0" y="2648"/>
                <a:ext cx="255" cy="403"/>
                <a:chOff x="0" y="2648"/>
                <a:chExt cx="255" cy="403"/>
              </a:xfrm>
            </p:grpSpPr>
            <p:sp>
              <p:nvSpPr>
                <p:cNvPr id="30" name="Rectangle 20"/>
                <p:cNvSpPr>
                  <a:spLocks noChangeArrowheads="1"/>
                </p:cNvSpPr>
                <p:nvPr/>
              </p:nvSpPr>
              <p:spPr bwMode="auto">
                <a:xfrm>
                  <a:off x="43" y="2648"/>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f</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31" name="Rectangle 53"/>
                <p:cNvSpPr>
                  <a:spLocks noChangeArrowheads="1"/>
                </p:cNvSpPr>
                <p:nvPr/>
              </p:nvSpPr>
              <p:spPr bwMode="auto">
                <a:xfrm>
                  <a:off x="0" y="2648"/>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24" name="Group 56"/>
              <p:cNvGrpSpPr>
                <a:grpSpLocks/>
              </p:cNvGrpSpPr>
              <p:nvPr/>
            </p:nvGrpSpPr>
            <p:grpSpPr bwMode="auto">
              <a:xfrm>
                <a:off x="255" y="2648"/>
                <a:ext cx="1224" cy="403"/>
                <a:chOff x="255" y="2648"/>
                <a:chExt cx="1224" cy="403"/>
              </a:xfrm>
            </p:grpSpPr>
            <p:sp>
              <p:nvSpPr>
                <p:cNvPr id="28" name="Rectangle 21"/>
                <p:cNvSpPr>
                  <a:spLocks noChangeArrowheads="1"/>
                </p:cNvSpPr>
                <p:nvPr/>
              </p:nvSpPr>
              <p:spPr bwMode="auto">
                <a:xfrm>
                  <a:off x="298" y="2648"/>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Implementation</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29" name="Rectangle 55"/>
                <p:cNvSpPr>
                  <a:spLocks noChangeArrowheads="1"/>
                </p:cNvSpPr>
                <p:nvPr/>
              </p:nvSpPr>
              <p:spPr bwMode="auto">
                <a:xfrm>
                  <a:off x="255" y="2648"/>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nvGrpSpPr>
              <p:cNvPr id="25" name="Group 58"/>
              <p:cNvGrpSpPr>
                <a:grpSpLocks/>
              </p:cNvGrpSpPr>
              <p:nvPr/>
            </p:nvGrpSpPr>
            <p:grpSpPr bwMode="auto">
              <a:xfrm>
                <a:off x="1479" y="2648"/>
                <a:ext cx="616" cy="403"/>
                <a:chOff x="1479" y="2648"/>
                <a:chExt cx="616" cy="403"/>
              </a:xfrm>
            </p:grpSpPr>
            <p:sp>
              <p:nvSpPr>
                <p:cNvPr id="26" name="Rectangle 22"/>
                <p:cNvSpPr>
                  <a:spLocks noChangeArrowheads="1"/>
                </p:cNvSpPr>
                <p:nvPr/>
              </p:nvSpPr>
              <p:spPr bwMode="auto">
                <a:xfrm>
                  <a:off x="1522" y="2648"/>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CA" altLang="tr-TR" sz="2000" b="1">
                      <a:solidFill>
                        <a:srgbClr val="000000"/>
                      </a:solidFill>
                      <a:latin typeface="Helvetica" panose="020B0604020202020204" pitchFamily="34" charset="0"/>
                      <a:cs typeface="Times New Roman" panose="02020603050405020304" pitchFamily="18" charset="0"/>
                    </a:rPr>
                    <a:t>12, 13</a:t>
                  </a:r>
                  <a:endParaRPr lang="en-CA" altLang="tr-TR" sz="2000">
                    <a:solidFill>
                      <a:srgbClr val="000000"/>
                    </a:solidFill>
                    <a:latin typeface="Helvetica" panose="020B0604020202020204" pitchFamily="34" charset="0"/>
                    <a:cs typeface="Times New Roman" panose="02020603050405020304" pitchFamily="18" charset="0"/>
                  </a:endParaRPr>
                </a:p>
                <a:p>
                  <a:endParaRPr lang="en-CA" altLang="tr-TR" sz="2000"/>
                </a:p>
              </p:txBody>
            </p:sp>
            <p:sp>
              <p:nvSpPr>
                <p:cNvPr id="27" name="Rectangle 57"/>
                <p:cNvSpPr>
                  <a:spLocks noChangeArrowheads="1"/>
                </p:cNvSpPr>
                <p:nvPr/>
              </p:nvSpPr>
              <p:spPr bwMode="auto">
                <a:xfrm>
                  <a:off x="1479" y="2648"/>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grpSp>
        <p:sp>
          <p:nvSpPr>
            <p:cNvPr id="7" name="Rectangle 60"/>
            <p:cNvSpPr>
              <a:spLocks noChangeArrowheads="1"/>
            </p:cNvSpPr>
            <p:nvPr/>
          </p:nvSpPr>
          <p:spPr bwMode="auto">
            <a:xfrm>
              <a:off x="-2" y="516"/>
              <a:ext cx="2099" cy="2537"/>
            </a:xfrm>
            <a:prstGeom prst="rect">
              <a:avLst/>
            </a:prstGeom>
            <a:noFill/>
            <a:ln w="793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grpSp>
      <p:sp>
        <p:nvSpPr>
          <p:cNvPr id="3" name="Slide Number Placeholder 2"/>
          <p:cNvSpPr>
            <a:spLocks noGrp="1"/>
          </p:cNvSpPr>
          <p:nvPr>
            <p:ph type="sldNum" sz="quarter" idx="12"/>
          </p:nvPr>
        </p:nvSpPr>
        <p:spPr/>
        <p:txBody>
          <a:bodyPr/>
          <a:lstStyle/>
          <a:p>
            <a:fld id="{06AAA8BD-D267-4C4E-B16C-9A3CB850B983}" type="slidenum">
              <a:rPr lang="en-US" smtClean="0"/>
              <a:t>25</a:t>
            </a:fld>
            <a:endParaRPr lang="en-US"/>
          </a:p>
        </p:txBody>
      </p:sp>
    </p:spTree>
    <p:extLst>
      <p:ext uri="{BB962C8B-B14F-4D97-AF65-F5344CB8AC3E}">
        <p14:creationId xmlns:p14="http://schemas.microsoft.com/office/powerpoint/2010/main" val="3156856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Function Point (FP) is a software size estimation technique used to measure the functionality delivered by a system, independent of the programming language, tools, or technology used.</a:t>
            </a:r>
          </a:p>
          <a:p>
            <a:pPr algn="just"/>
            <a:r>
              <a:rPr lang="en-US" dirty="0">
                <a:latin typeface="Times New Roman" panose="02020603050405020304" pitchFamily="18" charset="0"/>
                <a:cs typeface="Times New Roman" panose="02020603050405020304" pitchFamily="18" charset="0"/>
              </a:rPr>
              <a:t>A function point calculates software size with the help of logical design and performance of functions as per user requirements.</a:t>
            </a:r>
          </a:p>
          <a:p>
            <a:pPr algn="just"/>
            <a:r>
              <a:rPr lang="en-US" dirty="0">
                <a:latin typeface="Times New Roman" panose="02020603050405020304" pitchFamily="18" charset="0"/>
                <a:cs typeface="Times New Roman" panose="02020603050405020304" pitchFamily="18" charset="0"/>
              </a:rPr>
              <a:t>Function Point (FP) is an element of software development that helps to</a:t>
            </a:r>
            <a:r>
              <a:rPr lang="en-US" b="1" dirty="0">
                <a:latin typeface="Times New Roman" panose="02020603050405020304" pitchFamily="18" charset="0"/>
                <a:cs typeface="Times New Roman" panose="02020603050405020304" pitchFamily="18" charset="0"/>
              </a:rPr>
              <a:t> approximate the cost of development early in the process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26</a:t>
            </a:fld>
            <a:endParaRPr lang="en-US"/>
          </a:p>
        </p:txBody>
      </p:sp>
    </p:spTree>
    <p:extLst>
      <p:ext uri="{BB962C8B-B14F-4D97-AF65-F5344CB8AC3E}">
        <p14:creationId xmlns:p14="http://schemas.microsoft.com/office/powerpoint/2010/main" val="51535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Calculation</a:t>
            </a:r>
          </a:p>
        </p:txBody>
      </p:sp>
      <p:sp>
        <p:nvSpPr>
          <p:cNvPr id="3" name="Content Placeholder 2"/>
          <p:cNvSpPr>
            <a:spLocks noGrp="1"/>
          </p:cNvSpPr>
          <p:nvPr>
            <p:ph idx="1"/>
          </p:nvPr>
        </p:nvSpPr>
        <p:spPr/>
        <p:txBody>
          <a:bodyPr>
            <a:normAutofit fontScale="92500" lnSpcReduction="10000"/>
          </a:bodyPr>
          <a:lstStyle/>
          <a:p>
            <a:pPr marL="0" indent="0" algn="just">
              <a:buFontTx/>
              <a:buNone/>
              <a:defRPr/>
            </a:pPr>
            <a:r>
              <a:rPr lang="en-US" altLang="tr-TR" b="1" u="sng" dirty="0">
                <a:latin typeface="Times New Roman" panose="02020603050405020304" pitchFamily="18" charset="0"/>
                <a:cs typeface="Times New Roman" panose="02020603050405020304" pitchFamily="18" charset="0"/>
              </a:rPr>
              <a:t>STEP 1</a:t>
            </a:r>
            <a:r>
              <a:rPr lang="en-US" altLang="tr-TR" b="1" dirty="0">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Measure size in terms of the amount of functionality in a system. Function points are computed by first calculating an </a:t>
            </a:r>
            <a:r>
              <a:rPr lang="en-US" altLang="tr-TR" b="1" i="1" dirty="0">
                <a:latin typeface="Times New Roman" panose="02020603050405020304" pitchFamily="18" charset="0"/>
                <a:cs typeface="Times New Roman" panose="02020603050405020304" pitchFamily="18" charset="0"/>
              </a:rPr>
              <a:t>unadjusted function point count </a:t>
            </a:r>
            <a:r>
              <a:rPr lang="en-US" altLang="tr-TR" b="1" dirty="0">
                <a:latin typeface="Times New Roman" panose="02020603050405020304" pitchFamily="18" charset="0"/>
                <a:cs typeface="Times New Roman" panose="02020603050405020304" pitchFamily="18" charset="0"/>
              </a:rPr>
              <a:t>(UFC).</a:t>
            </a:r>
            <a:r>
              <a:rPr lang="en-US" altLang="tr-TR" dirty="0">
                <a:latin typeface="Times New Roman" panose="02020603050405020304" pitchFamily="18" charset="0"/>
                <a:cs typeface="Times New Roman" panose="02020603050405020304" pitchFamily="18" charset="0"/>
              </a:rPr>
              <a:t> Counts are made for the following categories</a:t>
            </a:r>
          </a:p>
          <a:p>
            <a:pPr algn="just">
              <a:buFont typeface="Wingdings" panose="05000000000000000000" pitchFamily="2" charset="2"/>
              <a:buChar char="q"/>
              <a:defRPr/>
            </a:pPr>
            <a:r>
              <a:rPr lang="en-US" altLang="tr-TR" i="1" dirty="0">
                <a:solidFill>
                  <a:srgbClr val="FF0000"/>
                </a:solidFill>
                <a:latin typeface="Times New Roman" panose="02020603050405020304" pitchFamily="18" charset="0"/>
                <a:cs typeface="Times New Roman" panose="02020603050405020304" pitchFamily="18" charset="0"/>
              </a:rPr>
              <a:t>External inputs</a:t>
            </a:r>
            <a:r>
              <a:rPr lang="en-US" altLang="tr-TR" dirty="0">
                <a:solidFill>
                  <a:srgbClr val="FF0000"/>
                </a:solidFill>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 those items provided by the user that describe distinct application-oriented data (such as file names and menu selections) </a:t>
            </a:r>
          </a:p>
          <a:p>
            <a:pPr algn="just">
              <a:buFont typeface="Wingdings" panose="05000000000000000000" pitchFamily="2" charset="2"/>
              <a:buChar char="q"/>
              <a:defRPr/>
            </a:pPr>
            <a:r>
              <a:rPr lang="en-US" altLang="tr-TR" i="1" dirty="0">
                <a:solidFill>
                  <a:srgbClr val="FF0000"/>
                </a:solidFill>
                <a:latin typeface="Times New Roman" panose="02020603050405020304" pitchFamily="18" charset="0"/>
                <a:cs typeface="Times New Roman" panose="02020603050405020304" pitchFamily="18" charset="0"/>
              </a:rPr>
              <a:t>External outputs</a:t>
            </a:r>
            <a:r>
              <a:rPr lang="en-US" altLang="tr-TR" dirty="0">
                <a:solidFill>
                  <a:srgbClr val="FF0000"/>
                </a:solidFill>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 those items provided to the user that generate distinct application-oriented data (such as reports and messages, rather than the individual components of these) </a:t>
            </a:r>
            <a:endParaRPr lang="tr-TR" altLang="tr-TR"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defRPr/>
            </a:pPr>
            <a:r>
              <a:rPr lang="en-US" altLang="tr-TR" i="1" dirty="0">
                <a:solidFill>
                  <a:srgbClr val="FF0000"/>
                </a:solidFill>
                <a:latin typeface="Times New Roman" panose="02020603050405020304" pitchFamily="18" charset="0"/>
                <a:cs typeface="Times New Roman" panose="02020603050405020304" pitchFamily="18" charset="0"/>
              </a:rPr>
              <a:t>External inquiries</a:t>
            </a:r>
            <a:r>
              <a:rPr lang="en-US" altLang="tr-TR" dirty="0">
                <a:solidFill>
                  <a:srgbClr val="FF0000"/>
                </a:solidFill>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 interactive inputs requiring a response </a:t>
            </a:r>
          </a:p>
          <a:p>
            <a:pPr algn="just">
              <a:buFont typeface="Wingdings" panose="05000000000000000000" pitchFamily="2" charset="2"/>
              <a:buChar char="q"/>
              <a:defRPr/>
            </a:pPr>
            <a:r>
              <a:rPr lang="en-US" altLang="tr-TR" i="1" dirty="0">
                <a:solidFill>
                  <a:srgbClr val="FF0000"/>
                </a:solidFill>
                <a:latin typeface="Times New Roman" panose="02020603050405020304" pitchFamily="18" charset="0"/>
                <a:cs typeface="Times New Roman" panose="02020603050405020304" pitchFamily="18" charset="0"/>
              </a:rPr>
              <a:t>External files</a:t>
            </a:r>
            <a:r>
              <a:rPr lang="en-US" altLang="tr-TR" dirty="0">
                <a:solidFill>
                  <a:srgbClr val="FF0000"/>
                </a:solidFill>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 machine-readable interfaces to other systems </a:t>
            </a:r>
          </a:p>
          <a:p>
            <a:pPr algn="just">
              <a:buFont typeface="Wingdings" panose="05000000000000000000" pitchFamily="2" charset="2"/>
              <a:buChar char="q"/>
              <a:defRPr/>
            </a:pPr>
            <a:r>
              <a:rPr lang="en-US" altLang="tr-TR" i="1" dirty="0">
                <a:solidFill>
                  <a:srgbClr val="FF0000"/>
                </a:solidFill>
                <a:latin typeface="Times New Roman" panose="02020603050405020304" pitchFamily="18" charset="0"/>
                <a:cs typeface="Times New Roman" panose="02020603050405020304" pitchFamily="18" charset="0"/>
              </a:rPr>
              <a:t>Internal files</a:t>
            </a:r>
            <a:r>
              <a:rPr lang="en-US" altLang="tr-TR" dirty="0">
                <a:solidFill>
                  <a:srgbClr val="FF0000"/>
                </a:solidFill>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 logical master files in the system </a:t>
            </a:r>
          </a:p>
        </p:txBody>
      </p:sp>
      <p:sp>
        <p:nvSpPr>
          <p:cNvPr id="4" name="Slide Number Placeholder 3"/>
          <p:cNvSpPr>
            <a:spLocks noGrp="1"/>
          </p:cNvSpPr>
          <p:nvPr>
            <p:ph type="sldNum" sz="quarter" idx="12"/>
          </p:nvPr>
        </p:nvSpPr>
        <p:spPr/>
        <p:txBody>
          <a:bodyPr/>
          <a:lstStyle/>
          <a:p>
            <a:fld id="{06AAA8BD-D267-4C4E-B16C-9A3CB850B983}" type="slidenum">
              <a:rPr lang="en-US" smtClean="0"/>
              <a:t>27</a:t>
            </a:fld>
            <a:endParaRPr lang="en-US"/>
          </a:p>
        </p:txBody>
      </p:sp>
    </p:spTree>
    <p:extLst>
      <p:ext uri="{BB962C8B-B14F-4D97-AF65-F5344CB8AC3E}">
        <p14:creationId xmlns:p14="http://schemas.microsoft.com/office/powerpoint/2010/main" val="3634015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(cont.)</a:t>
            </a:r>
          </a:p>
        </p:txBody>
      </p:sp>
      <p:sp>
        <p:nvSpPr>
          <p:cNvPr id="3" name="Content Placeholder 2"/>
          <p:cNvSpPr>
            <a:spLocks noGrp="1"/>
          </p:cNvSpPr>
          <p:nvPr>
            <p:ph idx="1"/>
          </p:nvPr>
        </p:nvSpPr>
        <p:spPr/>
        <p:txBody>
          <a:bodyPr/>
          <a:lstStyle/>
          <a:p>
            <a:pPr algn="just"/>
            <a:r>
              <a:rPr lang="en-US" altLang="tr-TR" b="1" u="sng" dirty="0">
                <a:latin typeface="Times New Roman" panose="02020603050405020304" pitchFamily="18" charset="0"/>
                <a:cs typeface="Times New Roman" panose="02020603050405020304" pitchFamily="18" charset="0"/>
              </a:rPr>
              <a:t>STEP 2</a:t>
            </a:r>
            <a:r>
              <a:rPr lang="en-US" altLang="tr-TR" b="1" dirty="0">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Multiply each number by a weight factor, according to complexity (</a:t>
            </a:r>
            <a:r>
              <a:rPr lang="en-US" altLang="tr-TR" b="1" dirty="0">
                <a:latin typeface="Times New Roman" panose="02020603050405020304" pitchFamily="18" charset="0"/>
                <a:cs typeface="Times New Roman" panose="02020603050405020304" pitchFamily="18" charset="0"/>
              </a:rPr>
              <a:t>simple</a:t>
            </a:r>
            <a:r>
              <a:rPr lang="en-US" altLang="tr-TR" dirty="0">
                <a:latin typeface="Times New Roman" panose="02020603050405020304" pitchFamily="18" charset="0"/>
                <a:cs typeface="Times New Roman" panose="02020603050405020304" pitchFamily="18" charset="0"/>
              </a:rPr>
              <a:t>, </a:t>
            </a:r>
            <a:r>
              <a:rPr lang="en-US" altLang="tr-TR" b="1" dirty="0">
                <a:latin typeface="Times New Roman" panose="02020603050405020304" pitchFamily="18" charset="0"/>
                <a:cs typeface="Times New Roman" panose="02020603050405020304" pitchFamily="18" charset="0"/>
              </a:rPr>
              <a:t>average</a:t>
            </a:r>
            <a:r>
              <a:rPr lang="en-US" altLang="tr-TR" dirty="0">
                <a:latin typeface="Times New Roman" panose="02020603050405020304" pitchFamily="18" charset="0"/>
                <a:cs typeface="Times New Roman" panose="02020603050405020304" pitchFamily="18" charset="0"/>
              </a:rPr>
              <a:t> or </a:t>
            </a:r>
            <a:r>
              <a:rPr lang="en-US" altLang="tr-TR" b="1" dirty="0">
                <a:latin typeface="Times New Roman" panose="02020603050405020304" pitchFamily="18" charset="0"/>
                <a:cs typeface="Times New Roman" panose="02020603050405020304" pitchFamily="18" charset="0"/>
              </a:rPr>
              <a:t>complex</a:t>
            </a:r>
            <a:r>
              <a:rPr lang="en-US" altLang="tr-TR" dirty="0">
                <a:latin typeface="Times New Roman" panose="02020603050405020304" pitchFamily="18" charset="0"/>
                <a:cs typeface="Times New Roman" panose="02020603050405020304" pitchFamily="18" charset="0"/>
              </a:rPr>
              <a:t>) of the parameter, associated with that number. The value is given by a table</a:t>
            </a:r>
            <a:r>
              <a:rPr lang="en-US" altLang="tr-TR" dirty="0"/>
              <a:t>:</a:t>
            </a:r>
          </a:p>
          <a:p>
            <a:endParaRPr lang="en-US" dirty="0"/>
          </a:p>
        </p:txBody>
      </p:sp>
      <p:graphicFrame>
        <p:nvGraphicFramePr>
          <p:cNvPr id="4" name="Object 4"/>
          <p:cNvGraphicFramePr>
            <a:graphicFrameLocks noChangeAspect="1"/>
          </p:cNvGraphicFramePr>
          <p:nvPr>
            <p:extLst>
              <p:ext uri="{D42A27DB-BD31-4B8C-83A1-F6EECF244321}">
                <p14:modId xmlns:p14="http://schemas.microsoft.com/office/powerpoint/2010/main" val="3742599736"/>
              </p:ext>
            </p:extLst>
          </p:nvPr>
        </p:nvGraphicFramePr>
        <p:xfrm>
          <a:off x="2755392" y="3274505"/>
          <a:ext cx="6019800" cy="2643187"/>
        </p:xfrm>
        <a:graphic>
          <a:graphicData uri="http://schemas.openxmlformats.org/presentationml/2006/ole">
            <mc:AlternateContent xmlns:mc="http://schemas.openxmlformats.org/markup-compatibility/2006">
              <mc:Choice xmlns:v="urn:schemas-microsoft-com:vml" Requires="v">
                <p:oleObj spid="_x0000_s2203" name="Bitmap Image" r:id="rId3" imgW="4315427" imgH="1895238" progId="PBrush">
                  <p:embed/>
                </p:oleObj>
              </mc:Choice>
              <mc:Fallback>
                <p:oleObj name="Bitmap Image" r:id="rId3" imgW="4315427" imgH="1895238" progId="PBrush">
                  <p:embed/>
                  <p:pic>
                    <p:nvPicPr>
                      <p:cNvPr id="2150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5392" y="3274505"/>
                        <a:ext cx="6019800" cy="264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Slide Number Placeholder 4"/>
          <p:cNvSpPr>
            <a:spLocks noGrp="1"/>
          </p:cNvSpPr>
          <p:nvPr>
            <p:ph type="sldNum" sz="quarter" idx="12"/>
          </p:nvPr>
        </p:nvSpPr>
        <p:spPr/>
        <p:txBody>
          <a:bodyPr/>
          <a:lstStyle/>
          <a:p>
            <a:fld id="{06AAA8BD-D267-4C4E-B16C-9A3CB850B983}" type="slidenum">
              <a:rPr lang="en-US" smtClean="0"/>
              <a:t>28</a:t>
            </a:fld>
            <a:endParaRPr lang="en-US"/>
          </a:p>
        </p:txBody>
      </p:sp>
    </p:spTree>
    <p:extLst>
      <p:ext uri="{BB962C8B-B14F-4D97-AF65-F5344CB8AC3E}">
        <p14:creationId xmlns:p14="http://schemas.microsoft.com/office/powerpoint/2010/main" val="3945353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(cont.)</a:t>
            </a:r>
          </a:p>
        </p:txBody>
      </p:sp>
      <p:sp>
        <p:nvSpPr>
          <p:cNvPr id="3" name="Content Placeholder 2"/>
          <p:cNvSpPr>
            <a:spLocks noGrp="1"/>
          </p:cNvSpPr>
          <p:nvPr>
            <p:ph idx="1"/>
          </p:nvPr>
        </p:nvSpPr>
        <p:spPr/>
        <p:txBody>
          <a:bodyPr/>
          <a:lstStyle/>
          <a:p>
            <a:pPr algn="just"/>
            <a:r>
              <a:rPr lang="en-US" altLang="tr-TR" b="1" u="sng" dirty="0">
                <a:latin typeface="Times New Roman" panose="02020603050405020304" pitchFamily="18" charset="0"/>
                <a:cs typeface="Times New Roman" panose="02020603050405020304" pitchFamily="18" charset="0"/>
              </a:rPr>
              <a:t>STEP 3</a:t>
            </a:r>
            <a:r>
              <a:rPr lang="en-US" altLang="tr-TR" b="1" dirty="0">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Calculate the total </a:t>
            </a:r>
            <a:r>
              <a:rPr lang="en-US" altLang="tr-TR" b="1" dirty="0">
                <a:latin typeface="Times New Roman" panose="02020603050405020304" pitchFamily="18" charset="0"/>
                <a:cs typeface="Times New Roman" panose="02020603050405020304" pitchFamily="18" charset="0"/>
              </a:rPr>
              <a:t>UFP</a:t>
            </a:r>
            <a:r>
              <a:rPr lang="en-US" altLang="tr-TR" dirty="0">
                <a:latin typeface="Times New Roman" panose="02020603050405020304" pitchFamily="18" charset="0"/>
                <a:cs typeface="Times New Roman" panose="02020603050405020304" pitchFamily="18" charset="0"/>
              </a:rPr>
              <a:t> (Unadjusted Function Points)</a:t>
            </a:r>
          </a:p>
          <a:p>
            <a:pPr algn="just"/>
            <a:r>
              <a:rPr lang="en-US" altLang="tr-TR" b="1" u="sng" dirty="0">
                <a:latin typeface="Times New Roman" panose="02020603050405020304" pitchFamily="18" charset="0"/>
                <a:cs typeface="Times New Roman" panose="02020603050405020304" pitchFamily="18" charset="0"/>
              </a:rPr>
              <a:t>STEP 4</a:t>
            </a:r>
            <a:r>
              <a:rPr lang="en-US" altLang="tr-TR" b="1" dirty="0">
                <a:latin typeface="Times New Roman" panose="02020603050405020304" pitchFamily="18" charset="0"/>
                <a:cs typeface="Times New Roman" panose="02020603050405020304" pitchFamily="18" charset="0"/>
              </a:rPr>
              <a:t>: </a:t>
            </a:r>
            <a:r>
              <a:rPr lang="en-US" altLang="tr-TR" dirty="0">
                <a:latin typeface="Times New Roman" panose="02020603050405020304" pitchFamily="18" charset="0"/>
                <a:cs typeface="Times New Roman" panose="02020603050405020304" pitchFamily="18" charset="0"/>
              </a:rPr>
              <a:t>Calculate the total </a:t>
            </a:r>
            <a:r>
              <a:rPr lang="en-US" altLang="tr-TR" b="1" dirty="0">
                <a:latin typeface="Times New Roman" panose="02020603050405020304" pitchFamily="18" charset="0"/>
                <a:cs typeface="Times New Roman" panose="02020603050405020304" pitchFamily="18" charset="0"/>
              </a:rPr>
              <a:t>TCF</a:t>
            </a:r>
            <a:r>
              <a:rPr lang="en-US" altLang="tr-TR" dirty="0">
                <a:latin typeface="Times New Roman" panose="02020603050405020304" pitchFamily="18" charset="0"/>
                <a:cs typeface="Times New Roman" panose="02020603050405020304" pitchFamily="18" charset="0"/>
              </a:rPr>
              <a:t> (Technical Complexity Factor) by giving a value between 0 and 5 according to the importance of the following points</a:t>
            </a:r>
            <a:r>
              <a:rPr lang="tr-TR" altLang="tr-TR" dirty="0">
                <a:latin typeface="Times New Roman" panose="02020603050405020304" pitchFamily="18" charset="0"/>
                <a:cs typeface="Times New Roman" panose="02020603050405020304" pitchFamily="18" charset="0"/>
              </a:rPr>
              <a:t> (next slide)</a:t>
            </a:r>
            <a:r>
              <a:rPr lang="en-US" altLang="tr-TR" dirty="0">
                <a:latin typeface="Times New Roman" panose="02020603050405020304" pitchFamily="18" charset="0"/>
                <a:cs typeface="Times New Roman" panose="02020603050405020304" pitchFamily="18" charset="0"/>
              </a:rPr>
              <a:t>:</a:t>
            </a:r>
          </a:p>
          <a:p>
            <a:endParaRPr lang="en-US" dirty="0"/>
          </a:p>
        </p:txBody>
      </p:sp>
      <p:sp>
        <p:nvSpPr>
          <p:cNvPr id="4" name="Rectangle 3"/>
          <p:cNvSpPr/>
          <p:nvPr/>
        </p:nvSpPr>
        <p:spPr>
          <a:xfrm>
            <a:off x="3589947" y="4497061"/>
            <a:ext cx="2819731" cy="369332"/>
          </a:xfrm>
          <a:prstGeom prst="rect">
            <a:avLst/>
          </a:prstGeom>
        </p:spPr>
        <p:txBody>
          <a:bodyPr wrap="square">
            <a:spAutoFit/>
          </a:bodyPr>
          <a:lstStyle/>
          <a:p>
            <a:pPr lvl="1"/>
            <a:r>
              <a:rPr lang="en-US" altLang="tr-TR" b="1" dirty="0"/>
              <a:t>TCF=0.65+0.01*DI</a:t>
            </a:r>
          </a:p>
        </p:txBody>
      </p:sp>
      <p:sp>
        <p:nvSpPr>
          <p:cNvPr id="5" name="Slide Number Placeholder 4"/>
          <p:cNvSpPr>
            <a:spLocks noGrp="1"/>
          </p:cNvSpPr>
          <p:nvPr>
            <p:ph type="sldNum" sz="quarter" idx="12"/>
          </p:nvPr>
        </p:nvSpPr>
        <p:spPr/>
        <p:txBody>
          <a:bodyPr/>
          <a:lstStyle/>
          <a:p>
            <a:fld id="{06AAA8BD-D267-4C4E-B16C-9A3CB850B983}" type="slidenum">
              <a:rPr lang="en-US" smtClean="0"/>
              <a:t>29</a:t>
            </a:fld>
            <a:endParaRPr lang="en-US"/>
          </a:p>
        </p:txBody>
      </p:sp>
    </p:spTree>
    <p:extLst>
      <p:ext uri="{BB962C8B-B14F-4D97-AF65-F5344CB8AC3E}">
        <p14:creationId xmlns:p14="http://schemas.microsoft.com/office/powerpoint/2010/main" val="3950797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(cont.)</a:t>
            </a:r>
          </a:p>
        </p:txBody>
      </p:sp>
      <p:sp>
        <p:nvSpPr>
          <p:cNvPr id="4" name="Rectangle 1"/>
          <p:cNvSpPr>
            <a:spLocks noGrp="1" noChangeArrowheads="1"/>
          </p:cNvSpPr>
          <p:nvPr>
            <p:ph idx="1"/>
          </p:nvPr>
        </p:nvSpPr>
        <p:spPr bwMode="auto">
          <a:xfrm>
            <a:off x="838200" y="1825625"/>
            <a:ext cx="37646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lvl="2"/>
            <a:r>
              <a:rPr lang="en-US" altLang="tr-TR" sz="2000" b="1" u="sng" dirty="0">
                <a:cs typeface="Times New Roman" panose="02020603050405020304" pitchFamily="18" charset="0"/>
              </a:rPr>
              <a:t>Technical Complexity Factors:</a:t>
            </a:r>
            <a:endParaRPr lang="tr-TR" altLang="tr-TR" b="1" u="sng" dirty="0">
              <a:cs typeface="Times New Roman" panose="02020603050405020304" pitchFamily="18" charset="0"/>
            </a:endParaRPr>
          </a:p>
        </p:txBody>
      </p:sp>
      <p:sp>
        <p:nvSpPr>
          <p:cNvPr id="5" name="Rectangle 3"/>
          <p:cNvSpPr txBox="1">
            <a:spLocks noChangeArrowheads="1"/>
          </p:cNvSpPr>
          <p:nvPr/>
        </p:nvSpPr>
        <p:spPr>
          <a:xfrm>
            <a:off x="2042160" y="2329894"/>
            <a:ext cx="7924800" cy="4648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Data Communication</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Distributed Functions</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Performance </a:t>
            </a: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Heavily Utilized Hardware</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High Transaction Rates</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Online Data Entry</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Online Updating</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End-user Efficiency</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Complex Computations</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Reusability</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Ease of Installation</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Ease of Operation</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Portability</a:t>
            </a:r>
            <a:endParaRPr lang="tr-TR" altLang="tr-TR" sz="1800" dirty="0">
              <a:latin typeface="Times New Roman" panose="02020603050405020304" pitchFamily="18" charset="0"/>
              <a:cs typeface="Times New Roman" panose="02020603050405020304" pitchFamily="18" charset="0"/>
            </a:endParaRPr>
          </a:p>
          <a:p>
            <a:pPr marL="0" lvl="2" indent="-342900">
              <a:buFontTx/>
              <a:buAutoNum type="arabicPeriod"/>
            </a:pPr>
            <a:r>
              <a:rPr lang="en-US" altLang="tr-TR" sz="1800" dirty="0">
                <a:latin typeface="Times New Roman" panose="02020603050405020304" pitchFamily="18" charset="0"/>
                <a:cs typeface="Times New Roman" panose="02020603050405020304" pitchFamily="18" charset="0"/>
              </a:rPr>
              <a:t>Maintainability/Facility change</a:t>
            </a:r>
          </a:p>
        </p:txBody>
      </p:sp>
      <p:sp>
        <p:nvSpPr>
          <p:cNvPr id="6" name="Rectangle 5"/>
          <p:cNvSpPr/>
          <p:nvPr/>
        </p:nvSpPr>
        <p:spPr>
          <a:xfrm>
            <a:off x="7138416" y="3176666"/>
            <a:ext cx="3870960" cy="1477328"/>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Each component or </a:t>
            </a:r>
            <a:r>
              <a:rPr lang="en-US" dirty="0" err="1">
                <a:latin typeface="Times New Roman" panose="02020603050405020304" pitchFamily="18" charset="0"/>
                <a:cs typeface="Times New Roman" panose="02020603050405020304" pitchFamily="18" charset="0"/>
              </a:rPr>
              <a:t>subfactor</a:t>
            </a:r>
            <a:r>
              <a:rPr lang="en-US" dirty="0">
                <a:latin typeface="Times New Roman" panose="02020603050405020304" pitchFamily="18" charset="0"/>
                <a:cs typeface="Times New Roman" panose="02020603050405020304" pitchFamily="18" charset="0"/>
              </a:rPr>
              <a:t> is rated from 0 to 5, where 0 means the </a:t>
            </a:r>
            <a:r>
              <a:rPr lang="en-US" dirty="0" err="1">
                <a:latin typeface="Times New Roman" panose="02020603050405020304" pitchFamily="18" charset="0"/>
                <a:cs typeface="Times New Roman" panose="02020603050405020304" pitchFamily="18" charset="0"/>
              </a:rPr>
              <a:t>subfactor</a:t>
            </a:r>
            <a:r>
              <a:rPr lang="en-US" dirty="0">
                <a:latin typeface="Times New Roman" panose="02020603050405020304" pitchFamily="18" charset="0"/>
                <a:cs typeface="Times New Roman" panose="02020603050405020304" pitchFamily="18" charset="0"/>
              </a:rPr>
              <a:t> is irrelevant, 3 means it is average, and 5 means it is essential to the system being built</a:t>
            </a:r>
          </a:p>
        </p:txBody>
      </p:sp>
      <p:sp>
        <p:nvSpPr>
          <p:cNvPr id="3" name="Slide Number Placeholder 2"/>
          <p:cNvSpPr>
            <a:spLocks noGrp="1"/>
          </p:cNvSpPr>
          <p:nvPr>
            <p:ph type="sldNum" sz="quarter" idx="12"/>
          </p:nvPr>
        </p:nvSpPr>
        <p:spPr/>
        <p:txBody>
          <a:bodyPr/>
          <a:lstStyle/>
          <a:p>
            <a:fld id="{06AAA8BD-D267-4C4E-B16C-9A3CB850B983}" type="slidenum">
              <a:rPr lang="en-US" smtClean="0"/>
              <a:t>30</a:t>
            </a:fld>
            <a:endParaRPr lang="en-US"/>
          </a:p>
        </p:txBody>
      </p:sp>
    </p:spTree>
    <p:extLst>
      <p:ext uri="{BB962C8B-B14F-4D97-AF65-F5344CB8AC3E}">
        <p14:creationId xmlns:p14="http://schemas.microsoft.com/office/powerpoint/2010/main" val="1986472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(cont.)</a:t>
            </a:r>
          </a:p>
        </p:txBody>
      </p:sp>
      <p:sp>
        <p:nvSpPr>
          <p:cNvPr id="3" name="Content Placeholder 2"/>
          <p:cNvSpPr>
            <a:spLocks noGrp="1"/>
          </p:cNvSpPr>
          <p:nvPr>
            <p:ph idx="1"/>
          </p:nvPr>
        </p:nvSpPr>
        <p:spPr/>
        <p:txBody>
          <a:bodyPr/>
          <a:lstStyle/>
          <a:p>
            <a:r>
              <a:rPr lang="en-US" altLang="tr-TR" sz="2400" b="1" u="sng" dirty="0">
                <a:latin typeface="Times New Roman" panose="02020603050405020304" pitchFamily="18" charset="0"/>
                <a:cs typeface="Times New Roman" panose="02020603050405020304" pitchFamily="18" charset="0"/>
              </a:rPr>
              <a:t>STEP 5</a:t>
            </a:r>
            <a:r>
              <a:rPr lang="en-US" altLang="tr-TR" sz="2400" b="1" dirty="0">
                <a:latin typeface="Times New Roman" panose="02020603050405020304" pitchFamily="18" charset="0"/>
                <a:cs typeface="Times New Roman" panose="02020603050405020304" pitchFamily="18" charset="0"/>
              </a:rPr>
              <a:t>: </a:t>
            </a:r>
            <a:r>
              <a:rPr lang="en-US" altLang="tr-TR" sz="2400" dirty="0">
                <a:latin typeface="Times New Roman" panose="02020603050405020304" pitchFamily="18" charset="0"/>
                <a:cs typeface="Times New Roman" panose="02020603050405020304" pitchFamily="18" charset="0"/>
              </a:rPr>
              <a:t>Sum the resulting numbers to obtain </a:t>
            </a:r>
            <a:r>
              <a:rPr lang="en-US" altLang="tr-TR" sz="2400" b="1" dirty="0">
                <a:latin typeface="Times New Roman" panose="02020603050405020304" pitchFamily="18" charset="0"/>
                <a:cs typeface="Times New Roman" panose="02020603050405020304" pitchFamily="18" charset="0"/>
              </a:rPr>
              <a:t>DI</a:t>
            </a:r>
            <a:r>
              <a:rPr lang="en-US" altLang="tr-TR" sz="2400" dirty="0">
                <a:latin typeface="Times New Roman" panose="02020603050405020304" pitchFamily="18" charset="0"/>
                <a:cs typeface="Times New Roman" panose="02020603050405020304" pitchFamily="18" charset="0"/>
              </a:rPr>
              <a:t> (degree of influence)</a:t>
            </a:r>
          </a:p>
          <a:p>
            <a:r>
              <a:rPr lang="en-US" altLang="tr-TR" sz="2400" b="1" u="sng" dirty="0">
                <a:latin typeface="Times New Roman" panose="02020603050405020304" pitchFamily="18" charset="0"/>
                <a:cs typeface="Times New Roman" panose="02020603050405020304" pitchFamily="18" charset="0"/>
              </a:rPr>
              <a:t>STEP 6</a:t>
            </a:r>
            <a:r>
              <a:rPr lang="en-US" altLang="tr-TR" sz="2400" b="1" dirty="0">
                <a:latin typeface="Times New Roman" panose="02020603050405020304" pitchFamily="18" charset="0"/>
                <a:cs typeface="Times New Roman" panose="02020603050405020304" pitchFamily="18" charset="0"/>
              </a:rPr>
              <a:t>: TCF</a:t>
            </a:r>
            <a:r>
              <a:rPr lang="en-US" altLang="tr-TR" sz="2400" dirty="0">
                <a:latin typeface="Times New Roman" panose="02020603050405020304" pitchFamily="18" charset="0"/>
                <a:cs typeface="Times New Roman" panose="02020603050405020304" pitchFamily="18" charset="0"/>
              </a:rPr>
              <a:t> (Technical Complexity Factor) by given by  the formula</a:t>
            </a:r>
          </a:p>
          <a:p>
            <a:pPr lvl="1"/>
            <a:r>
              <a:rPr lang="en-US" altLang="tr-TR" b="1" dirty="0">
                <a:latin typeface="Times New Roman" panose="02020603050405020304" pitchFamily="18" charset="0"/>
                <a:cs typeface="Times New Roman" panose="02020603050405020304" pitchFamily="18" charset="0"/>
              </a:rPr>
              <a:t>TCF=0.65+0.01*DI</a:t>
            </a:r>
          </a:p>
          <a:p>
            <a:r>
              <a:rPr lang="en-US" altLang="tr-TR" sz="2400" b="1" u="sng" dirty="0">
                <a:latin typeface="Times New Roman" panose="02020603050405020304" pitchFamily="18" charset="0"/>
                <a:cs typeface="Times New Roman" panose="02020603050405020304" pitchFamily="18" charset="0"/>
              </a:rPr>
              <a:t>STEP 6</a:t>
            </a:r>
            <a:r>
              <a:rPr lang="en-US" altLang="tr-TR" sz="2400" b="1" dirty="0">
                <a:latin typeface="Times New Roman" panose="02020603050405020304" pitchFamily="18" charset="0"/>
                <a:cs typeface="Times New Roman" panose="02020603050405020304" pitchFamily="18" charset="0"/>
              </a:rPr>
              <a:t>: </a:t>
            </a:r>
            <a:r>
              <a:rPr lang="en-US" altLang="tr-TR" sz="2400" dirty="0">
                <a:latin typeface="Times New Roman" panose="02020603050405020304" pitchFamily="18" charset="0"/>
                <a:cs typeface="Times New Roman" panose="02020603050405020304" pitchFamily="18" charset="0"/>
              </a:rPr>
              <a:t>Function Points are given by  the formula</a:t>
            </a:r>
          </a:p>
          <a:p>
            <a:pPr lvl="1"/>
            <a:r>
              <a:rPr lang="en-US" altLang="tr-TR" b="1" dirty="0">
                <a:latin typeface="Times New Roman" panose="02020603050405020304" pitchFamily="18" charset="0"/>
                <a:cs typeface="Times New Roman" panose="02020603050405020304" pitchFamily="18" charset="0"/>
              </a:rPr>
              <a:t>FP=UFP*TCF</a:t>
            </a:r>
            <a:endParaRPr lang="en-US" altLang="tr-TR"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31</a:t>
            </a:fld>
            <a:endParaRPr lang="en-US"/>
          </a:p>
        </p:txBody>
      </p:sp>
    </p:spTree>
    <p:extLst>
      <p:ext uri="{BB962C8B-B14F-4D97-AF65-F5344CB8AC3E}">
        <p14:creationId xmlns:p14="http://schemas.microsoft.com/office/powerpoint/2010/main" val="3349970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Example</a:t>
            </a:r>
          </a:p>
        </p:txBody>
      </p:sp>
      <p:pic>
        <p:nvPicPr>
          <p:cNvPr id="4" name="Content Placeholder 3"/>
          <p:cNvPicPr>
            <a:picLocks noGrp="1" noChangeAspect="1"/>
          </p:cNvPicPr>
          <p:nvPr>
            <p:ph idx="1"/>
          </p:nvPr>
        </p:nvPicPr>
        <p:blipFill>
          <a:blip r:embed="rId2"/>
          <a:stretch>
            <a:fillRect/>
          </a:stretch>
        </p:blipFill>
        <p:spPr>
          <a:xfrm>
            <a:off x="1216152" y="1779905"/>
            <a:ext cx="9994391" cy="4872052"/>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t>32</a:t>
            </a:fld>
            <a:endParaRPr lang="en-US"/>
          </a:p>
        </p:txBody>
      </p:sp>
    </p:spTree>
    <p:extLst>
      <p:ext uri="{BB962C8B-B14F-4D97-AF65-F5344CB8AC3E}">
        <p14:creationId xmlns:p14="http://schemas.microsoft.com/office/powerpoint/2010/main" val="193348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Example</a:t>
            </a:r>
          </a:p>
        </p:txBody>
      </p:sp>
      <p:pic>
        <p:nvPicPr>
          <p:cNvPr id="4" name="Content Placeholder 3"/>
          <p:cNvPicPr>
            <a:picLocks noGrp="1" noChangeAspect="1"/>
          </p:cNvPicPr>
          <p:nvPr>
            <p:ph idx="1"/>
          </p:nvPr>
        </p:nvPicPr>
        <p:blipFill>
          <a:blip r:embed="rId2"/>
          <a:stretch>
            <a:fillRect/>
          </a:stretch>
        </p:blipFill>
        <p:spPr>
          <a:xfrm>
            <a:off x="746759" y="2446951"/>
            <a:ext cx="10390633" cy="3066882"/>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t>33</a:t>
            </a:fld>
            <a:endParaRPr lang="en-US"/>
          </a:p>
        </p:txBody>
      </p:sp>
    </p:spTree>
    <p:extLst>
      <p:ext uri="{BB962C8B-B14F-4D97-AF65-F5344CB8AC3E}">
        <p14:creationId xmlns:p14="http://schemas.microsoft.com/office/powerpoint/2010/main" val="2895164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Example</a:t>
            </a:r>
          </a:p>
        </p:txBody>
      </p:sp>
      <p:pic>
        <p:nvPicPr>
          <p:cNvPr id="4" name="Content Placeholder 3"/>
          <p:cNvPicPr>
            <a:picLocks noGrp="1" noChangeAspect="1"/>
          </p:cNvPicPr>
          <p:nvPr>
            <p:ph idx="1"/>
          </p:nvPr>
        </p:nvPicPr>
        <p:blipFill>
          <a:blip r:embed="rId2"/>
          <a:stretch>
            <a:fillRect/>
          </a:stretch>
        </p:blipFill>
        <p:spPr>
          <a:xfrm>
            <a:off x="838200" y="2223844"/>
            <a:ext cx="10515600" cy="3554900"/>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t>34</a:t>
            </a:fld>
            <a:endParaRPr lang="en-US"/>
          </a:p>
        </p:txBody>
      </p:sp>
    </p:spTree>
    <p:extLst>
      <p:ext uri="{BB962C8B-B14F-4D97-AF65-F5344CB8AC3E}">
        <p14:creationId xmlns:p14="http://schemas.microsoft.com/office/powerpoint/2010/main" val="844126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Example</a:t>
            </a:r>
          </a:p>
        </p:txBody>
      </p:sp>
      <p:graphicFrame>
        <p:nvGraphicFramePr>
          <p:cNvPr id="4" name="Object 4"/>
          <p:cNvGraphicFramePr>
            <a:graphicFrameLocks noGrp="1" noChangeAspect="1"/>
          </p:cNvGraphicFramePr>
          <p:nvPr>
            <p:ph idx="1"/>
            <p:extLst>
              <p:ext uri="{D42A27DB-BD31-4B8C-83A1-F6EECF244321}">
                <p14:modId xmlns:p14="http://schemas.microsoft.com/office/powerpoint/2010/main" val="1308712072"/>
              </p:ext>
            </p:extLst>
          </p:nvPr>
        </p:nvGraphicFramePr>
        <p:xfrm>
          <a:off x="1417510" y="1690688"/>
          <a:ext cx="8979218" cy="4917590"/>
        </p:xfrm>
        <a:graphic>
          <a:graphicData uri="http://schemas.openxmlformats.org/presentationml/2006/ole">
            <mc:AlternateContent xmlns:mc="http://schemas.openxmlformats.org/markup-compatibility/2006">
              <mc:Choice xmlns:v="urn:schemas-microsoft-com:vml" Requires="v">
                <p:oleObj spid="_x0000_s3222" name="Bitmap Image" r:id="rId3" imgW="5095238" imgH="2790476" progId="Paint.Picture">
                  <p:embed/>
                </p:oleObj>
              </mc:Choice>
              <mc:Fallback>
                <p:oleObj name="Bitmap Image" r:id="rId3" imgW="5095238" imgH="2790476" progId="Paint.Picture">
                  <p:embed/>
                  <p:pic>
                    <p:nvPicPr>
                      <p:cNvPr id="2765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7510" y="1690688"/>
                        <a:ext cx="8979218" cy="4917590"/>
                      </a:xfrm>
                      <a:prstGeom prst="rect">
                        <a:avLst/>
                      </a:prstGeom>
                      <a:noFill/>
                      <a:ln>
                        <a:noFill/>
                      </a:ln>
                      <a:effectLst/>
                    </p:spPr>
                  </p:pic>
                </p:oleObj>
              </mc:Fallback>
            </mc:AlternateContent>
          </a:graphicData>
        </a:graphic>
      </p:graphicFrame>
      <p:sp>
        <p:nvSpPr>
          <p:cNvPr id="3" name="Slide Number Placeholder 2"/>
          <p:cNvSpPr>
            <a:spLocks noGrp="1"/>
          </p:cNvSpPr>
          <p:nvPr>
            <p:ph type="sldNum" sz="quarter" idx="12"/>
          </p:nvPr>
        </p:nvSpPr>
        <p:spPr/>
        <p:txBody>
          <a:bodyPr/>
          <a:lstStyle/>
          <a:p>
            <a:fld id="{06AAA8BD-D267-4C4E-B16C-9A3CB850B983}" type="slidenum">
              <a:rPr lang="en-US" smtClean="0"/>
              <a:t>35</a:t>
            </a:fld>
            <a:endParaRPr lang="en-US"/>
          </a:p>
        </p:txBody>
      </p:sp>
    </p:spTree>
    <p:extLst>
      <p:ext uri="{BB962C8B-B14F-4D97-AF65-F5344CB8AC3E}">
        <p14:creationId xmlns:p14="http://schemas.microsoft.com/office/powerpoint/2010/main" val="16394747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Example</a:t>
            </a:r>
          </a:p>
        </p:txBody>
      </p:sp>
      <p:sp>
        <p:nvSpPr>
          <p:cNvPr id="4" name="Rectangle 5"/>
          <p:cNvSpPr>
            <a:spLocks noGrp="1" noChangeArrowheads="1"/>
          </p:cNvSpPr>
          <p:nvPr>
            <p:ph idx="1"/>
          </p:nvPr>
        </p:nvSpPr>
        <p:spPr>
          <a:xfrm>
            <a:off x="838200" y="1825624"/>
            <a:ext cx="10692384" cy="4566031"/>
          </a:xfrm>
          <a:noFill/>
        </p:spPr>
        <p:txBody>
          <a:bodyPr>
            <a:normAutofit fontScale="85000" lnSpcReduction="20000"/>
          </a:bodyPr>
          <a:lstStyle/>
          <a:p>
            <a:pPr marL="914400" lvl="2" indent="0">
              <a:buNone/>
            </a:pPr>
            <a:r>
              <a:rPr lang="en-US" altLang="tr-TR" sz="2000" b="1" u="sng" dirty="0">
                <a:latin typeface="Arial" panose="020B0604020202020204" pitchFamily="34" charset="0"/>
              </a:rPr>
              <a:t>Technical Complexity Factors:</a:t>
            </a:r>
            <a:endParaRPr lang="en-US" altLang="tr-TR" b="1" u="sng" dirty="0">
              <a:latin typeface="Arial" panose="020B0604020202020204" pitchFamily="34" charset="0"/>
            </a:endParaRP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1. </a:t>
            </a:r>
            <a:r>
              <a:rPr lang="en-US" altLang="tr-TR" sz="1500" dirty="0">
                <a:latin typeface="Arial" panose="020B0604020202020204" pitchFamily="34" charset="0"/>
              </a:rPr>
              <a:t>Data Communication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2. </a:t>
            </a:r>
            <a:r>
              <a:rPr lang="en-US" altLang="tr-TR" sz="1500" dirty="0">
                <a:latin typeface="Arial" panose="020B0604020202020204" pitchFamily="34" charset="0"/>
              </a:rPr>
              <a:t>Distributed Data Processing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3. </a:t>
            </a:r>
            <a:r>
              <a:rPr lang="en-US" altLang="tr-TR" sz="1500" dirty="0">
                <a:latin typeface="Arial" panose="020B0604020202020204" pitchFamily="34" charset="0"/>
              </a:rPr>
              <a:t>Performance Criteria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4. </a:t>
            </a:r>
            <a:r>
              <a:rPr lang="en-US" altLang="tr-TR" sz="1500" dirty="0">
                <a:latin typeface="Arial" panose="020B0604020202020204" pitchFamily="34" charset="0"/>
              </a:rPr>
              <a:t>Heavily Utilized Hardware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5. </a:t>
            </a:r>
            <a:r>
              <a:rPr lang="en-US" altLang="tr-TR" sz="1500" dirty="0">
                <a:latin typeface="Arial" panose="020B0604020202020204" pitchFamily="34" charset="0"/>
              </a:rPr>
              <a:t>High Transaction Rates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6. </a:t>
            </a:r>
            <a:r>
              <a:rPr lang="en-US" altLang="tr-TR" sz="1500" dirty="0">
                <a:latin typeface="Arial" panose="020B0604020202020204" pitchFamily="34" charset="0"/>
              </a:rPr>
              <a:t>Online Data Entry		</a:t>
            </a:r>
            <a:r>
              <a:rPr lang="en-US" altLang="tr-TR" sz="1600" dirty="0"/>
              <a:t> </a:t>
            </a:r>
            <a:endParaRPr lang="en-US" altLang="tr-TR" sz="1500" dirty="0">
              <a:latin typeface="Arial" panose="020B0604020202020204" pitchFamily="34" charset="0"/>
            </a:endParaRPr>
          </a:p>
          <a:p>
            <a:pPr lvl="3"/>
            <a:r>
              <a:rPr lang="en-US" altLang="tr-TR" sz="1500" dirty="0">
                <a:latin typeface="Arial" panose="020B0604020202020204" pitchFamily="34" charset="0"/>
                <a:cs typeface="Times New Roman" panose="02020603050405020304" pitchFamily="18" charset="0"/>
              </a:rPr>
              <a:t>F7. </a:t>
            </a:r>
            <a:r>
              <a:rPr lang="en-US" altLang="tr-TR" sz="1500" dirty="0">
                <a:latin typeface="Arial" panose="020B0604020202020204" pitchFamily="34" charset="0"/>
              </a:rPr>
              <a:t>Online Updating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8. </a:t>
            </a:r>
            <a:r>
              <a:rPr lang="en-US" altLang="tr-TR" sz="1500" dirty="0">
                <a:latin typeface="Arial" panose="020B0604020202020204" pitchFamily="34" charset="0"/>
              </a:rPr>
              <a:t>End-user Efficiency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9. </a:t>
            </a:r>
            <a:r>
              <a:rPr lang="en-US" altLang="tr-TR" sz="1500" dirty="0">
                <a:latin typeface="Arial" panose="020B0604020202020204" pitchFamily="34" charset="0"/>
              </a:rPr>
              <a:t>Complex Computations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10. </a:t>
            </a:r>
            <a:r>
              <a:rPr lang="en-US" altLang="tr-TR" sz="1500" dirty="0">
                <a:latin typeface="Arial" panose="020B0604020202020204" pitchFamily="34" charset="0"/>
              </a:rPr>
              <a:t>Reusability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11. </a:t>
            </a:r>
            <a:r>
              <a:rPr lang="en-US" altLang="tr-TR" sz="1500" dirty="0">
                <a:latin typeface="Arial" panose="020B0604020202020204" pitchFamily="34" charset="0"/>
              </a:rPr>
              <a:t>Ease of Installation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12. </a:t>
            </a:r>
            <a:r>
              <a:rPr lang="en-US" altLang="tr-TR" sz="1500" dirty="0">
                <a:latin typeface="Arial" panose="020B0604020202020204" pitchFamily="34" charset="0"/>
              </a:rPr>
              <a:t>Ease of Operation		</a:t>
            </a:r>
          </a:p>
          <a:p>
            <a:pPr lvl="3"/>
            <a:r>
              <a:rPr lang="en-US" altLang="tr-TR" sz="1500" i="1" dirty="0">
                <a:latin typeface="Arial" panose="020B0604020202020204" pitchFamily="34" charset="0"/>
                <a:cs typeface="Times New Roman" panose="02020603050405020304" pitchFamily="18" charset="0"/>
              </a:rPr>
              <a:t>F</a:t>
            </a:r>
            <a:r>
              <a:rPr lang="en-US" altLang="tr-TR" sz="1500" dirty="0">
                <a:latin typeface="Arial" panose="020B0604020202020204" pitchFamily="34" charset="0"/>
                <a:cs typeface="Times New Roman" panose="02020603050405020304" pitchFamily="18" charset="0"/>
              </a:rPr>
              <a:t>13. </a:t>
            </a:r>
            <a:r>
              <a:rPr lang="en-US" altLang="tr-TR" sz="1500" dirty="0">
                <a:latin typeface="Arial" panose="020B0604020202020204" pitchFamily="34" charset="0"/>
              </a:rPr>
              <a:t>Portability			</a:t>
            </a:r>
          </a:p>
          <a:p>
            <a:pPr lvl="3"/>
            <a:r>
              <a:rPr lang="en-US" altLang="tr-TR" sz="1500" dirty="0">
                <a:latin typeface="Arial" panose="020B0604020202020204" pitchFamily="34" charset="0"/>
                <a:cs typeface="Times New Roman" panose="02020603050405020304" pitchFamily="18" charset="0"/>
              </a:rPr>
              <a:t>F14. </a:t>
            </a:r>
            <a:r>
              <a:rPr lang="en-US" altLang="tr-TR" sz="1500" dirty="0">
                <a:latin typeface="Arial" panose="020B0604020202020204" pitchFamily="34" charset="0"/>
              </a:rPr>
              <a:t>Maintainability</a:t>
            </a:r>
          </a:p>
          <a:p>
            <a:r>
              <a:rPr lang="en-US" sz="2600" dirty="0"/>
              <a:t>Each component or </a:t>
            </a:r>
            <a:r>
              <a:rPr lang="en-US" sz="2600" dirty="0" err="1"/>
              <a:t>subfactor</a:t>
            </a:r>
            <a:r>
              <a:rPr lang="en-US" sz="2600" dirty="0"/>
              <a:t> is rated from 0 to 5, where 0 means the </a:t>
            </a:r>
            <a:r>
              <a:rPr lang="en-US" sz="2600" dirty="0" err="1"/>
              <a:t>subfactor</a:t>
            </a:r>
            <a:r>
              <a:rPr lang="en-US" sz="2600" dirty="0"/>
              <a:t> is irrelevant, 3 means it is average, and 5 means it is essential to the system being built.</a:t>
            </a:r>
            <a:r>
              <a:rPr lang="en-US" altLang="tr-TR" sz="3600" b="1" dirty="0">
                <a:latin typeface="Arial" panose="020B0604020202020204" pitchFamily="34" charset="0"/>
              </a:rPr>
              <a:t>	</a:t>
            </a:r>
          </a:p>
          <a:p>
            <a:r>
              <a:rPr lang="en-US" altLang="tr-TR" sz="2600" dirty="0"/>
              <a:t>Sum the resulting numbers to obtain </a:t>
            </a:r>
            <a:r>
              <a:rPr lang="en-US" altLang="tr-TR" sz="2600" b="1" dirty="0"/>
              <a:t>DI (degree of influence) 	</a:t>
            </a:r>
          </a:p>
        </p:txBody>
      </p:sp>
      <p:sp>
        <p:nvSpPr>
          <p:cNvPr id="3" name="Slide Number Placeholder 2"/>
          <p:cNvSpPr>
            <a:spLocks noGrp="1"/>
          </p:cNvSpPr>
          <p:nvPr>
            <p:ph type="sldNum" sz="quarter" idx="12"/>
          </p:nvPr>
        </p:nvSpPr>
        <p:spPr/>
        <p:txBody>
          <a:bodyPr/>
          <a:lstStyle/>
          <a:p>
            <a:fld id="{06AAA8BD-D267-4C4E-B16C-9A3CB850B983}" type="slidenum">
              <a:rPr lang="en-US" smtClean="0"/>
              <a:t>36</a:t>
            </a:fld>
            <a:endParaRPr lang="en-US"/>
          </a:p>
        </p:txBody>
      </p:sp>
    </p:spTree>
    <p:extLst>
      <p:ext uri="{BB962C8B-B14F-4D97-AF65-F5344CB8AC3E}">
        <p14:creationId xmlns:p14="http://schemas.microsoft.com/office/powerpoint/2010/main" val="21223041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Example</a:t>
            </a:r>
          </a:p>
        </p:txBody>
      </p:sp>
      <mc:AlternateContent xmlns:mc="http://schemas.openxmlformats.org/markup-compatibility/2006">
        <mc:Choice xmlns:a14="http://schemas.microsoft.com/office/drawing/2010/main" Requires="a14">
          <p:sp>
            <p:nvSpPr>
              <p:cNvPr id="6" name="Content Placeholder 5"/>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following formula combines the 14 ratings into a final technical complexity factor</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i.e.,</a:t>
                </a:r>
              </a:p>
              <a:p>
                <a:pPr marL="0"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TCF</m:t>
                      </m:r>
                      <m:r>
                        <a:rPr lang="en-US" b="0" i="0" smtClean="0">
                          <a:latin typeface="Cambria Math" panose="02040503050406030204" pitchFamily="18" charset="0"/>
                        </a:rPr>
                        <m:t>=0.65+0.01∗</m:t>
                      </m:r>
                      <m:r>
                        <m:rPr>
                          <m:sty m:val="p"/>
                        </m:rPr>
                        <a:rPr lang="en-US" b="0" i="0" smtClean="0">
                          <a:latin typeface="Cambria Math" panose="02040503050406030204" pitchFamily="18" charset="0"/>
                        </a:rPr>
                        <m:t>DI</m:t>
                      </m:r>
                    </m:oMath>
                  </m:oMathPara>
                </a14:m>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final calculation of FPs multiplies the UFC by the technical complexity factor TCF</a:t>
                </a:r>
              </a:p>
              <a:p>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p:txBody>
          </p:sp>
        </mc:Choice>
        <mc:Fallback>
          <p:sp>
            <p:nvSpPr>
              <p:cNvPr id="6" name="Content Placeholder 5"/>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pic>
        <p:nvPicPr>
          <p:cNvPr id="7" name="Picture 6"/>
          <p:cNvPicPr>
            <a:picLocks noChangeAspect="1"/>
          </p:cNvPicPr>
          <p:nvPr/>
        </p:nvPicPr>
        <p:blipFill>
          <a:blip r:embed="rId3"/>
          <a:stretch>
            <a:fillRect/>
          </a:stretch>
        </p:blipFill>
        <p:spPr>
          <a:xfrm>
            <a:off x="4081962" y="2536804"/>
            <a:ext cx="4277112" cy="1459124"/>
          </a:xfrm>
          <a:prstGeom prst="rect">
            <a:avLst/>
          </a:prstGeom>
        </p:spPr>
      </p:pic>
      <p:pic>
        <p:nvPicPr>
          <p:cNvPr id="8" name="Picture 7"/>
          <p:cNvPicPr>
            <a:picLocks noChangeAspect="1"/>
          </p:cNvPicPr>
          <p:nvPr/>
        </p:nvPicPr>
        <p:blipFill>
          <a:blip r:embed="rId4"/>
          <a:stretch>
            <a:fillRect/>
          </a:stretch>
        </p:blipFill>
        <p:spPr>
          <a:xfrm>
            <a:off x="4081962" y="5514146"/>
            <a:ext cx="3534300" cy="1023500"/>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t>37</a:t>
            </a:fld>
            <a:endParaRPr lang="en-US"/>
          </a:p>
        </p:txBody>
      </p:sp>
    </p:spTree>
    <p:extLst>
      <p:ext uri="{BB962C8B-B14F-4D97-AF65-F5344CB8AC3E}">
        <p14:creationId xmlns:p14="http://schemas.microsoft.com/office/powerpoint/2010/main" val="1544254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Function Points Example</a:t>
            </a:r>
          </a:p>
        </p:txBody>
      </p:sp>
      <p:sp>
        <p:nvSpPr>
          <p:cNvPr id="3" name="Content Placeholder 2"/>
          <p:cNvSpPr>
            <a:spLocks noGrp="1"/>
          </p:cNvSpPr>
          <p:nvPr>
            <p:ph idx="1"/>
          </p:nvPr>
        </p:nvSpPr>
        <p:spPr/>
        <p:txBody>
          <a:bodyPr/>
          <a:lstStyle/>
          <a:p>
            <a:r>
              <a:rPr lang="en-US" altLang="tr-TR" dirty="0">
                <a:latin typeface="Times New Roman" panose="02020603050405020304" pitchFamily="18" charset="0"/>
                <a:cs typeface="Times New Roman" panose="02020603050405020304" pitchFamily="18" charset="0"/>
              </a:rPr>
              <a:t>Function Points</a:t>
            </a:r>
          </a:p>
          <a:p>
            <a:pPr lvl="1"/>
            <a:r>
              <a:rPr lang="en-US" altLang="tr-TR" dirty="0">
                <a:latin typeface="Times New Roman" panose="02020603050405020304" pitchFamily="18" charset="0"/>
                <a:cs typeface="Times New Roman" panose="02020603050405020304" pitchFamily="18" charset="0"/>
              </a:rPr>
              <a:t>FP=UFP*(0.65+0.01*DI)= 55*(0.65+0.01*30)=52.25</a:t>
            </a:r>
          </a:p>
          <a:p>
            <a:pPr lvl="1"/>
            <a:endParaRPr lang="en-US" altLang="tr-TR" dirty="0">
              <a:latin typeface="Times New Roman" panose="02020603050405020304" pitchFamily="18" charset="0"/>
              <a:cs typeface="Times New Roman" panose="02020603050405020304" pitchFamily="18" charset="0"/>
            </a:endParaRPr>
          </a:p>
          <a:p>
            <a:pPr lvl="1"/>
            <a:r>
              <a:rPr lang="en-US" altLang="tr-TR" dirty="0">
                <a:latin typeface="Times New Roman" panose="02020603050405020304" pitchFamily="18" charset="0"/>
                <a:cs typeface="Times New Roman" panose="02020603050405020304" pitchFamily="18" charset="0"/>
              </a:rPr>
              <a:t>That means  </a:t>
            </a:r>
            <a:r>
              <a:rPr lang="en-US" altLang="tr-TR" b="1" dirty="0">
                <a:latin typeface="Times New Roman" panose="02020603050405020304" pitchFamily="18" charset="0"/>
                <a:cs typeface="Times New Roman" panose="02020603050405020304" pitchFamily="18" charset="0"/>
              </a:rPr>
              <a:t>FP=52.25</a:t>
            </a:r>
            <a:endParaRPr lang="en-US" altLang="tr-TR"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considering </a:t>
            </a:r>
            <a:r>
              <a:rPr lang="en-US" sz="2000" dirty="0">
                <a:latin typeface="Times New Roman" panose="02020603050405020304" pitchFamily="18" charset="0"/>
                <a:cs typeface="Times New Roman" panose="02020603050405020304" pitchFamily="18" charset="0"/>
              </a:rPr>
              <a:t>DI </a:t>
            </a:r>
            <a:r>
              <a:rPr lang="en-US" sz="2000" i="1" dirty="0">
                <a:latin typeface="Times New Roman" panose="02020603050405020304" pitchFamily="18" charset="0"/>
                <a:cs typeface="Times New Roman" panose="02020603050405020304" pitchFamily="18" charset="0"/>
              </a:rPr>
              <a:t>or</a:t>
            </a:r>
            <a:r>
              <a:rPr lang="en-US" sz="2000" dirty="0">
                <a:latin typeface="Times New Roman" panose="02020603050405020304" pitchFamily="18" charset="0"/>
                <a:cs typeface="Times New Roman" panose="02020603050405020304" pitchFamily="18" charset="0"/>
              </a:rPr>
              <a:t> TCF </a:t>
            </a:r>
            <a:r>
              <a:rPr lang="en-US" sz="2000" i="1" dirty="0">
                <a:latin typeface="Times New Roman" panose="02020603050405020304" pitchFamily="18" charset="0"/>
                <a:cs typeface="Times New Roman" panose="02020603050405020304" pitchFamily="18" charset="0"/>
              </a:rPr>
              <a:t>= 30</a:t>
            </a:r>
          </a:p>
        </p:txBody>
      </p:sp>
      <p:sp>
        <p:nvSpPr>
          <p:cNvPr id="4" name="Slide Number Placeholder 3"/>
          <p:cNvSpPr>
            <a:spLocks noGrp="1"/>
          </p:cNvSpPr>
          <p:nvPr>
            <p:ph type="sldNum" sz="quarter" idx="12"/>
          </p:nvPr>
        </p:nvSpPr>
        <p:spPr/>
        <p:txBody>
          <a:bodyPr/>
          <a:lstStyle/>
          <a:p>
            <a:fld id="{06AAA8BD-D267-4C4E-B16C-9A3CB850B983}" type="slidenum">
              <a:rPr lang="en-US" smtClean="0"/>
              <a:t>38</a:t>
            </a:fld>
            <a:endParaRPr lang="en-US"/>
          </a:p>
        </p:txBody>
      </p:sp>
    </p:spTree>
    <p:extLst>
      <p:ext uri="{BB962C8B-B14F-4D97-AF65-F5344CB8AC3E}">
        <p14:creationId xmlns:p14="http://schemas.microsoft.com/office/powerpoint/2010/main" val="1543322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Relation between LOC and FP</a:t>
            </a:r>
          </a:p>
        </p:txBody>
      </p:sp>
      <p:sp>
        <p:nvSpPr>
          <p:cNvPr id="4" name="Rectangle 3"/>
          <p:cNvSpPr>
            <a:spLocks noGrp="1" noChangeArrowheads="1"/>
          </p:cNvSpPr>
          <p:nvPr>
            <p:ph idx="1"/>
          </p:nvPr>
        </p:nvSpPr>
        <p:spPr>
          <a:xfrm>
            <a:off x="838200" y="1825624"/>
            <a:ext cx="10527792" cy="4364863"/>
          </a:xfrm>
        </p:spPr>
        <p:txBody>
          <a:bodyPr/>
          <a:lstStyle/>
          <a:p>
            <a:r>
              <a:rPr lang="en-US" dirty="0"/>
              <a:t>Relationship:</a:t>
            </a:r>
          </a:p>
          <a:p>
            <a:pPr>
              <a:buFontTx/>
              <a:buNone/>
            </a:pPr>
            <a:endParaRPr lang="en-US" dirty="0"/>
          </a:p>
          <a:p>
            <a:pPr lvl="1"/>
            <a:r>
              <a:rPr lang="en-CA" b="1" i="1" dirty="0">
                <a:solidFill>
                  <a:srgbClr val="000000"/>
                </a:solidFill>
                <a:latin typeface="Helvetica" pitchFamily="34" charset="0"/>
                <a:cs typeface="Times New Roman" pitchFamily="18" charset="0"/>
              </a:rPr>
              <a:t>LOC = Language Factor * FP </a:t>
            </a:r>
          </a:p>
          <a:p>
            <a:pPr lvl="1"/>
            <a:endParaRPr lang="en-CA" dirty="0">
              <a:solidFill>
                <a:srgbClr val="000000"/>
              </a:solidFill>
              <a:latin typeface="Helvetica" pitchFamily="34" charset="0"/>
              <a:cs typeface="Times New Roman" pitchFamily="18" charset="0"/>
            </a:endParaRPr>
          </a:p>
          <a:p>
            <a:pPr lvl="1"/>
            <a:r>
              <a:rPr lang="en-CA" dirty="0">
                <a:solidFill>
                  <a:srgbClr val="000000"/>
                </a:solidFill>
                <a:latin typeface="Helvetica" pitchFamily="34" charset="0"/>
                <a:cs typeface="Times New Roman" pitchFamily="18" charset="0"/>
              </a:rPr>
              <a:t>where</a:t>
            </a:r>
            <a:endParaRPr lang="en-US" dirty="0"/>
          </a:p>
          <a:p>
            <a:pPr lvl="2"/>
            <a:r>
              <a:rPr lang="en-US" b="1" dirty="0"/>
              <a:t>LOC</a:t>
            </a:r>
            <a:r>
              <a:rPr lang="en-US" dirty="0"/>
              <a:t> (Lines of Code)</a:t>
            </a:r>
          </a:p>
          <a:p>
            <a:pPr lvl="2"/>
            <a:r>
              <a:rPr lang="en-US" b="1" dirty="0"/>
              <a:t>FP</a:t>
            </a:r>
            <a:r>
              <a:rPr lang="en-US" dirty="0"/>
              <a:t> (Function Points)</a:t>
            </a:r>
          </a:p>
        </p:txBody>
      </p:sp>
      <p:graphicFrame>
        <p:nvGraphicFramePr>
          <p:cNvPr id="5" name="Object 4"/>
          <p:cNvGraphicFramePr>
            <a:graphicFrameLocks noChangeAspect="1"/>
          </p:cNvGraphicFramePr>
          <p:nvPr>
            <p:extLst>
              <p:ext uri="{D42A27DB-BD31-4B8C-83A1-F6EECF244321}">
                <p14:modId xmlns:p14="http://schemas.microsoft.com/office/powerpoint/2010/main" val="1214442123"/>
              </p:ext>
            </p:extLst>
          </p:nvPr>
        </p:nvGraphicFramePr>
        <p:xfrm>
          <a:off x="6722936" y="1690688"/>
          <a:ext cx="4405312" cy="3494088"/>
        </p:xfrm>
        <a:graphic>
          <a:graphicData uri="http://schemas.openxmlformats.org/presentationml/2006/ole">
            <mc:AlternateContent xmlns:mc="http://schemas.openxmlformats.org/markup-compatibility/2006">
              <mc:Choice xmlns:v="urn:schemas-microsoft-com:vml" Requires="v">
                <p:oleObj spid="_x0000_s4187" name="Bitmap Image" r:id="rId3" imgW="5152381" imgH="4086795" progId="PBrush">
                  <p:embed/>
                </p:oleObj>
              </mc:Choice>
              <mc:Fallback>
                <p:oleObj name="Bitmap Image" r:id="rId3" imgW="5152381" imgH="4086795" progId="PBrush">
                  <p:embed/>
                  <p:pic>
                    <p:nvPicPr>
                      <p:cNvPr id="35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2936" y="1690688"/>
                        <a:ext cx="4405312" cy="349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06AAA8BD-D267-4C4E-B16C-9A3CB850B983}" type="slidenum">
              <a:rPr lang="en-US" smtClean="0"/>
              <a:t>39</a:t>
            </a:fld>
            <a:endParaRPr lang="en-US"/>
          </a:p>
        </p:txBody>
      </p:sp>
    </p:spTree>
    <p:extLst>
      <p:ext uri="{BB962C8B-B14F-4D97-AF65-F5344CB8AC3E}">
        <p14:creationId xmlns:p14="http://schemas.microsoft.com/office/powerpoint/2010/main" val="3460101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Relation between LOC and FP</a:t>
            </a:r>
          </a:p>
        </p:txBody>
      </p:sp>
      <p:sp>
        <p:nvSpPr>
          <p:cNvPr id="3" name="Content Placeholder 2"/>
          <p:cNvSpPr>
            <a:spLocks noGrp="1"/>
          </p:cNvSpPr>
          <p:nvPr>
            <p:ph idx="1"/>
          </p:nvPr>
        </p:nvSpPr>
        <p:spPr/>
        <p:txBody>
          <a:bodyPr>
            <a:normAutofit lnSpcReduction="10000"/>
          </a:bodyPr>
          <a:lstStyle/>
          <a:p>
            <a:pPr marL="533400" indent="-533400">
              <a:buFontTx/>
              <a:buNone/>
            </a:pPr>
            <a:r>
              <a:rPr lang="en-US" dirty="0">
                <a:latin typeface="Times New Roman" panose="02020603050405020304" pitchFamily="18" charset="0"/>
                <a:cs typeface="Times New Roman" panose="02020603050405020304" pitchFamily="18" charset="0"/>
              </a:rPr>
              <a:t>Assuming LOC’s per FP for: </a:t>
            </a:r>
          </a:p>
          <a:p>
            <a:pPr marL="533400" indent="-533400">
              <a:buFontTx/>
              <a:buNone/>
            </a:pPr>
            <a:r>
              <a:rPr lang="en-US" b="1" i="1" dirty="0">
                <a:latin typeface="Times New Roman" panose="02020603050405020304" pitchFamily="18" charset="0"/>
                <a:cs typeface="Times New Roman" panose="02020603050405020304" pitchFamily="18" charset="0"/>
              </a:rPr>
              <a:t>	Java = 53</a:t>
            </a:r>
            <a:r>
              <a:rPr lang="en-US" i="1" dirty="0">
                <a:latin typeface="Times New Roman" panose="02020603050405020304" pitchFamily="18" charset="0"/>
                <a:cs typeface="Times New Roman" panose="02020603050405020304" pitchFamily="18" charset="0"/>
              </a:rPr>
              <a:t>, </a:t>
            </a:r>
          </a:p>
          <a:p>
            <a:pPr marL="533400" indent="-533400">
              <a:buFontTx/>
              <a:buNone/>
            </a:pPr>
            <a:r>
              <a:rPr lang="en-US" b="1" i="1" dirty="0">
                <a:latin typeface="Times New Roman" panose="02020603050405020304" pitchFamily="18" charset="0"/>
                <a:cs typeface="Times New Roman" panose="02020603050405020304" pitchFamily="18" charset="0"/>
              </a:rPr>
              <a:t>	C++ = 64</a:t>
            </a:r>
            <a:endParaRPr lang="en-US" dirty="0">
              <a:latin typeface="Times New Roman" panose="02020603050405020304" pitchFamily="18" charset="0"/>
              <a:cs typeface="Times New Roman" panose="02020603050405020304" pitchFamily="18" charset="0"/>
            </a:endParaRPr>
          </a:p>
          <a:p>
            <a:pPr marL="533400" indent="-533400">
              <a:buFontTx/>
              <a:buNone/>
            </a:pPr>
            <a:r>
              <a:rPr lang="en-CA" b="1" dirty="0">
                <a:latin typeface="Times New Roman" panose="02020603050405020304" pitchFamily="18" charset="0"/>
                <a:cs typeface="Times New Roman" panose="02020603050405020304" pitchFamily="18" charset="0"/>
              </a:rPr>
              <a:t> </a:t>
            </a:r>
            <a:endParaRPr lang="en-CA" dirty="0">
              <a:latin typeface="Times New Roman" panose="02020603050405020304" pitchFamily="18" charset="0"/>
              <a:cs typeface="Times New Roman" panose="02020603050405020304" pitchFamily="18" charset="0"/>
            </a:endParaRPr>
          </a:p>
          <a:p>
            <a:pPr marL="533400" indent="-533400">
              <a:buFontTx/>
              <a:buNone/>
            </a:pPr>
            <a:r>
              <a:rPr lang="en-CA" b="1" i="1" dirty="0">
                <a:latin typeface="Times New Roman" panose="02020603050405020304" pitchFamily="18" charset="0"/>
                <a:cs typeface="Times New Roman" panose="02020603050405020304" pitchFamily="18" charset="0"/>
              </a:rPr>
              <a:t>	</a:t>
            </a:r>
            <a:r>
              <a:rPr lang="en-CA" b="1" i="1" dirty="0" err="1">
                <a:latin typeface="Times New Roman" panose="02020603050405020304" pitchFamily="18" charset="0"/>
                <a:cs typeface="Times New Roman" panose="02020603050405020304" pitchFamily="18" charset="0"/>
              </a:rPr>
              <a:t>aKLOC</a:t>
            </a:r>
            <a:r>
              <a:rPr lang="en-CA" b="1" i="1" dirty="0">
                <a:latin typeface="Times New Roman" panose="02020603050405020304" pitchFamily="18" charset="0"/>
                <a:cs typeface="Times New Roman" panose="02020603050405020304" pitchFamily="18" charset="0"/>
              </a:rPr>
              <a:t> = FP * </a:t>
            </a:r>
            <a:r>
              <a:rPr lang="en-CA" b="1" i="1" dirty="0" err="1">
                <a:latin typeface="Times New Roman" panose="02020603050405020304" pitchFamily="18" charset="0"/>
                <a:cs typeface="Times New Roman" panose="02020603050405020304" pitchFamily="18" charset="0"/>
              </a:rPr>
              <a:t>LOC_per_FP</a:t>
            </a:r>
            <a:r>
              <a:rPr lang="en-CA" b="1" i="1" dirty="0">
                <a:latin typeface="Times New Roman" panose="02020603050405020304" pitchFamily="18" charset="0"/>
                <a:cs typeface="Times New Roman" panose="02020603050405020304" pitchFamily="18" charset="0"/>
              </a:rPr>
              <a:t>  / 1000</a:t>
            </a:r>
          </a:p>
          <a:p>
            <a:pPr marL="533400" indent="-533400">
              <a:buFontTx/>
              <a:buNone/>
            </a:pPr>
            <a:endParaRPr lang="en-CA" b="1" i="1" dirty="0">
              <a:latin typeface="Times New Roman" panose="02020603050405020304" pitchFamily="18" charset="0"/>
              <a:cs typeface="Times New Roman" panose="02020603050405020304" pitchFamily="18" charset="0"/>
            </a:endParaRPr>
          </a:p>
          <a:p>
            <a:pPr marL="533400" indent="-533400">
              <a:buFontTx/>
              <a:buNone/>
            </a:pPr>
            <a:r>
              <a:rPr lang="en-CA" dirty="0">
                <a:latin typeface="Times New Roman" panose="02020603050405020304" pitchFamily="18" charset="0"/>
                <a:cs typeface="Times New Roman" panose="02020603050405020304" pitchFamily="18" charset="0"/>
              </a:rPr>
              <a:t>It means for the </a:t>
            </a:r>
            <a:r>
              <a:rPr lang="en-CA" dirty="0" err="1">
                <a:latin typeface="Times New Roman" panose="02020603050405020304" pitchFamily="18" charset="0"/>
                <a:cs typeface="Times New Roman" panose="02020603050405020304" pitchFamily="18" charset="0"/>
              </a:rPr>
              <a:t>SpellChekcer</a:t>
            </a:r>
            <a:r>
              <a:rPr lang="en-CA" dirty="0">
                <a:latin typeface="Times New Roman" panose="02020603050405020304" pitchFamily="18" charset="0"/>
                <a:cs typeface="Times New Roman" panose="02020603050405020304" pitchFamily="18" charset="0"/>
              </a:rPr>
              <a:t> Example: (Java)</a:t>
            </a:r>
          </a:p>
          <a:p>
            <a:pPr marL="533400" indent="-533400">
              <a:buFontTx/>
              <a:buNone/>
            </a:pPr>
            <a:endParaRPr lang="en-CA" dirty="0">
              <a:latin typeface="Times New Roman" panose="02020603050405020304" pitchFamily="18" charset="0"/>
              <a:cs typeface="Times New Roman" panose="02020603050405020304" pitchFamily="18" charset="0"/>
            </a:endParaRPr>
          </a:p>
          <a:p>
            <a:pPr marL="533400" indent="-533400">
              <a:buFontTx/>
              <a:buNone/>
            </a:pPr>
            <a:r>
              <a:rPr lang="en-CA" b="1" dirty="0">
                <a:latin typeface="Times New Roman" panose="02020603050405020304" pitchFamily="18" charset="0"/>
                <a:cs typeface="Times New Roman" panose="02020603050405020304" pitchFamily="18" charset="0"/>
              </a:rPr>
              <a:t>	LOC=52.25*53=2769.25 LOC  or 2.76 KLOC</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40</a:t>
            </a:fld>
            <a:endParaRPr lang="en-US"/>
          </a:p>
        </p:txBody>
      </p:sp>
    </p:spTree>
    <p:extLst>
      <p:ext uri="{BB962C8B-B14F-4D97-AF65-F5344CB8AC3E}">
        <p14:creationId xmlns:p14="http://schemas.microsoft.com/office/powerpoint/2010/main" val="1903049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IFPUG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International Function Point User Group meets regularly to discuss FPs and their applications, and they publish guidelines with counting rules.</a:t>
            </a:r>
          </a:p>
          <a:p>
            <a:r>
              <a:rPr lang="en-US" dirty="0">
                <a:latin typeface="Times New Roman" panose="02020603050405020304" pitchFamily="18" charset="0"/>
                <a:cs typeface="Times New Roman" panose="02020603050405020304" pitchFamily="18" charset="0"/>
              </a:rPr>
              <a:t>Please visit </a:t>
            </a:r>
            <a:r>
              <a:rPr lang="en-US" dirty="0">
                <a:latin typeface="Times New Roman" panose="02020603050405020304" pitchFamily="18" charset="0"/>
                <a:cs typeface="Times New Roman" panose="02020603050405020304" pitchFamily="18" charset="0"/>
                <a:hlinkClick r:id="rId2"/>
              </a:rPr>
              <a:t>https://ifpug.org/</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06AAA8BD-D267-4C4E-B16C-9A3CB850B983}" type="slidenum">
              <a:rPr lang="en-US" smtClean="0"/>
              <a:t>41</a:t>
            </a:fld>
            <a:endParaRPr lang="en-US"/>
          </a:p>
        </p:txBody>
      </p:sp>
    </p:spTree>
    <p:extLst>
      <p:ext uri="{BB962C8B-B14F-4D97-AF65-F5344CB8AC3E}">
        <p14:creationId xmlns:p14="http://schemas.microsoft.com/office/powerpoint/2010/main" val="19732792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FB7B5-3498-411D-826F-90E450F6E92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COCOMO I</a:t>
            </a:r>
          </a:p>
        </p:txBody>
      </p:sp>
      <p:sp>
        <p:nvSpPr>
          <p:cNvPr id="3" name="Content Placeholder 2">
            <a:extLst>
              <a:ext uri="{FF2B5EF4-FFF2-40B4-BE49-F238E27FC236}">
                <a16:creationId xmlns:a16="http://schemas.microsoft.com/office/drawing/2014/main" id="{0BF16D0E-8B08-42F5-818B-5AFF79B52B38}"/>
              </a:ext>
            </a:extLst>
          </p:cNvPr>
          <p:cNvSpPr>
            <a:spLocks noGrp="1"/>
          </p:cNvSpPr>
          <p:nvPr>
            <p:ph idx="1"/>
          </p:nvPr>
        </p:nvSpPr>
        <p:spPr/>
        <p:txBody>
          <a:bodyPr/>
          <a:lstStyle/>
          <a:p>
            <a:pPr algn="just"/>
            <a:r>
              <a:rPr lang="en-US" b="1" dirty="0" err="1">
                <a:latin typeface="Times New Roman" panose="02020603050405020304" pitchFamily="18" charset="0"/>
                <a:cs typeface="Times New Roman" panose="02020603050405020304" pitchFamily="18" charset="0"/>
              </a:rPr>
              <a:t>COnstructive</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COst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MOdel</a:t>
            </a:r>
            <a:r>
              <a:rPr lang="en-US" dirty="0">
                <a:latin typeface="Times New Roman" panose="02020603050405020304" pitchFamily="18" charset="0"/>
                <a:cs typeface="Times New Roman" panose="02020603050405020304" pitchFamily="18" charset="0"/>
              </a:rPr>
              <a:t> was introduced by </a:t>
            </a:r>
            <a:r>
              <a:rPr lang="en-US" b="1" dirty="0">
                <a:latin typeface="Times New Roman" panose="02020603050405020304" pitchFamily="18" charset="0"/>
                <a:cs typeface="Times New Roman" panose="02020603050405020304" pitchFamily="18" charset="0"/>
              </a:rPr>
              <a:t>Dr. Barry Boehm</a:t>
            </a:r>
          </a:p>
          <a:p>
            <a:pPr algn="just"/>
            <a:r>
              <a:rPr lang="en-US" dirty="0">
                <a:latin typeface="Times New Roman" panose="02020603050405020304" pitchFamily="18" charset="0"/>
                <a:cs typeface="Times New Roman" panose="02020603050405020304" pitchFamily="18" charset="0"/>
              </a:rPr>
              <a:t>Software projects under COCOMO model strategies are classified into 3 categories, </a:t>
            </a:r>
            <a:r>
              <a:rPr lang="en-US" b="1" dirty="0">
                <a:latin typeface="Times New Roman" panose="02020603050405020304" pitchFamily="18" charset="0"/>
                <a:cs typeface="Times New Roman" panose="02020603050405020304" pitchFamily="18" charset="0"/>
              </a:rPr>
              <a:t>organic, semi-detached, and embedded</a:t>
            </a:r>
          </a:p>
          <a:p>
            <a:pPr algn="just"/>
            <a:r>
              <a:rPr lang="en-US" b="1" dirty="0">
                <a:latin typeface="Times New Roman" panose="02020603050405020304" pitchFamily="18" charset="0"/>
                <a:cs typeface="Times New Roman" panose="02020603050405020304" pitchFamily="18" charset="0"/>
              </a:rPr>
              <a:t>Organic</a:t>
            </a:r>
            <a:r>
              <a:rPr lang="en-US" dirty="0">
                <a:latin typeface="Times New Roman" panose="02020603050405020304" pitchFamily="18" charset="0"/>
                <a:cs typeface="Times New Roman" panose="02020603050405020304" pitchFamily="18" charset="0"/>
              </a:rPr>
              <a:t>: A software project is said to be an organic type if-</a:t>
            </a:r>
          </a:p>
          <a:p>
            <a:pPr lvl="1" algn="just"/>
            <a:r>
              <a:rPr lang="en-US" dirty="0">
                <a:latin typeface="Times New Roman" panose="02020603050405020304" pitchFamily="18" charset="0"/>
                <a:cs typeface="Times New Roman" panose="02020603050405020304" pitchFamily="18" charset="0"/>
              </a:rPr>
              <a:t>Project is small and simple.</a:t>
            </a:r>
          </a:p>
          <a:p>
            <a:pPr lvl="1" algn="just"/>
            <a:r>
              <a:rPr lang="en-US" dirty="0">
                <a:latin typeface="Times New Roman" panose="02020603050405020304" pitchFamily="18" charset="0"/>
                <a:cs typeface="Times New Roman" panose="02020603050405020304" pitchFamily="18" charset="0"/>
              </a:rPr>
              <a:t>Project team is small with prior experience.</a:t>
            </a:r>
          </a:p>
          <a:p>
            <a:pPr lvl="1" algn="just"/>
            <a:r>
              <a:rPr lang="en-US" dirty="0">
                <a:latin typeface="Times New Roman" panose="02020603050405020304" pitchFamily="18" charset="0"/>
                <a:cs typeface="Times New Roman" panose="02020603050405020304" pitchFamily="18" charset="0"/>
              </a:rPr>
              <a:t>The  problem is well understood and has been solved in the past.</a:t>
            </a:r>
          </a:p>
          <a:p>
            <a:pPr lvl="1" algn="just"/>
            <a:r>
              <a:rPr lang="en-US" dirty="0">
                <a:latin typeface="Times New Roman" panose="02020603050405020304" pitchFamily="18" charset="0"/>
                <a:cs typeface="Times New Roman" panose="02020603050405020304" pitchFamily="18" charset="0"/>
              </a:rPr>
              <a:t>Requirements of projects are not rigid, such a mode example is payroll processing system.</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42</a:t>
            </a:fld>
            <a:endParaRPr lang="en-US"/>
          </a:p>
        </p:txBody>
      </p:sp>
    </p:spTree>
    <p:extLst>
      <p:ext uri="{BB962C8B-B14F-4D97-AF65-F5344CB8AC3E}">
        <p14:creationId xmlns:p14="http://schemas.microsoft.com/office/powerpoint/2010/main" val="179493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428EB-F58F-4500-80C6-E89C3D5A978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COCOMO I</a:t>
            </a:r>
          </a:p>
        </p:txBody>
      </p:sp>
      <p:sp>
        <p:nvSpPr>
          <p:cNvPr id="3" name="Content Placeholder 2">
            <a:extLst>
              <a:ext uri="{FF2B5EF4-FFF2-40B4-BE49-F238E27FC236}">
                <a16:creationId xmlns:a16="http://schemas.microsoft.com/office/drawing/2014/main" id="{74ADCBBC-61E3-4196-A2E0-7B2CEF6D04E2}"/>
              </a:ext>
            </a:extLst>
          </p:cNvPr>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Semi-Detached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Mode:</a:t>
            </a:r>
            <a:r>
              <a:rPr lang="en-US" dirty="0">
                <a:latin typeface="Times New Roman" panose="02020603050405020304" pitchFamily="18" charset="0"/>
                <a:cs typeface="Times New Roman" panose="02020603050405020304" pitchFamily="18" charset="0"/>
              </a:rPr>
              <a:t>  A software project is said to be a Semi-Detached type if-</a:t>
            </a:r>
          </a:p>
          <a:p>
            <a:pPr lvl="1" algn="just"/>
            <a:r>
              <a:rPr lang="en-US" dirty="0">
                <a:latin typeface="Times New Roman" panose="02020603050405020304" pitchFamily="18" charset="0"/>
                <a:cs typeface="Times New Roman" panose="02020603050405020304" pitchFamily="18" charset="0"/>
              </a:rPr>
              <a:t>Project has complexity.</a:t>
            </a:r>
          </a:p>
          <a:p>
            <a:pPr lvl="1" algn="just"/>
            <a:r>
              <a:rPr lang="en-US" dirty="0">
                <a:latin typeface="Times New Roman" panose="02020603050405020304" pitchFamily="18" charset="0"/>
                <a:cs typeface="Times New Roman" panose="02020603050405020304" pitchFamily="18" charset="0"/>
              </a:rPr>
              <a:t>Project team requires more experience, better guidance, and creativity.</a:t>
            </a:r>
          </a:p>
          <a:p>
            <a:pPr lvl="1" algn="just"/>
            <a:r>
              <a:rPr lang="en-US" dirty="0">
                <a:latin typeface="Times New Roman" panose="02020603050405020304" pitchFamily="18" charset="0"/>
                <a:cs typeface="Times New Roman" panose="02020603050405020304" pitchFamily="18" charset="0"/>
              </a:rPr>
              <a:t>The  project has an intermediate size and has mixed rigid requirements such a mode example is a transaction processing system which has fixed requirements.</a:t>
            </a:r>
          </a:p>
          <a:p>
            <a:pPr lvl="1" algn="just"/>
            <a:r>
              <a:rPr lang="en-US" dirty="0">
                <a:latin typeface="Times New Roman" panose="02020603050405020304" pitchFamily="18" charset="0"/>
                <a:cs typeface="Times New Roman" panose="02020603050405020304" pitchFamily="18" charset="0"/>
              </a:rPr>
              <a:t>It also includes the elements of organic mode and embedded mode.</a:t>
            </a:r>
          </a:p>
          <a:p>
            <a:pPr lvl="1" algn="just"/>
            <a:r>
              <a:rPr lang="en-US" dirty="0">
                <a:latin typeface="Times New Roman" panose="02020603050405020304" pitchFamily="18" charset="0"/>
                <a:cs typeface="Times New Roman" panose="02020603050405020304" pitchFamily="18" charset="0"/>
              </a:rPr>
              <a:t>Few such projects are- Database Management System(DBMS), new unknown operating system, difficult inventory management system</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43</a:t>
            </a:fld>
            <a:endParaRPr lang="en-US"/>
          </a:p>
        </p:txBody>
      </p:sp>
    </p:spTree>
    <p:extLst>
      <p:ext uri="{BB962C8B-B14F-4D97-AF65-F5344CB8AC3E}">
        <p14:creationId xmlns:p14="http://schemas.microsoft.com/office/powerpoint/2010/main" val="9434275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D0FB7-7484-4D7C-88AB-E7AEE43DC1B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COCOMO I</a:t>
            </a:r>
          </a:p>
        </p:txBody>
      </p:sp>
      <p:sp>
        <p:nvSpPr>
          <p:cNvPr id="3" name="Content Placeholder 2">
            <a:extLst>
              <a:ext uri="{FF2B5EF4-FFF2-40B4-BE49-F238E27FC236}">
                <a16:creationId xmlns:a16="http://schemas.microsoft.com/office/drawing/2014/main" id="{CF6C74FF-6319-41AE-961C-4272BD00A986}"/>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Embedded Mode: </a:t>
            </a:r>
            <a:r>
              <a:rPr lang="en-US" dirty="0">
                <a:latin typeface="Times New Roman" panose="02020603050405020304" pitchFamily="18" charset="0"/>
                <a:cs typeface="Times New Roman" panose="02020603050405020304" pitchFamily="18" charset="0"/>
              </a:rPr>
              <a:t>A software project is said to be an Embedded mode type if-</a:t>
            </a:r>
          </a:p>
          <a:p>
            <a:pPr lvl="1"/>
            <a:r>
              <a:rPr lang="en-US" dirty="0">
                <a:latin typeface="Times New Roman" panose="02020603050405020304" pitchFamily="18" charset="0"/>
                <a:cs typeface="Times New Roman" panose="02020603050405020304" pitchFamily="18" charset="0"/>
              </a:rPr>
              <a:t>A software project has fixed requirements of resources .</a:t>
            </a:r>
          </a:p>
          <a:p>
            <a:pPr lvl="1"/>
            <a:r>
              <a:rPr lang="en-US" dirty="0">
                <a:latin typeface="Times New Roman" panose="02020603050405020304" pitchFamily="18" charset="0"/>
                <a:cs typeface="Times New Roman" panose="02020603050405020304" pitchFamily="18" charset="0"/>
              </a:rPr>
              <a:t>Product is developed within very tight constraints.</a:t>
            </a:r>
          </a:p>
          <a:p>
            <a:pPr lvl="1"/>
            <a:r>
              <a:rPr lang="en-US" dirty="0">
                <a:latin typeface="Times New Roman" panose="02020603050405020304" pitchFamily="18" charset="0"/>
                <a:cs typeface="Times New Roman" panose="02020603050405020304" pitchFamily="18" charset="0"/>
              </a:rPr>
              <a:t>A software project requiring the highest level of complexity, creativity, and experience requirement fall under this category.</a:t>
            </a:r>
          </a:p>
          <a:p>
            <a:pPr lvl="1"/>
            <a:r>
              <a:rPr lang="en-US" dirty="0">
                <a:latin typeface="Times New Roman" panose="02020603050405020304" pitchFamily="18" charset="0"/>
                <a:cs typeface="Times New Roman" panose="02020603050405020304" pitchFamily="18" charset="0"/>
              </a:rPr>
              <a:t>Such mode software requires a larger team size than the other two models.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44</a:t>
            </a:fld>
            <a:endParaRPr lang="en-US"/>
          </a:p>
        </p:txBody>
      </p:sp>
    </p:spTree>
    <p:extLst>
      <p:ext uri="{BB962C8B-B14F-4D97-AF65-F5344CB8AC3E}">
        <p14:creationId xmlns:p14="http://schemas.microsoft.com/office/powerpoint/2010/main" val="40509295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2A90D-B46C-4D15-A5A0-0298EE13F93D}"/>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Types of COCOMO Models</a:t>
            </a:r>
          </a:p>
        </p:txBody>
      </p:sp>
      <p:sp>
        <p:nvSpPr>
          <p:cNvPr id="3" name="Content Placeholder 2">
            <a:extLst>
              <a:ext uri="{FF2B5EF4-FFF2-40B4-BE49-F238E27FC236}">
                <a16:creationId xmlns:a16="http://schemas.microsoft.com/office/drawing/2014/main" id="{1B76CBC9-7A39-444D-8E43-2F4035427C94}"/>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COCOMO consists of a hierarchy of three increasingly detailed and accurate forms. Any of the three forms can be adapted according to our requirements. These are types of COCOMO model:</a:t>
            </a:r>
          </a:p>
          <a:p>
            <a:pPr lvl="1" algn="just"/>
            <a:r>
              <a:rPr lang="en-US" dirty="0">
                <a:latin typeface="Times New Roman" panose="02020603050405020304" pitchFamily="18" charset="0"/>
                <a:cs typeface="Times New Roman" panose="02020603050405020304" pitchFamily="18" charset="0"/>
              </a:rPr>
              <a:t>Basic COCOMO Model</a:t>
            </a:r>
          </a:p>
          <a:p>
            <a:pPr lvl="1" algn="just"/>
            <a:r>
              <a:rPr lang="en-US" dirty="0">
                <a:latin typeface="Times New Roman" panose="02020603050405020304" pitchFamily="18" charset="0"/>
                <a:cs typeface="Times New Roman" panose="02020603050405020304" pitchFamily="18" charset="0"/>
              </a:rPr>
              <a:t>Intermediate COCOMO Model</a:t>
            </a:r>
          </a:p>
          <a:p>
            <a:pPr lvl="1" algn="just"/>
            <a:r>
              <a:rPr lang="en-US" dirty="0">
                <a:latin typeface="Times New Roman" panose="02020603050405020304" pitchFamily="18" charset="0"/>
                <a:cs typeface="Times New Roman" panose="02020603050405020304" pitchFamily="18" charset="0"/>
              </a:rPr>
              <a:t>Detailed COCOMO Model</a:t>
            </a:r>
          </a:p>
          <a:p>
            <a:pPr marL="0" indent="0"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45</a:t>
            </a:fld>
            <a:endParaRPr lang="en-US"/>
          </a:p>
        </p:txBody>
      </p:sp>
    </p:spTree>
    <p:extLst>
      <p:ext uri="{BB962C8B-B14F-4D97-AF65-F5344CB8AC3E}">
        <p14:creationId xmlns:p14="http://schemas.microsoft.com/office/powerpoint/2010/main" val="763633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CD8B-A52B-47CA-BE27-E5A5109A279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Basic COCOMO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F9E944-2BD5-41D2-9497-3F0110696576}"/>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first level, Basic COCOMO can be used for quick and slightly rough calculations of Software Costs. </a:t>
                </a:r>
              </a:p>
              <a:p>
                <a:pPr algn="just"/>
                <a:r>
                  <a:rPr lang="en-US" dirty="0">
                    <a:latin typeface="Times New Roman" panose="02020603050405020304" pitchFamily="18" charset="0"/>
                    <a:cs typeface="Times New Roman" panose="02020603050405020304" pitchFamily="18" charset="0"/>
                  </a:rPr>
                  <a:t>This is because the model solely considers based on lines of source code together with constant values obtained from software project types rather than other factors which have major influences on the Software development process as a whole.</a:t>
                </a:r>
              </a:p>
              <a:p>
                <a:pPr algn="just"/>
                <a:r>
                  <a:rPr lang="en-US" dirty="0">
                    <a:latin typeface="Times New Roman" panose="02020603050405020304" pitchFamily="18" charset="0"/>
                    <a:cs typeface="Times New Roman" panose="02020603050405020304" pitchFamily="18" charset="0"/>
                  </a:rPr>
                  <a:t>The basic COCOMO estimation model is given by the following expressions:</a:t>
                </a:r>
              </a:p>
              <a:p>
                <a:pPr lvl="1" algn="just"/>
                <a14:m>
                  <m:oMath xmlns:m="http://schemas.openxmlformats.org/officeDocument/2006/math">
                    <m:r>
                      <a:rPr lang="en-US" b="0" i="1" dirty="0" smtClean="0">
                        <a:latin typeface="Cambria Math" panose="02040503050406030204" pitchFamily="18" charset="0"/>
                      </a:rPr>
                      <m:t>𝐸𝑓𝑓𝑜𝑟𝑡</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𝐾𝐿𝑂𝐶</m:t>
                            </m:r>
                          </m:e>
                        </m:d>
                      </m:e>
                      <m:sup>
                        <m:r>
                          <a:rPr lang="en-US" b="0" i="1" dirty="0" smtClean="0">
                            <a:latin typeface="Cambria Math" panose="02040503050406030204" pitchFamily="18" charset="0"/>
                          </a:rPr>
                          <m:t>𝑏</m:t>
                        </m:r>
                      </m:sup>
                    </m:sSup>
                  </m:oMath>
                </a14:m>
                <a:endParaRPr lang="en-US" b="0" i="1" dirty="0">
                  <a:latin typeface="Times New Roman" panose="02020603050405020304" pitchFamily="18" charset="0"/>
                  <a:cs typeface="Times New Roman" panose="02020603050405020304" pitchFamily="18" charset="0"/>
                </a:endParaRPr>
              </a:p>
              <a:p>
                <a:pPr lvl="1" algn="just"/>
                <a14:m>
                  <m:oMath xmlns:m="http://schemas.openxmlformats.org/officeDocument/2006/math">
                    <m:r>
                      <a:rPr lang="en-US" b="0" i="1" dirty="0" smtClean="0">
                        <a:latin typeface="Cambria Math" panose="02040503050406030204" pitchFamily="18" charset="0"/>
                      </a:rPr>
                      <m:t>𝐷𝑢𝑟𝑎𝑡𝑖𝑜𝑛</m:t>
                    </m:r>
                    <m:r>
                      <a:rPr lang="en-US" i="1" dirty="0">
                        <a:latin typeface="Cambria Math" panose="02040503050406030204" pitchFamily="18" charset="0"/>
                      </a:rPr>
                      <m:t>=</m:t>
                    </m:r>
                    <m:r>
                      <a:rPr lang="en-US" b="0" i="1" dirty="0" smtClean="0">
                        <a:latin typeface="Cambria Math" panose="02040503050406030204" pitchFamily="18" charset="0"/>
                      </a:rPr>
                      <m:t>𝑐</m:t>
                    </m:r>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a:rPr lang="en-US" b="0" i="1" dirty="0" smtClean="0">
                                <a:latin typeface="Cambria Math" panose="02040503050406030204" pitchFamily="18" charset="0"/>
                              </a:rPr>
                              <m:t>𝐸𝑓𝑓𝑜𝑟𝑡</m:t>
                            </m:r>
                          </m:e>
                        </m:d>
                      </m:e>
                      <m:sup>
                        <m:r>
                          <a:rPr lang="en-US" b="0" i="1" dirty="0" smtClean="0">
                            <a:latin typeface="Cambria Math" panose="02040503050406030204" pitchFamily="18" charset="0"/>
                          </a:rPr>
                          <m:t>𝑑</m:t>
                        </m:r>
                      </m:sup>
                    </m:sSup>
                  </m:oMath>
                </a14:m>
                <a:endParaRPr lang="en-US" i="1" dirty="0">
                  <a:latin typeface="Times New Roman" panose="02020603050405020304" pitchFamily="18" charset="0"/>
                  <a:cs typeface="Times New Roman" panose="02020603050405020304" pitchFamily="18" charset="0"/>
                </a:endParaRPr>
              </a:p>
              <a:p>
                <a:pPr lvl="1" algn="just"/>
                <a14:m>
                  <m:oMath xmlns:m="http://schemas.openxmlformats.org/officeDocument/2006/math">
                    <m:r>
                      <a:rPr lang="en-US" b="0" i="1" dirty="0" smtClean="0">
                        <a:latin typeface="Cambria Math" panose="02040503050406030204" pitchFamily="18" charset="0"/>
                      </a:rPr>
                      <m:t>𝑃𝑒𝑟𝑠𝑜𝑛</m:t>
                    </m:r>
                    <m:r>
                      <a:rPr lang="en-US" b="0" i="1" dirty="0" smtClean="0">
                        <a:latin typeface="Cambria Math" panose="02040503050406030204" pitchFamily="18" charset="0"/>
                      </a:rPr>
                      <m:t> </m:t>
                    </m:r>
                    <m:r>
                      <a:rPr lang="en-US" b="0" i="1" dirty="0" smtClean="0">
                        <a:latin typeface="Cambria Math" panose="02040503050406030204" pitchFamily="18" charset="0"/>
                      </a:rPr>
                      <m:t>𝑅𝑒𝑞𝑢𝑖𝑟𝑒𝑑</m:t>
                    </m:r>
                    <m:r>
                      <a:rPr lang="en-US" i="1" dirty="0">
                        <a:latin typeface="Cambria Math" panose="02040503050406030204" pitchFamily="18" charset="0"/>
                      </a:rPr>
                      <m:t>=</m:t>
                    </m:r>
                    <m:r>
                      <a:rPr lang="en-US" b="0" i="1" dirty="0" smtClean="0">
                        <a:latin typeface="Cambria Math" panose="02040503050406030204" pitchFamily="18" charset="0"/>
                      </a:rPr>
                      <m:t>𝐸𝑓𝑓𝑜𝑟𝑡</m:t>
                    </m:r>
                    <m:r>
                      <a:rPr lang="en-US" b="0" i="1" dirty="0" smtClean="0">
                        <a:latin typeface="Cambria Math" panose="02040503050406030204" pitchFamily="18" charset="0"/>
                      </a:rPr>
                      <m:t>/</m:t>
                    </m:r>
                    <m:r>
                      <a:rPr lang="en-US" b="0" i="1" dirty="0" smtClean="0">
                        <a:latin typeface="Cambria Math" panose="02040503050406030204" pitchFamily="18" charset="0"/>
                      </a:rPr>
                      <m:t>𝐷𝑢𝑟𝑎𝑡𝑖𝑜𝑛</m:t>
                    </m:r>
                  </m:oMath>
                </a14:m>
                <a:endParaRPr lang="en-US"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4AF9E944-2BD5-41D2-9497-3F0110696576}"/>
                  </a:ext>
                </a:extLst>
              </p:cNvPr>
              <p:cNvSpPr>
                <a:spLocks noGrp="1" noRot="1" noChangeAspect="1" noMove="1" noResize="1" noEditPoints="1" noAdjustHandles="1" noChangeArrowheads="1" noChangeShapeType="1" noTextEdit="1"/>
              </p:cNvSpPr>
              <p:nvPr>
                <p:ph idx="1"/>
              </p:nvPr>
            </p:nvSpPr>
            <p:spPr>
              <a:blipFill>
                <a:blip r:embed="rId2"/>
                <a:stretch>
                  <a:fillRect l="-1043" t="-3361" r="-1159" b="-84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6AAA8BD-D267-4C4E-B16C-9A3CB850B983}" type="slidenum">
              <a:rPr lang="en-US" smtClean="0"/>
              <a:t>46</a:t>
            </a:fld>
            <a:endParaRPr lang="en-US"/>
          </a:p>
        </p:txBody>
      </p:sp>
    </p:spTree>
    <p:extLst>
      <p:ext uri="{BB962C8B-B14F-4D97-AF65-F5344CB8AC3E}">
        <p14:creationId xmlns:p14="http://schemas.microsoft.com/office/powerpoint/2010/main" val="2926885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F0179-145B-4A34-A63F-3D94B57A82B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Basic COCOMO Model</a:t>
            </a:r>
          </a:p>
        </p:txBody>
      </p:sp>
      <p:sp>
        <p:nvSpPr>
          <p:cNvPr id="3" name="Content Placeholder 2">
            <a:extLst>
              <a:ext uri="{FF2B5EF4-FFF2-40B4-BE49-F238E27FC236}">
                <a16:creationId xmlns:a16="http://schemas.microsoft.com/office/drawing/2014/main" id="{3A3514B5-51EA-4890-828B-AAEDCA4940B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values for a, b, c, and d differ depending on which mode you are using</a:t>
            </a:r>
          </a:p>
          <a:p>
            <a:endParaRPr lang="en-US" dirty="0"/>
          </a:p>
        </p:txBody>
      </p:sp>
      <p:graphicFrame>
        <p:nvGraphicFramePr>
          <p:cNvPr id="5" name="Group 4">
            <a:extLst>
              <a:ext uri="{FF2B5EF4-FFF2-40B4-BE49-F238E27FC236}">
                <a16:creationId xmlns:a16="http://schemas.microsoft.com/office/drawing/2014/main" id="{2B6DD024-A76A-4925-9DD3-8332FA8CD329}"/>
              </a:ext>
            </a:extLst>
          </p:cNvPr>
          <p:cNvGraphicFramePr>
            <a:graphicFrameLocks noGrp="1"/>
          </p:cNvGraphicFramePr>
          <p:nvPr>
            <p:extLst>
              <p:ext uri="{D42A27DB-BD31-4B8C-83A1-F6EECF244321}">
                <p14:modId xmlns:p14="http://schemas.microsoft.com/office/powerpoint/2010/main" val="3228731301"/>
              </p:ext>
            </p:extLst>
          </p:nvPr>
        </p:nvGraphicFramePr>
        <p:xfrm>
          <a:off x="2486296" y="2767150"/>
          <a:ext cx="7110550" cy="2039982"/>
        </p:xfrm>
        <a:graphic>
          <a:graphicData uri="http://schemas.openxmlformats.org/drawingml/2006/table">
            <a:tbl>
              <a:tblPr/>
              <a:tblGrid>
                <a:gridCol w="3730043">
                  <a:extLst>
                    <a:ext uri="{9D8B030D-6E8A-4147-A177-3AD203B41FA5}">
                      <a16:colId xmlns:a16="http://schemas.microsoft.com/office/drawing/2014/main" val="20000"/>
                    </a:ext>
                  </a:extLst>
                </a:gridCol>
                <a:gridCol w="932094">
                  <a:extLst>
                    <a:ext uri="{9D8B030D-6E8A-4147-A177-3AD203B41FA5}">
                      <a16:colId xmlns:a16="http://schemas.microsoft.com/office/drawing/2014/main" val="20001"/>
                    </a:ext>
                  </a:extLst>
                </a:gridCol>
                <a:gridCol w="817247">
                  <a:extLst>
                    <a:ext uri="{9D8B030D-6E8A-4147-A177-3AD203B41FA5}">
                      <a16:colId xmlns:a16="http://schemas.microsoft.com/office/drawing/2014/main" val="20002"/>
                    </a:ext>
                  </a:extLst>
                </a:gridCol>
                <a:gridCol w="813919">
                  <a:extLst>
                    <a:ext uri="{9D8B030D-6E8A-4147-A177-3AD203B41FA5}">
                      <a16:colId xmlns:a16="http://schemas.microsoft.com/office/drawing/2014/main" val="20003"/>
                    </a:ext>
                  </a:extLst>
                </a:gridCol>
                <a:gridCol w="817247">
                  <a:extLst>
                    <a:ext uri="{9D8B030D-6E8A-4147-A177-3AD203B41FA5}">
                      <a16:colId xmlns:a16="http://schemas.microsoft.com/office/drawing/2014/main" val="20004"/>
                    </a:ext>
                  </a:extLst>
                </a:gridCol>
              </a:tblGrid>
              <a:tr h="518226">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Mode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7252">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Organic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1.05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0.38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7252">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Semi-detached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1.12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0.35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7252">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Embedded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dirty="0">
                          <a:ln>
                            <a:noFill/>
                          </a:ln>
                          <a:solidFill>
                            <a:schemeClr val="tx1"/>
                          </a:solidFill>
                          <a:effectLst/>
                          <a:latin typeface="Arial" charset="0"/>
                        </a:rPr>
                        <a:t>0.32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fld id="{06AAA8BD-D267-4C4E-B16C-9A3CB850B983}" type="slidenum">
              <a:rPr lang="en-US" smtClean="0"/>
              <a:t>47</a:t>
            </a:fld>
            <a:endParaRPr lang="en-US"/>
          </a:p>
        </p:txBody>
      </p:sp>
    </p:spTree>
    <p:extLst>
      <p:ext uri="{BB962C8B-B14F-4D97-AF65-F5344CB8AC3E}">
        <p14:creationId xmlns:p14="http://schemas.microsoft.com/office/powerpoint/2010/main" val="14898058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0C6D4-047C-4C4A-9D86-4790BA921AC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Basic COCOMO model</a:t>
            </a:r>
          </a:p>
        </p:txBody>
      </p:sp>
      <p:sp>
        <p:nvSpPr>
          <p:cNvPr id="3" name="Content Placeholder 2">
            <a:extLst>
              <a:ext uri="{FF2B5EF4-FFF2-40B4-BE49-F238E27FC236}">
                <a16:creationId xmlns:a16="http://schemas.microsoft.com/office/drawing/2014/main" id="{A615C3EA-40B9-4AF2-8642-F72733950913}"/>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 Consider a software project using semi-detached mode with 300 </a:t>
            </a:r>
            <a:r>
              <a:rPr lang="en-US" dirty="0" err="1">
                <a:latin typeface="Times New Roman" panose="02020603050405020304" pitchFamily="18" charset="0"/>
                <a:cs typeface="Times New Roman" panose="02020603050405020304" pitchFamily="18" charset="0"/>
              </a:rPr>
              <a:t>Kloc</a:t>
            </a:r>
            <a:r>
              <a:rPr lang="en-US" dirty="0">
                <a:latin typeface="Times New Roman" panose="02020603050405020304" pitchFamily="18" charset="0"/>
                <a:cs typeface="Times New Roman" panose="02020603050405020304" pitchFamily="18" charset="0"/>
              </a:rPr>
              <a:t> .find out effort estimation, development time, and person estimation.</a:t>
            </a:r>
          </a:p>
          <a:p>
            <a:r>
              <a:rPr lang="en-US" b="1" dirty="0">
                <a:latin typeface="Times New Roman" panose="02020603050405020304" pitchFamily="18" charset="0"/>
                <a:cs typeface="Times New Roman" panose="02020603050405020304" pitchFamily="18" charset="0"/>
              </a:rPr>
              <a:t>Solution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Effort (E) =</a:t>
            </a:r>
            <a:r>
              <a:rPr lang="en-US" dirty="0">
                <a:latin typeface="Times New Roman" panose="02020603050405020304" pitchFamily="18" charset="0"/>
                <a:cs typeface="Times New Roman" panose="02020603050405020304" pitchFamily="18" charset="0"/>
              </a:rPr>
              <a:t> a*(KLOC</a:t>
            </a:r>
            <a:r>
              <a:rPr lang="en-US" altLang="tr-TR" dirty="0">
                <a:latin typeface="Times New Roman" panose="02020603050405020304" pitchFamily="18" charset="0"/>
                <a:cs typeface="Times New Roman" panose="02020603050405020304" pitchFamily="18" charset="0"/>
              </a:rPr>
              <a:t>)</a:t>
            </a:r>
            <a:r>
              <a:rPr lang="en-US" altLang="tr-TR" baseline="30000"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 3.0*(300)</a:t>
            </a:r>
            <a:r>
              <a:rPr lang="en-US" b="1" baseline="30000" dirty="0">
                <a:latin typeface="Times New Roman" panose="02020603050405020304" pitchFamily="18" charset="0"/>
                <a:cs typeface="Times New Roman" panose="02020603050405020304" pitchFamily="18" charset="0"/>
              </a:rPr>
              <a:t>1.12</a:t>
            </a:r>
            <a:r>
              <a:rPr lang="en-US" dirty="0">
                <a:latin typeface="Times New Roman" panose="02020603050405020304" pitchFamily="18" charset="0"/>
                <a:cs typeface="Times New Roman" panose="02020603050405020304" pitchFamily="18" charset="0"/>
              </a:rPr>
              <a:t> = 1784.42 PM</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Development Time (D) =</a:t>
            </a:r>
            <a:r>
              <a:rPr lang="en-US" dirty="0">
                <a:latin typeface="Times New Roman" panose="02020603050405020304" pitchFamily="18" charset="0"/>
                <a:cs typeface="Times New Roman" panose="02020603050405020304" pitchFamily="18" charset="0"/>
              </a:rPr>
              <a:t> c*</a:t>
            </a:r>
            <a:r>
              <a:rPr lang="en-US" i="1" dirty="0">
                <a:latin typeface="Times New Roman" panose="02020603050405020304" pitchFamily="18" charset="0"/>
                <a:cs typeface="Times New Roman" panose="02020603050405020304" pitchFamily="18" charset="0"/>
              </a:rPr>
              <a:t>(E)</a:t>
            </a:r>
            <a:r>
              <a:rPr lang="en-US" altLang="tr-TR" i="1" baseline="30000" dirty="0">
                <a:latin typeface="Times New Roman" panose="02020603050405020304" pitchFamily="18" charset="0"/>
                <a:cs typeface="Times New Roman" panose="02020603050405020304" pitchFamily="18" charset="0"/>
              </a:rPr>
              <a:t>d</a:t>
            </a:r>
            <a:r>
              <a:rPr lang="en-US" i="1" dirty="0">
                <a:latin typeface="Times New Roman" panose="02020603050405020304" pitchFamily="18" charset="0"/>
                <a:cs typeface="Times New Roman" panose="02020603050405020304" pitchFamily="18" charset="0"/>
              </a:rPr>
              <a:t> = 2.5</a:t>
            </a:r>
            <a:r>
              <a:rPr lang="en-US" dirty="0">
                <a:latin typeface="Times New Roman" panose="02020603050405020304" pitchFamily="18" charset="0"/>
                <a:cs typeface="Times New Roman" panose="02020603050405020304" pitchFamily="18" charset="0"/>
              </a:rPr>
              <a:t>(1784.42</a:t>
            </a:r>
            <a:r>
              <a:rPr lang="en-US" altLang="tr-TR" dirty="0">
                <a:latin typeface="Times New Roman" panose="02020603050405020304" pitchFamily="18" charset="0"/>
                <a:cs typeface="Times New Roman" panose="02020603050405020304" pitchFamily="18" charset="0"/>
              </a:rPr>
              <a:t>)</a:t>
            </a:r>
            <a:r>
              <a:rPr lang="en-US" altLang="tr-TR" baseline="30000" dirty="0">
                <a:latin typeface="Times New Roman" panose="02020603050405020304" pitchFamily="18" charset="0"/>
                <a:cs typeface="Times New Roman" panose="02020603050405020304" pitchFamily="18" charset="0"/>
              </a:rPr>
              <a:t>0.35</a:t>
            </a:r>
            <a:r>
              <a:rPr lang="en-US" dirty="0">
                <a:latin typeface="Times New Roman" panose="02020603050405020304" pitchFamily="18" charset="0"/>
                <a:cs typeface="Times New Roman" panose="02020603050405020304" pitchFamily="18" charset="0"/>
              </a:rPr>
              <a:t> = 34.35 Months(M)</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Person Required (P) = E/D =</a:t>
            </a:r>
            <a:r>
              <a:rPr lang="en-US" dirty="0">
                <a:latin typeface="Times New Roman" panose="02020603050405020304" pitchFamily="18" charset="0"/>
                <a:cs typeface="Times New Roman" panose="02020603050405020304" pitchFamily="18" charset="0"/>
              </a:rPr>
              <a:t> 1784.42/34.35 = 51.9481 Persons ~52 Persons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48</a:t>
            </a:fld>
            <a:endParaRPr lang="en-US"/>
          </a:p>
        </p:txBody>
      </p:sp>
    </p:spTree>
    <p:extLst>
      <p:ext uri="{BB962C8B-B14F-4D97-AF65-F5344CB8AC3E}">
        <p14:creationId xmlns:p14="http://schemas.microsoft.com/office/powerpoint/2010/main" val="16406556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416FA-4985-43B1-A729-AF7E90F6E3F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Intermediate COCOMO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FB85C7-97B3-4884-95A6-61D6A5B90DF7}"/>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Intermediate COCOMO model is an extension of the Basic COCOMO model which includes a set of cost drivers into account in order to enhance more accuracy to the cost estimation model as a result.</a:t>
                </a:r>
              </a:p>
              <a:p>
                <a:r>
                  <a:rPr lang="en-US" dirty="0">
                    <a:latin typeface="Times New Roman" panose="02020603050405020304" pitchFamily="18" charset="0"/>
                    <a:cs typeface="Times New Roman" panose="02020603050405020304" pitchFamily="18" charset="0"/>
                  </a:rPr>
                  <a:t>The estimation model makes use of a set of “cost driver attributes” to compute the cost of the software.</a:t>
                </a:r>
              </a:p>
              <a:p>
                <a:r>
                  <a:rPr lang="en-US" dirty="0">
                    <a:latin typeface="Times New Roman" panose="02020603050405020304" pitchFamily="18" charset="0"/>
                    <a:cs typeface="Times New Roman" panose="02020603050405020304" pitchFamily="18" charset="0"/>
                  </a:rPr>
                  <a:t>The estimated effort and scheduled time are given by the relationship:</a:t>
                </a:r>
              </a:p>
              <a:p>
                <a:pPr lvl="1"/>
                <a14:m>
                  <m:oMath xmlns:m="http://schemas.openxmlformats.org/officeDocument/2006/math">
                    <m:r>
                      <a:rPr lang="en-US" i="1" dirty="0">
                        <a:latin typeface="Cambria Math" panose="02040503050406030204" pitchFamily="18" charset="0"/>
                      </a:rPr>
                      <m:t>𝐸𝑓𝑓𝑜𝑟𝑡</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r>
                      <a:rPr lang="en-US" i="1" dirty="0">
                        <a:latin typeface="Cambria Math" panose="02040503050406030204" pitchFamily="18" charset="0"/>
                      </a:rPr>
                      <m:t>=</m:t>
                    </m:r>
                    <m:r>
                      <a:rPr lang="en-US" i="1" dirty="0">
                        <a:latin typeface="Cambria Math" panose="02040503050406030204" pitchFamily="18" charset="0"/>
                      </a:rPr>
                      <m:t>𝑎</m:t>
                    </m:r>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a:rPr lang="en-US" i="1" dirty="0">
                                <a:latin typeface="Cambria Math" panose="02040503050406030204" pitchFamily="18" charset="0"/>
                              </a:rPr>
                              <m:t>𝐾𝐿𝑂𝐶</m:t>
                            </m:r>
                          </m:e>
                        </m:d>
                      </m:e>
                      <m:sup>
                        <m:r>
                          <a:rPr lang="en-US" i="1" dirty="0">
                            <a:latin typeface="Cambria Math" panose="02040503050406030204" pitchFamily="18" charset="0"/>
                          </a:rPr>
                          <m:t>𝑏</m:t>
                        </m:r>
                      </m:sup>
                    </m:sSup>
                    <m:r>
                      <a:rPr lang="en-US" b="0" i="1" dirty="0" smtClean="0">
                        <a:latin typeface="Cambria Math" panose="02040503050406030204" pitchFamily="18" charset="0"/>
                      </a:rPr>
                      <m:t>∗</m:t>
                    </m:r>
                    <m:r>
                      <a:rPr lang="en-US" b="0" i="1" dirty="0" smtClean="0">
                        <a:latin typeface="Cambria Math" panose="02040503050406030204" pitchFamily="18" charset="0"/>
                      </a:rPr>
                      <m:t>𝐸𝐴𝐹</m:t>
                    </m:r>
                  </m:oMath>
                </a14:m>
                <a:endParaRPr lang="en-US" i="1" dirty="0">
                  <a:latin typeface="Times New Roman" panose="02020603050405020304" pitchFamily="18" charset="0"/>
                  <a:cs typeface="Times New Roman" panose="02020603050405020304" pitchFamily="18" charset="0"/>
                </a:endParaRPr>
              </a:p>
              <a:p>
                <a:pPr lvl="1"/>
                <a14:m>
                  <m:oMath xmlns:m="http://schemas.openxmlformats.org/officeDocument/2006/math">
                    <m:r>
                      <a:rPr lang="en-US" i="1" dirty="0">
                        <a:latin typeface="Cambria Math" panose="02040503050406030204" pitchFamily="18" charset="0"/>
                      </a:rPr>
                      <m:t>𝐷𝑢𝑟𝑎𝑡𝑖𝑜𝑛</m:t>
                    </m:r>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r>
                              <a:rPr lang="en-US" b="0" i="1" dirty="0" smtClean="0">
                                <a:latin typeface="Cambria Math" panose="02040503050406030204" pitchFamily="18" charset="0"/>
                              </a:rPr>
                              <m:t>𝐸𝑓𝑓𝑜𝑟𝑡</m:t>
                            </m:r>
                          </m:e>
                        </m:d>
                      </m:e>
                      <m:sup>
                        <m:r>
                          <a:rPr lang="en-US" i="1" dirty="0">
                            <a:latin typeface="Cambria Math" panose="02040503050406030204" pitchFamily="18" charset="0"/>
                          </a:rPr>
                          <m:t>𝑑</m:t>
                        </m:r>
                      </m:sup>
                    </m:sSup>
                  </m:oMath>
                </a14:m>
                <a:endParaRPr lang="en-US" i="1" dirty="0">
                  <a:latin typeface="Times New Roman" panose="02020603050405020304" pitchFamily="18" charset="0"/>
                  <a:cs typeface="Times New Roman" panose="02020603050405020304" pitchFamily="18" charset="0"/>
                </a:endParaRPr>
              </a:p>
              <a:p>
                <a:pPr lvl="1"/>
                <a14:m>
                  <m:oMath xmlns:m="http://schemas.openxmlformats.org/officeDocument/2006/math">
                    <m:r>
                      <a:rPr lang="en-US" i="1" dirty="0">
                        <a:latin typeface="Cambria Math" panose="02040503050406030204" pitchFamily="18" charset="0"/>
                      </a:rPr>
                      <m:t>𝑃𝑒𝑟𝑠𝑜𝑛</m:t>
                    </m:r>
                    <m:r>
                      <a:rPr lang="en-US" i="1" dirty="0">
                        <a:latin typeface="Cambria Math" panose="02040503050406030204" pitchFamily="18" charset="0"/>
                      </a:rPr>
                      <m:t> </m:t>
                    </m:r>
                    <m:r>
                      <a:rPr lang="en-US" i="1" dirty="0">
                        <a:latin typeface="Cambria Math" panose="02040503050406030204" pitchFamily="18" charset="0"/>
                      </a:rPr>
                      <m:t>𝑅𝑒𝑞𝑢𝑖𝑟𝑒𝑑</m:t>
                    </m:r>
                    <m:r>
                      <a:rPr lang="en-US" i="1" dirty="0">
                        <a:latin typeface="Cambria Math" panose="02040503050406030204" pitchFamily="18" charset="0"/>
                      </a:rPr>
                      <m:t>=</m:t>
                    </m:r>
                    <m:r>
                      <a:rPr lang="en-US" i="1" dirty="0">
                        <a:latin typeface="Cambria Math" panose="02040503050406030204" pitchFamily="18" charset="0"/>
                      </a:rPr>
                      <m:t>𝐸𝑓𝑓𝑜𝑟𝑡</m:t>
                    </m:r>
                    <m:r>
                      <a:rPr lang="en-US" i="1" dirty="0">
                        <a:latin typeface="Cambria Math" panose="02040503050406030204" pitchFamily="18" charset="0"/>
                      </a:rPr>
                      <m:t>/</m:t>
                    </m:r>
                    <m:r>
                      <a:rPr lang="en-US" i="1" dirty="0">
                        <a:latin typeface="Cambria Math" panose="02040503050406030204" pitchFamily="18" charset="0"/>
                      </a:rPr>
                      <m:t>𝐷𝑢𝑟𝑎𝑡𝑖𝑜𝑛</m:t>
                    </m:r>
                  </m:oMath>
                </a14:m>
                <a:endParaRPr lang="en-US" dirty="0">
                  <a:latin typeface="Times New Roman" panose="02020603050405020304" pitchFamily="18" charset="0"/>
                  <a:cs typeface="Times New Roman" panose="02020603050405020304" pitchFamily="18" charset="0"/>
                </a:endParaRPr>
              </a:p>
              <a:p>
                <a14:m>
                  <m:oMath xmlns:m="http://schemas.openxmlformats.org/officeDocument/2006/math">
                    <m:r>
                      <a:rPr lang="en-US" i="1" dirty="0">
                        <a:latin typeface="Cambria Math" panose="02040503050406030204" pitchFamily="18" charset="0"/>
                      </a:rPr>
                      <m:t>𝐸𝐴𝐹</m:t>
                    </m:r>
                  </m:oMath>
                </a14:m>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It is an Effort Adjustment Factor, which is calculated by multiplying the parameter values of different cost driver parameters. For ideal, the value is 1.</a:t>
                </a:r>
              </a:p>
            </p:txBody>
          </p:sp>
        </mc:Choice>
        <mc:Fallback>
          <p:sp>
            <p:nvSpPr>
              <p:cNvPr id="3" name="Content Placeholder 2">
                <a:extLst>
                  <a:ext uri="{FF2B5EF4-FFF2-40B4-BE49-F238E27FC236}">
                    <a16:creationId xmlns:a16="http://schemas.microsoft.com/office/drawing/2014/main" id="{93FB85C7-97B3-4884-95A6-61D6A5B90DF7}"/>
                  </a:ext>
                </a:extLst>
              </p:cNvPr>
              <p:cNvSpPr>
                <a:spLocks noGrp="1" noRot="1" noChangeAspect="1" noMove="1" noResize="1" noEditPoints="1" noAdjustHandles="1" noChangeArrowheads="1" noChangeShapeType="1" noTextEdit="1"/>
              </p:cNvSpPr>
              <p:nvPr>
                <p:ph idx="1"/>
              </p:nvPr>
            </p:nvSpPr>
            <p:spPr>
              <a:blipFill>
                <a:blip r:embed="rId2"/>
                <a:stretch>
                  <a:fillRect l="-928" t="-3782" r="-104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6AAA8BD-D267-4C4E-B16C-9A3CB850B983}" type="slidenum">
              <a:rPr lang="en-US" smtClean="0"/>
              <a:t>49</a:t>
            </a:fld>
            <a:endParaRPr lang="en-US"/>
          </a:p>
        </p:txBody>
      </p:sp>
    </p:spTree>
    <p:extLst>
      <p:ext uri="{BB962C8B-B14F-4D97-AF65-F5344CB8AC3E}">
        <p14:creationId xmlns:p14="http://schemas.microsoft.com/office/powerpoint/2010/main" val="281176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A2C2B-3EFA-4782-9D9D-8339319E7E9F}"/>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Classification of Cost Drivers and their Attributes</a:t>
            </a:r>
          </a:p>
        </p:txBody>
      </p:sp>
      <p:sp>
        <p:nvSpPr>
          <p:cNvPr id="3" name="Content Placeholder 2">
            <a:extLst>
              <a:ext uri="{FF2B5EF4-FFF2-40B4-BE49-F238E27FC236}">
                <a16:creationId xmlns:a16="http://schemas.microsoft.com/office/drawing/2014/main" id="{AA0BCF29-3DC7-4374-B815-325161805219}"/>
              </a:ext>
            </a:extLst>
          </p:cNvPr>
          <p:cNvSpPr>
            <a:spLocks noGrp="1"/>
          </p:cNvSpPr>
          <p:nvPr>
            <p:ph idx="1"/>
          </p:nvPr>
        </p:nvSpPr>
        <p:spPr>
          <a:xfrm>
            <a:off x="838200" y="1825625"/>
            <a:ext cx="4709160" cy="4351338"/>
          </a:xfrm>
        </p:spPr>
        <p:txBody>
          <a:bodyPr>
            <a:normAutofit fontScale="92500"/>
          </a:bodyPr>
          <a:lstStyle/>
          <a:p>
            <a:r>
              <a:rPr lang="en-US" b="1" dirty="0">
                <a:latin typeface="Times New Roman" panose="02020603050405020304" pitchFamily="18" charset="0"/>
                <a:cs typeface="Times New Roman" panose="02020603050405020304" pitchFamily="18" charset="0"/>
              </a:rPr>
              <a:t>Product attributes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Required software reliability extent</a:t>
            </a:r>
          </a:p>
          <a:p>
            <a:pPr lvl="1"/>
            <a:r>
              <a:rPr lang="en-US" dirty="0">
                <a:latin typeface="Times New Roman" panose="02020603050405020304" pitchFamily="18" charset="0"/>
                <a:cs typeface="Times New Roman" panose="02020603050405020304" pitchFamily="18" charset="0"/>
              </a:rPr>
              <a:t>Size of the application database</a:t>
            </a:r>
          </a:p>
          <a:p>
            <a:pPr lvl="1"/>
            <a:r>
              <a:rPr lang="en-US" dirty="0">
                <a:latin typeface="Times New Roman" panose="02020603050405020304" pitchFamily="18" charset="0"/>
                <a:cs typeface="Times New Roman" panose="02020603050405020304" pitchFamily="18" charset="0"/>
              </a:rPr>
              <a:t>The complexity of the product</a:t>
            </a:r>
          </a:p>
          <a:p>
            <a:r>
              <a:rPr lang="en-US" b="1" dirty="0">
                <a:latin typeface="Times New Roman" panose="02020603050405020304" pitchFamily="18" charset="0"/>
                <a:cs typeface="Times New Roman" panose="02020603050405020304" pitchFamily="18" charset="0"/>
              </a:rPr>
              <a:t>Hardware attributes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Run-time performance constraints</a:t>
            </a:r>
          </a:p>
          <a:p>
            <a:pPr lvl="1"/>
            <a:r>
              <a:rPr lang="en-US" dirty="0">
                <a:latin typeface="Times New Roman" panose="02020603050405020304" pitchFamily="18" charset="0"/>
                <a:cs typeface="Times New Roman" panose="02020603050405020304" pitchFamily="18" charset="0"/>
              </a:rPr>
              <a:t>Memory constraints</a:t>
            </a:r>
          </a:p>
          <a:p>
            <a:pPr lvl="1"/>
            <a:r>
              <a:rPr lang="en-US" dirty="0">
                <a:latin typeface="Times New Roman" panose="02020603050405020304" pitchFamily="18" charset="0"/>
                <a:cs typeface="Times New Roman" panose="02020603050405020304" pitchFamily="18" charset="0"/>
              </a:rPr>
              <a:t>The volatility of the virtual machine environment</a:t>
            </a:r>
          </a:p>
          <a:p>
            <a:pPr lvl="1"/>
            <a:r>
              <a:rPr lang="en-US" dirty="0">
                <a:latin typeface="Times New Roman" panose="02020603050405020304" pitchFamily="18" charset="0"/>
                <a:cs typeface="Times New Roman" panose="02020603050405020304" pitchFamily="18" charset="0"/>
              </a:rPr>
              <a:t>Required turnabout time</a:t>
            </a: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F6F6E590-34BD-4211-AC10-6ED0FD61E849}"/>
              </a:ext>
            </a:extLst>
          </p:cNvPr>
          <p:cNvSpPr txBox="1">
            <a:spLocks/>
          </p:cNvSpPr>
          <p:nvPr/>
        </p:nvSpPr>
        <p:spPr>
          <a:xfrm>
            <a:off x="5797731" y="1835513"/>
            <a:ext cx="4709160"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Personal attributes –</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Analyst capability</a:t>
            </a:r>
          </a:p>
          <a:p>
            <a:pPr lvl="1"/>
            <a:r>
              <a:rPr lang="en-US" dirty="0">
                <a:latin typeface="Times New Roman" panose="02020603050405020304" pitchFamily="18" charset="0"/>
                <a:cs typeface="Times New Roman" panose="02020603050405020304" pitchFamily="18" charset="0"/>
              </a:rPr>
              <a:t>Software engineering capability</a:t>
            </a:r>
          </a:p>
          <a:p>
            <a:pPr lvl="1"/>
            <a:r>
              <a:rPr lang="en-US" dirty="0">
                <a:latin typeface="Times New Roman" panose="02020603050405020304" pitchFamily="18" charset="0"/>
                <a:cs typeface="Times New Roman" panose="02020603050405020304" pitchFamily="18" charset="0"/>
              </a:rPr>
              <a:t>Applications experience</a:t>
            </a:r>
          </a:p>
          <a:p>
            <a:pPr lvl="1"/>
            <a:r>
              <a:rPr lang="en-US" dirty="0">
                <a:latin typeface="Times New Roman" panose="02020603050405020304" pitchFamily="18" charset="0"/>
                <a:cs typeface="Times New Roman" panose="02020603050405020304" pitchFamily="18" charset="0"/>
              </a:rPr>
              <a:t>Virtual machine experience</a:t>
            </a:r>
          </a:p>
          <a:p>
            <a:pPr lvl="1"/>
            <a:r>
              <a:rPr lang="en-US" dirty="0">
                <a:latin typeface="Times New Roman" panose="02020603050405020304" pitchFamily="18" charset="0"/>
                <a:cs typeface="Times New Roman" panose="02020603050405020304" pitchFamily="18" charset="0"/>
              </a:rPr>
              <a:t>Programming language experience</a:t>
            </a:r>
          </a:p>
          <a:p>
            <a:r>
              <a:rPr lang="en-US" b="1" dirty="0">
                <a:latin typeface="Times New Roman" panose="02020603050405020304" pitchFamily="18" charset="0"/>
                <a:cs typeface="Times New Roman" panose="02020603050405020304" pitchFamily="18" charset="0"/>
              </a:rPr>
              <a:t>Project attributes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Use of software tools</a:t>
            </a:r>
          </a:p>
          <a:p>
            <a:pPr lvl="1"/>
            <a:r>
              <a:rPr lang="en-US" dirty="0">
                <a:latin typeface="Times New Roman" panose="02020603050405020304" pitchFamily="18" charset="0"/>
                <a:cs typeface="Times New Roman" panose="02020603050405020304" pitchFamily="18" charset="0"/>
              </a:rPr>
              <a:t>Application of software engineering methods</a:t>
            </a:r>
          </a:p>
          <a:p>
            <a:pPr lvl="1"/>
            <a:r>
              <a:rPr lang="en-US" dirty="0">
                <a:latin typeface="Times New Roman" panose="02020603050405020304" pitchFamily="18" charset="0"/>
                <a:cs typeface="Times New Roman" panose="02020603050405020304" pitchFamily="18" charset="0"/>
              </a:rPr>
              <a:t>Required development schedule</a:t>
            </a: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06AAA8BD-D267-4C4E-B16C-9A3CB850B983}" type="slidenum">
              <a:rPr lang="en-US" smtClean="0"/>
              <a:t>50</a:t>
            </a:fld>
            <a:endParaRPr lang="en-US"/>
          </a:p>
        </p:txBody>
      </p:sp>
    </p:spTree>
    <p:extLst>
      <p:ext uri="{BB962C8B-B14F-4D97-AF65-F5344CB8AC3E}">
        <p14:creationId xmlns:p14="http://schemas.microsoft.com/office/powerpoint/2010/main" val="1362110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76F81-3D02-4A36-A598-21160DDB717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Cost Drivers and Ratings</a:t>
            </a:r>
          </a:p>
        </p:txBody>
      </p:sp>
      <p:pic>
        <p:nvPicPr>
          <p:cNvPr id="4" name="Content Placeholder 3">
            <a:extLst>
              <a:ext uri="{FF2B5EF4-FFF2-40B4-BE49-F238E27FC236}">
                <a16:creationId xmlns:a16="http://schemas.microsoft.com/office/drawing/2014/main" id="{1A70F0C3-04DB-499D-B928-A22A521C86E0}"/>
              </a:ext>
            </a:extLst>
          </p:cNvPr>
          <p:cNvPicPr>
            <a:picLocks noGrp="1" noChangeAspect="1"/>
          </p:cNvPicPr>
          <p:nvPr>
            <p:ph idx="1"/>
          </p:nvPr>
        </p:nvPicPr>
        <p:blipFill>
          <a:blip r:embed="rId2"/>
          <a:stretch>
            <a:fillRect/>
          </a:stretch>
        </p:blipFill>
        <p:spPr>
          <a:xfrm>
            <a:off x="3139928" y="1825625"/>
            <a:ext cx="5912144" cy="4351338"/>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t>51</a:t>
            </a:fld>
            <a:endParaRPr lang="en-US"/>
          </a:p>
        </p:txBody>
      </p:sp>
    </p:spTree>
    <p:extLst>
      <p:ext uri="{BB962C8B-B14F-4D97-AF65-F5344CB8AC3E}">
        <p14:creationId xmlns:p14="http://schemas.microsoft.com/office/powerpoint/2010/main" val="5786125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86806-7EDE-497C-A6DD-AD2EC12B3DB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Cost Drivers and Ratings</a:t>
            </a:r>
          </a:p>
        </p:txBody>
      </p:sp>
      <p:pic>
        <p:nvPicPr>
          <p:cNvPr id="4" name="Content Placeholder 3">
            <a:extLst>
              <a:ext uri="{FF2B5EF4-FFF2-40B4-BE49-F238E27FC236}">
                <a16:creationId xmlns:a16="http://schemas.microsoft.com/office/drawing/2014/main" id="{7293054B-BAA7-4921-BB39-32778F525533}"/>
              </a:ext>
            </a:extLst>
          </p:cNvPr>
          <p:cNvPicPr>
            <a:picLocks noGrp="1" noChangeAspect="1"/>
          </p:cNvPicPr>
          <p:nvPr>
            <p:ph idx="1"/>
          </p:nvPr>
        </p:nvPicPr>
        <p:blipFill>
          <a:blip r:embed="rId2"/>
          <a:stretch>
            <a:fillRect/>
          </a:stretch>
        </p:blipFill>
        <p:spPr>
          <a:xfrm>
            <a:off x="3329635" y="1825625"/>
            <a:ext cx="5544399" cy="4360516"/>
          </a:xfrm>
          <a:prstGeom prst="rect">
            <a:avLst/>
          </a:prstGeom>
        </p:spPr>
      </p:pic>
      <p:sp>
        <p:nvSpPr>
          <p:cNvPr id="3" name="Slide Number Placeholder 2"/>
          <p:cNvSpPr>
            <a:spLocks noGrp="1"/>
          </p:cNvSpPr>
          <p:nvPr>
            <p:ph type="sldNum" sz="quarter" idx="12"/>
          </p:nvPr>
        </p:nvSpPr>
        <p:spPr/>
        <p:txBody>
          <a:bodyPr/>
          <a:lstStyle/>
          <a:p>
            <a:fld id="{06AAA8BD-D267-4C4E-B16C-9A3CB850B983}" type="slidenum">
              <a:rPr lang="en-US" smtClean="0"/>
              <a:t>52</a:t>
            </a:fld>
            <a:endParaRPr lang="en-US"/>
          </a:p>
        </p:txBody>
      </p:sp>
    </p:spTree>
    <p:extLst>
      <p:ext uri="{BB962C8B-B14F-4D97-AF65-F5344CB8AC3E}">
        <p14:creationId xmlns:p14="http://schemas.microsoft.com/office/powerpoint/2010/main" val="13892729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A41A4-96D5-450F-9273-5CFC956BD7A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90651807-0DDA-43F3-812A-33FCB8D0D08E}"/>
              </a:ext>
            </a:extLst>
          </p:cNvPr>
          <p:cNvSpPr>
            <a:spLocks noGrp="1"/>
          </p:cNvSpPr>
          <p:nvPr>
            <p:ph idx="1"/>
          </p:nvPr>
        </p:nvSpPr>
        <p:spPr/>
        <p:txBody>
          <a:bodyPr>
            <a:normAutofit lnSpcReduction="10000"/>
          </a:bodyPr>
          <a:lstStyle/>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For a given project was estimated with a size of 300 KLOC. Calculate the Effort, Scheduled time for development by considering developer having high application experience and very low experience in programming.</a:t>
            </a:r>
          </a:p>
          <a:p>
            <a:r>
              <a:rPr lang="en-US" b="1" dirty="0">
                <a:latin typeface="Times New Roman" panose="02020603050405020304" pitchFamily="18" charset="0"/>
                <a:cs typeface="Times New Roman" panose="02020603050405020304" pitchFamily="18" charset="0"/>
              </a:rPr>
              <a:t>Ans: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Given the estimated size of the project is: 300 KLOC</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Developer having highly application experience: 0.82 (as per above table)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Developer having very low experience in programming: 1.14(as per above table)</a:t>
            </a:r>
          </a:p>
          <a:p>
            <a:pPr lvl="1"/>
            <a:r>
              <a:rPr lang="en-US" dirty="0">
                <a:latin typeface="Times New Roman" panose="02020603050405020304" pitchFamily="18" charset="0"/>
                <a:cs typeface="Times New Roman" panose="02020603050405020304" pitchFamily="18" charset="0"/>
              </a:rPr>
              <a:t>EAF = 0.82*1.14 = 0.9348</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Effort (E) = a*(KLOC)</a:t>
            </a:r>
            <a:r>
              <a:rPr lang="en-US" baseline="30000" dirty="0">
                <a:latin typeface="Times New Roman" panose="02020603050405020304" pitchFamily="18" charset="0"/>
                <a:cs typeface="Times New Roman" panose="02020603050405020304" pitchFamily="18" charset="0"/>
              </a:rPr>
              <a:t>b </a:t>
            </a:r>
            <a:r>
              <a:rPr lang="en-US" dirty="0">
                <a:latin typeface="Times New Roman" panose="02020603050405020304" pitchFamily="18" charset="0"/>
                <a:cs typeface="Times New Roman" panose="02020603050405020304" pitchFamily="18" charset="0"/>
              </a:rPr>
              <a:t>*EAF = 3.0*(300)</a:t>
            </a:r>
            <a:r>
              <a:rPr lang="en-US" baseline="30000" dirty="0">
                <a:latin typeface="Times New Roman" panose="02020603050405020304" pitchFamily="18" charset="0"/>
                <a:cs typeface="Times New Roman" panose="02020603050405020304" pitchFamily="18" charset="0"/>
              </a:rPr>
              <a:t>1.12 </a:t>
            </a:r>
            <a:r>
              <a:rPr lang="en-US" dirty="0">
                <a:latin typeface="Times New Roman" panose="02020603050405020304" pitchFamily="18" charset="0"/>
                <a:cs typeface="Times New Roman" panose="02020603050405020304" pitchFamily="18" charset="0"/>
              </a:rPr>
              <a:t>*0.9348 = 1668.07 MM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Scheduled Time (D) = c*(E)</a:t>
            </a:r>
            <a:r>
              <a:rPr lang="en-US" baseline="30000" dirty="0">
                <a:latin typeface="Times New Roman" panose="02020603050405020304" pitchFamily="18" charset="0"/>
                <a:cs typeface="Times New Roman" panose="02020603050405020304" pitchFamily="18" charset="0"/>
              </a:rPr>
              <a:t>d</a:t>
            </a:r>
            <a:r>
              <a:rPr lang="en-US" b="1" baseline="30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 2.5*(1668.07)</a:t>
            </a:r>
            <a:r>
              <a:rPr lang="en-US" baseline="30000" dirty="0">
                <a:latin typeface="Times New Roman" panose="02020603050405020304" pitchFamily="18" charset="0"/>
                <a:cs typeface="Times New Roman" panose="02020603050405020304" pitchFamily="18" charset="0"/>
              </a:rPr>
              <a:t>0.35</a:t>
            </a:r>
            <a:r>
              <a:rPr lang="en-US" dirty="0">
                <a:latin typeface="Times New Roman" panose="02020603050405020304" pitchFamily="18" charset="0"/>
                <a:cs typeface="Times New Roman" panose="02020603050405020304" pitchFamily="18" charset="0"/>
              </a:rPr>
              <a:t> = 33.55 Months(M)</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53</a:t>
            </a:fld>
            <a:endParaRPr lang="en-US"/>
          </a:p>
        </p:txBody>
      </p:sp>
    </p:spTree>
    <p:extLst>
      <p:ext uri="{BB962C8B-B14F-4D97-AF65-F5344CB8AC3E}">
        <p14:creationId xmlns:p14="http://schemas.microsoft.com/office/powerpoint/2010/main" val="17825741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88975-5D36-44FE-A61E-6F10883D600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Detailed/Advanced COCOMO Model</a:t>
            </a:r>
          </a:p>
        </p:txBody>
      </p:sp>
      <p:sp>
        <p:nvSpPr>
          <p:cNvPr id="3" name="Content Placeholder 2">
            <a:extLst>
              <a:ext uri="{FF2B5EF4-FFF2-40B4-BE49-F238E27FC236}">
                <a16:creationId xmlns:a16="http://schemas.microsoft.com/office/drawing/2014/main" id="{7552AD08-4223-4828-AAFD-886A372B3465}"/>
              </a:ext>
            </a:extLst>
          </p:cNvPr>
          <p:cNvSpPr>
            <a:spLocks noGrp="1"/>
          </p:cNvSpPr>
          <p:nvPr>
            <p:ph idx="1"/>
          </p:nvPr>
        </p:nvSpPr>
        <p:spPr>
          <a:xfrm>
            <a:off x="838200" y="1825625"/>
            <a:ext cx="5780313" cy="4096204"/>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The model accounts for the influence of the individual development phase (analysis, design, etc.) of the project.</a:t>
            </a:r>
          </a:p>
          <a:p>
            <a:r>
              <a:rPr lang="en-US" dirty="0">
                <a:latin typeface="Times New Roman" panose="02020603050405020304" pitchFamily="18" charset="0"/>
                <a:cs typeface="Times New Roman" panose="02020603050405020304" pitchFamily="18" charset="0"/>
              </a:rPr>
              <a:t>It uses multipliers for each phase of the project. It gives more accurate estimations</a:t>
            </a:r>
          </a:p>
          <a:p>
            <a:r>
              <a:rPr lang="en-US" dirty="0">
                <a:latin typeface="Times New Roman" panose="02020603050405020304" pitchFamily="18" charset="0"/>
                <a:cs typeface="Times New Roman" panose="02020603050405020304" pitchFamily="18" charset="0"/>
              </a:rPr>
              <a:t>The whole software is divided into different modules and then we apply COCOMO in different modules to estimate effort and then sum the effort.</a:t>
            </a:r>
          </a:p>
          <a:p>
            <a:r>
              <a:rPr lang="en-US" dirty="0">
                <a:latin typeface="Times New Roman" panose="02020603050405020304" pitchFamily="18" charset="0"/>
                <a:cs typeface="Times New Roman" panose="02020603050405020304" pitchFamily="18" charset="0"/>
              </a:rPr>
              <a:t>For instance, detailed COCOMO will perform cost estimation in each development phase of the Waterfall Model</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3A7FF5-6640-447A-93FF-B2F4855D07CC}"/>
              </a:ext>
            </a:extLst>
          </p:cNvPr>
          <p:cNvPicPr>
            <a:picLocks noChangeAspect="1"/>
          </p:cNvPicPr>
          <p:nvPr/>
        </p:nvPicPr>
        <p:blipFill>
          <a:blip r:embed="rId2"/>
          <a:stretch>
            <a:fillRect/>
          </a:stretch>
        </p:blipFill>
        <p:spPr>
          <a:xfrm>
            <a:off x="6887119" y="1587546"/>
            <a:ext cx="4744692" cy="3637597"/>
          </a:xfrm>
          <a:prstGeom prst="rect">
            <a:avLst/>
          </a:prstGeom>
        </p:spPr>
      </p:pic>
      <p:sp>
        <p:nvSpPr>
          <p:cNvPr id="5" name="Slide Number Placeholder 4"/>
          <p:cNvSpPr>
            <a:spLocks noGrp="1"/>
          </p:cNvSpPr>
          <p:nvPr>
            <p:ph type="sldNum" sz="quarter" idx="12"/>
          </p:nvPr>
        </p:nvSpPr>
        <p:spPr/>
        <p:txBody>
          <a:bodyPr/>
          <a:lstStyle/>
          <a:p>
            <a:fld id="{06AAA8BD-D267-4C4E-B16C-9A3CB850B983}" type="slidenum">
              <a:rPr lang="en-US" smtClean="0"/>
              <a:t>54</a:t>
            </a:fld>
            <a:endParaRPr lang="en-US"/>
          </a:p>
        </p:txBody>
      </p:sp>
    </p:spTree>
    <p:extLst>
      <p:ext uri="{BB962C8B-B14F-4D97-AF65-F5344CB8AC3E}">
        <p14:creationId xmlns:p14="http://schemas.microsoft.com/office/powerpoint/2010/main" val="28351326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BC3AB-07A2-4629-BB12-9F26602CC11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Detailed/Advanced COCOMO Model</a:t>
            </a:r>
          </a:p>
        </p:txBody>
      </p:sp>
      <p:sp>
        <p:nvSpPr>
          <p:cNvPr id="3" name="Content Placeholder 2">
            <a:extLst>
              <a:ext uri="{FF2B5EF4-FFF2-40B4-BE49-F238E27FC236}">
                <a16:creationId xmlns:a16="http://schemas.microsoft.com/office/drawing/2014/main" id="{E5FB44A8-F346-4DE0-830B-6560E2D58652}"/>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In the Detailed COCOMO Model, the cost of each subsystem is estimated separately. This approach reduces the margin of error in the final estimate.</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 distributed Management Information System (MIS) product for an organization having offices at several places across the country can have the following sub-components:</a:t>
            </a:r>
          </a:p>
          <a:p>
            <a:pPr lvl="1"/>
            <a:r>
              <a:rPr lang="en-US" dirty="0">
                <a:latin typeface="Times New Roman" panose="02020603050405020304" pitchFamily="18" charset="0"/>
                <a:cs typeface="Times New Roman" panose="02020603050405020304" pitchFamily="18" charset="0"/>
              </a:rPr>
              <a:t>Database part</a:t>
            </a:r>
          </a:p>
          <a:p>
            <a:pPr lvl="1"/>
            <a:r>
              <a:rPr lang="en-US" dirty="0">
                <a:latin typeface="Times New Roman" panose="02020603050405020304" pitchFamily="18" charset="0"/>
                <a:cs typeface="Times New Roman" panose="02020603050405020304" pitchFamily="18" charset="0"/>
              </a:rPr>
              <a:t>Graphical User Interface (GUI) part</a:t>
            </a:r>
          </a:p>
          <a:p>
            <a:pPr lvl="1"/>
            <a:r>
              <a:rPr lang="en-US" dirty="0">
                <a:latin typeface="Times New Roman" panose="02020603050405020304" pitchFamily="18" charset="0"/>
                <a:cs typeface="Times New Roman" panose="02020603050405020304" pitchFamily="18" charset="0"/>
              </a:rPr>
              <a:t>Communication part</a:t>
            </a:r>
          </a:p>
          <a:p>
            <a:r>
              <a:rPr lang="en-US" dirty="0">
                <a:latin typeface="Times New Roman" panose="02020603050405020304" pitchFamily="18" charset="0"/>
                <a:cs typeface="Times New Roman" panose="02020603050405020304" pitchFamily="18" charset="0"/>
              </a:rPr>
              <a:t>Of these, the communication part can be considered as Embedded software. The database part could be Semi-detached software, and the GUI part Organic software. </a:t>
            </a:r>
          </a:p>
          <a:p>
            <a:r>
              <a:rPr lang="en-US" dirty="0">
                <a:latin typeface="Times New Roman" panose="02020603050405020304" pitchFamily="18" charset="0"/>
                <a:cs typeface="Times New Roman" panose="02020603050405020304" pitchFamily="18" charset="0"/>
              </a:rPr>
              <a:t>The costs for these three components can be estimated separately, and summed up to give the overall cost of the system</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6AAA8BD-D267-4C4E-B16C-9A3CB850B983}" type="slidenum">
              <a:rPr lang="en-US" smtClean="0"/>
              <a:t>55</a:t>
            </a:fld>
            <a:endParaRPr lang="en-US"/>
          </a:p>
        </p:txBody>
      </p:sp>
    </p:spTree>
    <p:extLst>
      <p:ext uri="{BB962C8B-B14F-4D97-AF65-F5344CB8AC3E}">
        <p14:creationId xmlns:p14="http://schemas.microsoft.com/office/powerpoint/2010/main" val="1996134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TotalTime>
  <Words>2482</Words>
  <Application>Microsoft Office PowerPoint</Application>
  <PresentationFormat>Widescreen</PresentationFormat>
  <Paragraphs>445</Paragraphs>
  <Slides>55</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7" baseType="lpstr">
      <vt:lpstr>BatangChe</vt:lpstr>
      <vt:lpstr>Arial</vt:lpstr>
      <vt:lpstr>Calibri</vt:lpstr>
      <vt:lpstr>Calibri Light</vt:lpstr>
      <vt:lpstr>Cambria Math</vt:lpstr>
      <vt:lpstr>Courier New</vt:lpstr>
      <vt:lpstr>Helvetica</vt:lpstr>
      <vt:lpstr>Times New Roman</vt:lpstr>
      <vt:lpstr>Verdana</vt:lpstr>
      <vt:lpstr>Wingdings</vt:lpstr>
      <vt:lpstr>Office Theme</vt:lpstr>
      <vt:lpstr>Bitmap Image</vt:lpstr>
      <vt:lpstr>Measuring Internal Product Attributes</vt:lpstr>
      <vt:lpstr>Internal Product Attributes</vt:lpstr>
      <vt:lpstr>Software Size</vt:lpstr>
      <vt:lpstr>Properties of Valid Software Size Measurement</vt:lpstr>
      <vt:lpstr>Code Size</vt:lpstr>
      <vt:lpstr>LOC Definitions</vt:lpstr>
      <vt:lpstr>Halstead’s Approach</vt:lpstr>
      <vt:lpstr>Halstead’s Approach</vt:lpstr>
      <vt:lpstr>Halstead’s Approach Example</vt:lpstr>
      <vt:lpstr>Halstead’s Approach Example</vt:lpstr>
      <vt:lpstr>Insight</vt:lpstr>
      <vt:lpstr>Alternative Size Measures</vt:lpstr>
      <vt:lpstr>Design Size</vt:lpstr>
      <vt:lpstr>Design Size</vt:lpstr>
      <vt:lpstr>Design Size</vt:lpstr>
      <vt:lpstr>Requirement Analysis and Specification Size</vt:lpstr>
      <vt:lpstr>Cost of a Project</vt:lpstr>
      <vt:lpstr>Software Cost Estimation</vt:lpstr>
      <vt:lpstr>Actual View</vt:lpstr>
      <vt:lpstr>Effort ( using LOC)</vt:lpstr>
      <vt:lpstr>Productivity</vt:lpstr>
      <vt:lpstr>Schedule and Average Staffing</vt:lpstr>
      <vt:lpstr>Cost Estimation Process</vt:lpstr>
      <vt:lpstr>Project Size - Metrics</vt:lpstr>
      <vt:lpstr>Project Size - Metrics</vt:lpstr>
      <vt:lpstr>Function Points</vt:lpstr>
      <vt:lpstr>Function Points Calculation</vt:lpstr>
      <vt:lpstr>Function Points (cont.)</vt:lpstr>
      <vt:lpstr>Function Points (cont.)</vt:lpstr>
      <vt:lpstr>Function Points (cont.)</vt:lpstr>
      <vt:lpstr>Function Points (cont.)</vt:lpstr>
      <vt:lpstr>Function Points Example</vt:lpstr>
      <vt:lpstr>Function Points Example</vt:lpstr>
      <vt:lpstr>Function Points Example</vt:lpstr>
      <vt:lpstr>Function Points Example</vt:lpstr>
      <vt:lpstr>Function Points Example</vt:lpstr>
      <vt:lpstr>Function Points Example</vt:lpstr>
      <vt:lpstr>Function Points Example</vt:lpstr>
      <vt:lpstr>Relation between LOC and FP</vt:lpstr>
      <vt:lpstr>Relation between LOC and FP</vt:lpstr>
      <vt:lpstr>IFPUG</vt:lpstr>
      <vt:lpstr>COCOMO I</vt:lpstr>
      <vt:lpstr>COCOMO I</vt:lpstr>
      <vt:lpstr>COCOMO I</vt:lpstr>
      <vt:lpstr>Types of COCOMO Models</vt:lpstr>
      <vt:lpstr>Basic COCOMO Model</vt:lpstr>
      <vt:lpstr>Basic COCOMO Model</vt:lpstr>
      <vt:lpstr>Basic COCOMO model</vt:lpstr>
      <vt:lpstr>Intermediate COCOMO Model</vt:lpstr>
      <vt:lpstr>Classification of Cost Drivers and their Attributes</vt:lpstr>
      <vt:lpstr>Cost Drivers and Ratings</vt:lpstr>
      <vt:lpstr>Cost Drivers and Ratings</vt:lpstr>
      <vt:lpstr>Example</vt:lpstr>
      <vt:lpstr>Detailed/Advanced COCOMO Model</vt:lpstr>
      <vt:lpstr>Detailed/Advanced COCOMO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Internal Product Attributes</dc:title>
  <dc:creator>Windows User</dc:creator>
  <cp:lastModifiedBy>User</cp:lastModifiedBy>
  <cp:revision>150</cp:revision>
  <dcterms:created xsi:type="dcterms:W3CDTF">2022-08-31T07:14:44Z</dcterms:created>
  <dcterms:modified xsi:type="dcterms:W3CDTF">2025-05-25T17:04:45Z</dcterms:modified>
</cp:coreProperties>
</file>