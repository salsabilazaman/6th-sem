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3" r:id="rId4"/>
    <p:sldId id="260" r:id="rId5"/>
    <p:sldId id="268" r:id="rId6"/>
    <p:sldId id="258" r:id="rId7"/>
    <p:sldId id="264" r:id="rId8"/>
    <p:sldId id="265" r:id="rId9"/>
    <p:sldId id="276" r:id="rId10"/>
    <p:sldId id="261" r:id="rId11"/>
    <p:sldId id="266" r:id="rId12"/>
    <p:sldId id="262" r:id="rId13"/>
    <p:sldId id="269" r:id="rId14"/>
    <p:sldId id="277" r:id="rId15"/>
    <p:sldId id="270" r:id="rId16"/>
    <p:sldId id="272" r:id="rId17"/>
    <p:sldId id="273" r:id="rId18"/>
    <p:sldId id="274" r:id="rId19"/>
    <p:sldId id="27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53B2A-649C-47D2-B149-313A8222923C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3E89F-D0F4-4845-90C4-681A21766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5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EA83-B123-B348-623C-99A9C8249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7BDDB-CC5F-C462-45DA-B31AF985E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08136-2926-7EAC-6709-CB6F6B90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DADE2353-34E2-4DBF-AFB1-31497BAECD2D}" type="datetimeFigureOut">
              <a:rPr lang="en-US" smtClean="0"/>
              <a:pPr/>
              <a:t>7/28/2025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F8F6-7B2D-2501-5AE4-C7643DC4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5867-F3D5-2506-FFFC-38DEF19B6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8170D8CF-7E31-4249-BDB4-34EBE6CF3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2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8EBC-77B7-5541-D05B-C0FFB571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4A5B2-8878-4CF3-235D-2E4DA7AE3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DA52E-A09B-6BBB-0E0B-64382854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3CAA4-028F-8789-1672-F67A9308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46198-031F-4A77-B121-612492FE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2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764A-AFDE-6C65-0399-86E094B4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15BA-9872-EB93-DF18-E312DAD8E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E1158-C4EE-164E-5236-299A7F35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1F21B-38AF-5D67-5BD7-95FB9005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03564-BFC7-AF2C-F528-1411B52D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3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EF2F-C0C8-F4B7-AC9F-0603498C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2DFC6-91C0-2E02-4DF5-FFCAE9D73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AF2D9-BB3D-2B57-1C79-3C614660D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89D1C-DE7A-F3D2-BBD8-2212007C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498EA-AFFA-7930-38AD-80128E1A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B5B4F-6EFF-B061-8AF1-8E8B533D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7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2DDE-1663-177E-8BD7-8BEC80D2F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99556-AE83-E79F-2D3C-772B56BAC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A90DF-E452-316F-79B9-BD362BF25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413A0-B263-09D1-A818-28153CD11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343CC-E13C-44AE-FFB0-17F77AD01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C35E32-B3ED-220C-9668-725A95C4C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9B67F-C847-C91A-2378-95BC4DC65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BC0CF-7F11-81A8-9DE7-C0020765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9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5E68C-E983-2625-8934-F05ABA04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3005A-3552-A4BA-7ED5-C0B65245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FD07F-1E0A-BB39-D500-943046E36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F57A9-C6E5-178B-69A6-2F933F7B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88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AEDF5-6B80-553D-1D72-5FC88922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4D675-7E04-BF12-E83D-66063E51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1C55B-FF10-A9BC-7A01-320746F2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1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EAE0-596B-69E2-8B33-A6710ACA0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E4BFB-0A58-BFAB-6A5A-36C1C73A5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E2E35-7E9E-B3E9-EB5B-E908D7E90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AF7D8-83AE-8FAD-D27F-9B1F0C40D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3D02B-BC93-B132-5356-786E6D6B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55FA3-E63F-F867-683E-F1B4839FB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3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B282-822B-43D1-AD6D-C3C4AD3B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A5E38-E64E-BF7D-AE8B-3B67FCD42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DFBFC-96B2-169D-EE47-D15510C7C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5B041-516D-D4A0-53AC-A15CC4DE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CB22D-A2EE-F043-E84F-873FC44C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5EFEA-E4B3-9109-8B92-790A4EB8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10B2-EA5B-981F-94FC-2D646EAD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A106F-7F89-F47E-17EA-668B446AA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2C11E-85E7-6A0C-085F-36A62E6ED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3A187-F559-1562-1E40-852905CE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DE776-7656-020E-6498-FD01094E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1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C40EEC-D70E-0844-EF99-95A4CC263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AC71F-C6F3-8EAE-BCAD-8E8A3DA44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425F2-EBCC-F04C-FF8C-ADA9B022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8C89F-3F70-48FA-D722-C07F224A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D372A-8E0E-6F0C-1625-2E5A32F6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6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39076-86F1-BF96-5F1C-E02770190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D6091-9A2B-FD71-4279-2B59B29F6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A7DB-A213-4889-8665-C38ED1E11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E2353-34E2-4DBF-AFB1-31497BAECD2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A2211-1479-F897-C505-D1C571BD7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0501B-5298-2352-229F-4D7E94A5D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0D8CF-7E31-4249-BDB4-34EBE6CF3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6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91A9-48A0-8AA1-90B9-3D1E136E7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601: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E9863-D6E1-F1B2-EC0A-B6FC55B7E3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Toukir Ahammed</a:t>
            </a:r>
          </a:p>
        </p:txBody>
      </p:sp>
    </p:spTree>
    <p:extLst>
      <p:ext uri="{BB962C8B-B14F-4D97-AF65-F5344CB8AC3E}">
        <p14:creationId xmlns:p14="http://schemas.microsoft.com/office/powerpoint/2010/main" val="408452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7A71-C350-BA08-4C6F-FC5E2295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7345F-2B9A-2597-8431-C808010E3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deals with extending or replacing an existing interface so as to mimic the behavior of another system,</a:t>
            </a:r>
          </a:p>
        </p:txBody>
      </p:sp>
      <p:pic>
        <p:nvPicPr>
          <p:cNvPr id="4" name="object 6">
            <a:extLst>
              <a:ext uri="{FF2B5EF4-FFF2-40B4-BE49-F238E27FC236}">
                <a16:creationId xmlns:a16="http://schemas.microsoft.com/office/drawing/2014/main" id="{2EDE6F06-28FA-0256-C505-4D53558A49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1" y="3153743"/>
            <a:ext cx="3411050" cy="2359961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71CA7461-4B93-D9FD-D024-6B459699B9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42751" y="2806398"/>
            <a:ext cx="3411050" cy="368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9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2629-D177-B0F8-B4BD-C38BB087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Traditional and Virtualized Environment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3E552C-29D8-B7F8-0C11-E45326074D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552" y="1690688"/>
            <a:ext cx="8160895" cy="435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281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DE8D-2D73-BC3C-EC76-F970E296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664A-F3A3-5FA4-7981-FC7F11CB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0619D-19BE-73DE-53C9-C83C54FEDB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172200" cy="46672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400" dirty="0"/>
              <a:t>Four different types of interfaces, at four different levels: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An interface between the hardware and software, consisting of </a:t>
            </a:r>
            <a:r>
              <a:rPr lang="en-US" sz="2400" b="1" dirty="0"/>
              <a:t>machine instructions </a:t>
            </a:r>
            <a:r>
              <a:rPr lang="en-US" sz="2400" dirty="0"/>
              <a:t>that can be invoked by any program.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An interface between the hardware and software, consisting of machine instructions that can be invoked only by </a:t>
            </a:r>
            <a:r>
              <a:rPr lang="en-US" sz="2400" b="1" dirty="0"/>
              <a:t>privileged programs</a:t>
            </a:r>
            <a:r>
              <a:rPr lang="en-US" sz="2400" dirty="0"/>
              <a:t>, such as an operating system.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An interface consisting of </a:t>
            </a:r>
            <a:r>
              <a:rPr lang="en-US" sz="2400" b="1" dirty="0"/>
              <a:t>system calls </a:t>
            </a:r>
            <a:r>
              <a:rPr lang="en-US" sz="2400" dirty="0"/>
              <a:t>as offered by an operating system.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 An interface consisting of library calls, generally forming what is known as an </a:t>
            </a:r>
            <a:r>
              <a:rPr lang="en-US" sz="2400" b="1" dirty="0"/>
              <a:t>application programming interface </a:t>
            </a:r>
            <a:r>
              <a:rPr lang="en-US" sz="2400" dirty="0"/>
              <a:t>(</a:t>
            </a:r>
            <a:r>
              <a:rPr lang="en-US" sz="2400" b="1" dirty="0"/>
              <a:t>API</a:t>
            </a:r>
            <a:r>
              <a:rPr lang="en-US" sz="2400" dirty="0"/>
              <a:t>).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FA8E7D-B82F-3D8E-3B7A-7B78D71CB5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0400" y="3143332"/>
            <a:ext cx="5181600" cy="2031833"/>
          </a:xfrm>
        </p:spPr>
      </p:pic>
    </p:spTree>
    <p:extLst>
      <p:ext uri="{BB962C8B-B14F-4D97-AF65-F5344CB8AC3E}">
        <p14:creationId xmlns:p14="http://schemas.microsoft.com/office/powerpoint/2010/main" val="1189893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6852-9935-65C0-2104-3EC7DFDF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B6555-4DC9-E6B1-1550-4035A2BAF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Virtualization is a process of creating an abstraction layer over hardware, allowing a single computer to be divided into multiple virtual computers. </a:t>
            </a:r>
          </a:p>
          <a:p>
            <a:pPr algn="just"/>
            <a:r>
              <a:rPr lang="en-US" dirty="0"/>
              <a:t>Each of those virtual computers (known as “guests”) uses part of the hardware resources of the main computer (known as a “host”).</a:t>
            </a:r>
          </a:p>
          <a:p>
            <a:pPr algn="just"/>
            <a:r>
              <a:rPr lang="en-US" dirty="0"/>
              <a:t>The software used to achieve this is a hypervisor. Hypervisors run on a host operating system and enable multiple guest operating systems to run on top of it, sharing the same physical computing resources managed by the host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99317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3526-EC13-4E9E-91FE-80671E2B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82E9-3CE0-F7DE-B4FE-9CEC9F526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Virtualization is important:</a:t>
            </a:r>
          </a:p>
          <a:p>
            <a:r>
              <a:rPr lang="en-US" dirty="0"/>
              <a:t>Hardware changes faster than software</a:t>
            </a:r>
          </a:p>
          <a:p>
            <a:r>
              <a:rPr lang="en-US" dirty="0"/>
              <a:t>Ease of portability and code migration</a:t>
            </a:r>
          </a:p>
          <a:p>
            <a:r>
              <a:rPr lang="en-US" dirty="0"/>
              <a:t>Isolation of failing or attacked components</a:t>
            </a:r>
          </a:p>
        </p:txBody>
      </p:sp>
    </p:spTree>
    <p:extLst>
      <p:ext uri="{BB962C8B-B14F-4D97-AF65-F5344CB8AC3E}">
        <p14:creationId xmlns:p14="http://schemas.microsoft.com/office/powerpoint/2010/main" val="409477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0A5F5D-8303-46AC-61DD-BD0E05816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a Hypervisor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EDB3E5-7098-E612-B215-AC159ABBD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63587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Virtualization wouldn’t be possible without a hypervisor (also known as a virtual machine monitor) – a software layer enabling multiple operating systems to co-exist while sharing the resources of a single hardware host. </a:t>
            </a:r>
          </a:p>
          <a:p>
            <a:pPr algn="just"/>
            <a:r>
              <a:rPr lang="en-US" dirty="0"/>
              <a:t>The hypervisor acts as an intermediary between virtual machines and the underlying hardware, allocating host resources such as memory, CPU, and storage.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8FB943-D221-2DA5-3F42-F069FE1E145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787" y="2817442"/>
            <a:ext cx="5181600" cy="236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61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5A16-AD0E-0E9E-D049-3D9D8BD53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488AF5-7E3D-96D4-D7A5-7C2969BC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a hypervisor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7A5D5A-DEF2-8975-D8BB-07EF44B75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Type 1 hypervisors</a:t>
            </a:r>
            <a:r>
              <a:rPr lang="en-US" dirty="0"/>
              <a:t>, also known as bare-metal hypervisors, run directly on the host’s hardware and are responsible for managing the hardware resources and running the virtual machines. </a:t>
            </a:r>
          </a:p>
          <a:p>
            <a:pPr algn="just"/>
            <a:r>
              <a:rPr lang="en-US" dirty="0"/>
              <a:t>Examples of Type 1 hypervisors include VMware </a:t>
            </a:r>
            <a:r>
              <a:rPr lang="en-US" dirty="0" err="1"/>
              <a:t>ESXi</a:t>
            </a:r>
            <a:r>
              <a:rPr lang="en-US" dirty="0"/>
              <a:t>, Microsoft Hyper-V, and Citrix </a:t>
            </a:r>
            <a:r>
              <a:rPr lang="en-US" dirty="0" err="1"/>
              <a:t>XenServer</a:t>
            </a:r>
            <a:r>
              <a:rPr lang="en-US" dirty="0"/>
              <a:t>. </a:t>
            </a:r>
          </a:p>
          <a:p>
            <a:pPr algn="just"/>
            <a:r>
              <a:rPr lang="en-US" b="1" dirty="0"/>
              <a:t>Type 2 hypervisors</a:t>
            </a:r>
            <a:r>
              <a:rPr lang="en-US" dirty="0"/>
              <a:t>, also known as hosted hypervisors, run on top of a host operating system and rely on it to provide the necessary hardware resources and support. </a:t>
            </a:r>
          </a:p>
          <a:p>
            <a:pPr algn="just"/>
            <a:r>
              <a:rPr lang="en-US" dirty="0"/>
              <a:t>Examples of Type 2 hypervisors include VMware Workstation and Oracle VirtualBox.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791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7B21-CAA8-9792-E2C3-A0486A6F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6090D-4D56-0B79-905B-550755DB3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Virtualization</a:t>
            </a:r>
          </a:p>
          <a:p>
            <a:r>
              <a:rPr lang="en-US" dirty="0"/>
              <a:t>Storage Virtualization</a:t>
            </a:r>
          </a:p>
          <a:p>
            <a:r>
              <a:rPr lang="en-US" dirty="0"/>
              <a:t>Network Virtualization</a:t>
            </a:r>
          </a:p>
          <a:p>
            <a:r>
              <a:rPr lang="en-US" dirty="0"/>
              <a:t>Application Virtualization</a:t>
            </a:r>
          </a:p>
        </p:txBody>
      </p:sp>
    </p:spTree>
    <p:extLst>
      <p:ext uri="{BB962C8B-B14F-4D97-AF65-F5344CB8AC3E}">
        <p14:creationId xmlns:p14="http://schemas.microsoft.com/office/powerpoint/2010/main" val="284688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A9C5-EB94-4792-A714-52458A74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DDDB-CEB8-9C6F-972C-27A62E262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container can be thought of a collection of binaries (also called images) that jointly constitute the software environment for running applications.</a:t>
            </a:r>
          </a:p>
          <a:p>
            <a:pPr algn="just"/>
            <a:r>
              <a:rPr lang="en-US" dirty="0"/>
              <a:t>A container is a lightweight alternative to full machine virtualization, which involves encapsulating an application in an isolated operating environment, with all the files and libraries it needs to operate. </a:t>
            </a:r>
          </a:p>
          <a:p>
            <a:pPr algn="just"/>
            <a:r>
              <a:rPr lang="en-US" dirty="0"/>
              <a:t>Every containerized application can share the host system’s user space, while still maintaining its individual system processes, environment variables, and libraries.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2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0226-4406-3822-B140-5FD9B735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containerization?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A3F5F-D928-AB87-ABA6-7F65F7923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Containerization also allows users to run many instances on a single physical host, but it does so without needing the hypervisor to act as an intermediary. </a:t>
            </a:r>
          </a:p>
          <a:p>
            <a:pPr algn="just"/>
            <a:r>
              <a:rPr lang="en-US" dirty="0"/>
              <a:t>Instead, the functionality of the host system kernel is used to isolate multiple independent instances (containers). </a:t>
            </a:r>
          </a:p>
          <a:p>
            <a:pPr algn="just"/>
            <a:r>
              <a:rPr lang="en-US" dirty="0"/>
              <a:t>By sharing the host kernel and operating system, containers avoid the overhead of virtualization, as there’s no need to provide a separate virtual kernel and OS for each instance.</a:t>
            </a:r>
          </a:p>
        </p:txBody>
      </p:sp>
    </p:spTree>
    <p:extLst>
      <p:ext uri="{BB962C8B-B14F-4D97-AF65-F5344CB8AC3E}">
        <p14:creationId xmlns:p14="http://schemas.microsoft.com/office/powerpoint/2010/main" val="223320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B7EB4E-388A-C223-7701-DE5A451C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Application Containers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BBE16D-E123-D1BE-4B2A-D10B11CCB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72069" cy="4351338"/>
          </a:xfrm>
        </p:spPr>
        <p:txBody>
          <a:bodyPr/>
          <a:lstStyle/>
          <a:p>
            <a:pPr algn="just"/>
            <a:r>
              <a:rPr lang="en-US" dirty="0"/>
              <a:t>Application containers (such as Docker), also known as process containers, package and run a single process or a service per container. </a:t>
            </a:r>
          </a:p>
          <a:p>
            <a:pPr algn="just"/>
            <a:r>
              <a:rPr lang="en-US" dirty="0"/>
              <a:t>They are packaged along with all the libraries, dependencies, and configuration files they need, allowing them to be run consistently across different environments. </a:t>
            </a:r>
          </a:p>
          <a:p>
            <a:pPr algn="just"/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E0D5758-F116-95AD-B831-2B23C5EAA4B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37"/>
          <a:stretch>
            <a:fillRect/>
          </a:stretch>
        </p:blipFill>
        <p:spPr bwMode="auto">
          <a:xfrm>
            <a:off x="7563743" y="1381785"/>
            <a:ext cx="4269742" cy="51110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60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C11494-D764-6E19-CD3C-79EF2B1D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</a:p>
        </p:txBody>
      </p:sp>
      <p:pic>
        <p:nvPicPr>
          <p:cNvPr id="4098" name="Picture 2" descr="Containerization vs. virtualization">
            <a:extLst>
              <a:ext uri="{FF2B5EF4-FFF2-40B4-BE49-F238E27FC236}">
                <a16:creationId xmlns:a16="http://schemas.microsoft.com/office/drawing/2014/main" id="{DD367B96-7C7D-AD18-1E3F-37B11995FF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36"/>
          <a:stretch>
            <a:fillRect/>
          </a:stretch>
        </p:blipFill>
        <p:spPr bwMode="auto">
          <a:xfrm>
            <a:off x="2683239" y="2602073"/>
            <a:ext cx="6825522" cy="389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033125-E244-28F6-EF1D-8A0463B8250A}"/>
              </a:ext>
            </a:extLst>
          </p:cNvPr>
          <p:cNvSpPr txBox="1"/>
          <p:nvPr/>
        </p:nvSpPr>
        <p:spPr>
          <a:xfrm>
            <a:off x="838200" y="1549777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Virtualization and containerization are the two most frequently used mechanisms to host applications in a computer system.</a:t>
            </a:r>
            <a:endParaRPr lang="en-US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407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4377-E085-0366-E98E-FC746A38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170C3A-B93F-FDF6-BAA5-85E1E601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76359-2FF6-38B4-772A-5350CBC88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Resource Overhead</a:t>
            </a:r>
          </a:p>
          <a:p>
            <a:pPr algn="just"/>
            <a:r>
              <a:rPr lang="en-US" dirty="0"/>
              <a:t>When comparing containerization vs virtualization in terms of resource overhead, containerization is the clear winner. </a:t>
            </a:r>
          </a:p>
          <a:p>
            <a:pPr algn="just"/>
            <a:r>
              <a:rPr lang="en-US" dirty="0"/>
              <a:t>Because containers share the host system’s operating system, and do not need to run a full operating system, they are significantly more lightweight and consume fewer resources. </a:t>
            </a:r>
          </a:p>
          <a:p>
            <a:pPr algn="just"/>
            <a:r>
              <a:rPr lang="en-US" dirty="0"/>
              <a:t>Virtual machines, on the other hand, each require their own OS, which increases the overhead.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754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997F-841D-8CCE-41DA-800086A2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EAC20A-C652-B284-BEA3-C705548B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25F4C-3820-1D1C-2277-60C0362E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Startup Time</a:t>
            </a:r>
          </a:p>
          <a:p>
            <a:pPr algn="just"/>
            <a:r>
              <a:rPr lang="en-US" dirty="0"/>
              <a:t>In general, containers start up more quickly than VMs, because they don’t have to start up an entire operating system. </a:t>
            </a:r>
          </a:p>
          <a:p>
            <a:pPr algn="just"/>
            <a:r>
              <a:rPr lang="en-US" dirty="0"/>
              <a:t>Virtual machines take much longer to boot up. </a:t>
            </a:r>
          </a:p>
          <a:p>
            <a:pPr algn="just"/>
            <a:r>
              <a:rPr lang="en-US" dirty="0"/>
              <a:t>This means containers are more flexible and can be torn down and restarted whenever needed, supporting immutability, which means that a resource never changes after being deployed.</a:t>
            </a:r>
          </a:p>
        </p:txBody>
      </p:sp>
    </p:spTree>
    <p:extLst>
      <p:ext uri="{BB962C8B-B14F-4D97-AF65-F5344CB8AC3E}">
        <p14:creationId xmlns:p14="http://schemas.microsoft.com/office/powerpoint/2010/main" val="14599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E6AD-FFD1-C40A-8572-5448ECAAD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86ED2E-BF1D-73A5-CE46-E022A0BE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AA9165-0768-01A4-B7D1-58195072D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Portability</a:t>
            </a:r>
          </a:p>
          <a:p>
            <a:pPr algn="just"/>
            <a:r>
              <a:rPr lang="en-US" dirty="0"/>
              <a:t>Both containers and virtual machines offer a high degree of portability.</a:t>
            </a:r>
          </a:p>
          <a:p>
            <a:pPr algn="just"/>
            <a:r>
              <a:rPr lang="en-US" dirty="0"/>
              <a:t>However, containers have a slight edge because they package the application and all of its dependencies together into a single unit, which can be run on any system that supports the container platform.</a:t>
            </a:r>
          </a:p>
          <a:p>
            <a:pPr algn="just"/>
            <a:r>
              <a:rPr lang="en-US" dirty="0"/>
              <a:t>Virtual machines, while also portable, are more dependent on the underlying hardware.</a:t>
            </a:r>
          </a:p>
        </p:txBody>
      </p:sp>
    </p:spTree>
    <p:extLst>
      <p:ext uri="{BB962C8B-B14F-4D97-AF65-F5344CB8AC3E}">
        <p14:creationId xmlns:p14="http://schemas.microsoft.com/office/powerpoint/2010/main" val="65273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18112-C9F5-00BB-14DF-B24438CF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A2C2A5-6351-3DC2-13F5-A457D3E0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032521-C61D-497B-4898-3AA13CE64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Security Isolation</a:t>
            </a:r>
          </a:p>
          <a:p>
            <a:pPr algn="just"/>
            <a:r>
              <a:rPr lang="en-US" dirty="0"/>
              <a:t>In terms of security isolation, virtual machines have the advantage.</a:t>
            </a:r>
          </a:p>
          <a:p>
            <a:pPr algn="just"/>
            <a:r>
              <a:rPr lang="en-US" dirty="0"/>
              <a:t>Because each VM is completely isolated from the host system and other VMs, a security breach in one VM typically does not affect the others (although it is possible to compromise the hypervisor and take control of all VMs on the device). </a:t>
            </a:r>
          </a:p>
          <a:p>
            <a:pPr algn="just"/>
            <a:r>
              <a:rPr lang="en-US" dirty="0"/>
              <a:t>Containers, while isolated from each other, still share the host system’s OS, so a breach in one container could possibly leak to other containers.</a:t>
            </a:r>
          </a:p>
        </p:txBody>
      </p:sp>
    </p:spTree>
    <p:extLst>
      <p:ext uri="{BB962C8B-B14F-4D97-AF65-F5344CB8AC3E}">
        <p14:creationId xmlns:p14="http://schemas.microsoft.com/office/powerpoint/2010/main" val="3719581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4886-7D3E-F227-EA51-D33526E8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D739BC-8C8E-CD12-6589-9C348C9E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A1234-3F64-9352-DE67-10990C929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Scalability and Management</a:t>
            </a:r>
          </a:p>
          <a:p>
            <a:pPr algn="just"/>
            <a:r>
              <a:rPr lang="en-US" dirty="0"/>
              <a:t>The lightweight nature and rapid startup time offered by containers make them ideal for scaling applications quickly and efficiently. </a:t>
            </a:r>
          </a:p>
          <a:p>
            <a:pPr algn="just"/>
            <a:r>
              <a:rPr lang="en-US" dirty="0"/>
              <a:t>They also lend themselves well to the microservices architecture, which can simplify the management of complex applications. </a:t>
            </a:r>
          </a:p>
          <a:p>
            <a:pPr algn="just"/>
            <a:r>
              <a:rPr lang="en-US" dirty="0"/>
              <a:t>Virtual machines, while also scalable, are more resource-intensive and take longer to start, making them less suitable for microservices and distributed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300719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6A38-077E-663D-B95F-F92D96FE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Virtualization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6EB26-94F3-638F-B10D-9052AC5CD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Legacy Applications</a:t>
            </a:r>
          </a:p>
          <a:p>
            <a:r>
              <a:rPr lang="en-US" dirty="0"/>
              <a:t>Environments Needing Strong Isolation</a:t>
            </a:r>
          </a:p>
          <a:p>
            <a:r>
              <a:rPr lang="en-US" dirty="0"/>
              <a:t>IaaS Scenarios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30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C4E82-F071-4642-07FD-5DA50105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Containerization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10B34-AE61-6F53-415E-F7E1E5B56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Architectures</a:t>
            </a:r>
          </a:p>
          <a:p>
            <a:r>
              <a:rPr lang="en-US" dirty="0"/>
              <a:t>CI/CD</a:t>
            </a:r>
          </a:p>
          <a:p>
            <a:r>
              <a:rPr lang="en-US" dirty="0"/>
              <a:t>PaaS Scenarios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96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1052</Words>
  <Application>Microsoft Office PowerPoint</Application>
  <PresentationFormat>Widescreen</PresentationFormat>
  <Paragraphs>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Gill Sans MT</vt:lpstr>
      <vt:lpstr>Office Theme</vt:lpstr>
      <vt:lpstr>CSE 601: Distributed Systems</vt:lpstr>
      <vt:lpstr>Virtualization</vt:lpstr>
      <vt:lpstr> Traditional and Virtualized Environment</vt:lpstr>
      <vt:lpstr>Virtualization</vt:lpstr>
      <vt:lpstr>Virtualization</vt:lpstr>
      <vt:lpstr>Virtualization</vt:lpstr>
      <vt:lpstr>The role of a Hypervisor</vt:lpstr>
      <vt:lpstr>The role of a hypervisor</vt:lpstr>
      <vt:lpstr>Types of Virtualization</vt:lpstr>
      <vt:lpstr>Containers</vt:lpstr>
      <vt:lpstr>What is containerization?</vt:lpstr>
      <vt:lpstr>Application Containers</vt:lpstr>
      <vt:lpstr>Containerization vs. Virtualization</vt:lpstr>
      <vt:lpstr>Containerization vs. Virtualization</vt:lpstr>
      <vt:lpstr>Containerization vs. Virtualization</vt:lpstr>
      <vt:lpstr>Containerization vs. Virtualization</vt:lpstr>
      <vt:lpstr>Containerization vs. Virtualization</vt:lpstr>
      <vt:lpstr>Containerization vs. Virtualization</vt:lpstr>
      <vt:lpstr>Use Cases for Virtualization </vt:lpstr>
      <vt:lpstr>Use Cases for Containerization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Toukir Ahammed</dc:creator>
  <cp:lastModifiedBy>Toukir Ahammed</cp:lastModifiedBy>
  <cp:revision>44</cp:revision>
  <dcterms:created xsi:type="dcterms:W3CDTF">2024-09-23T18:23:08Z</dcterms:created>
  <dcterms:modified xsi:type="dcterms:W3CDTF">2025-07-28T18:18:20Z</dcterms:modified>
</cp:coreProperties>
</file>