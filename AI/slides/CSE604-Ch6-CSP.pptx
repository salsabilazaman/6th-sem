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39.xml.rels" ContentType="application/vnd.openxmlformats-package.relationships+xml"/>
  <Override PartName="/ppt/notesSlides/notesSlide3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78.xml" ContentType="application/vnd.openxmlformats-officedocument.presentationml.slide+xml"/>
  <Override PartName="/ppt/slides/slide41.xml" ContentType="application/vnd.openxmlformats-officedocument.presentationml.slide+xml"/>
  <Override PartName="/ppt/slides/slide29.xml" ContentType="application/vnd.openxmlformats-officedocument.presentationml.slide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77.xml" ContentType="application/vnd.openxmlformats-officedocument.presentationml.slide+xml"/>
  <Override PartName="/ppt/slides/slide40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2.xml" ContentType="application/vnd.openxmlformats-officedocument.presentationml.slide+xml"/>
  <Override PartName="/ppt/slides/slide73.xml" ContentType="application/vnd.openxmlformats-officedocument.presentationml.slide+xml"/>
  <Override PartName="/ppt/slides/slide1.xml" ContentType="application/vnd.openxmlformats-officedocument.presentationml.slide+xml"/>
  <Override PartName="/ppt/slides/slide72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67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73.xml.rels" ContentType="application/vnd.openxmlformats-package.relationships+xml"/>
  <Override PartName="/ppt/slides/_rels/slide6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55.xml.rels" ContentType="application/vnd.openxmlformats-package.relationships+xml"/>
  <Override PartName="/ppt/slides/_rels/slide64.xml.rels" ContentType="application/vnd.openxmlformats-package.relationships+xml"/>
  <Override PartName="/ppt/slides/_rels/slide48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70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2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52.xml.rels" ContentType="application/vnd.openxmlformats-package.relationships+xml"/>
  <Override PartName="/ppt/slides/_rels/slide76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65.xml.rels" ContentType="application/vnd.openxmlformats-package.relationships+xml"/>
  <Override PartName="/ppt/slides/_rels/slide74.xml.rels" ContentType="application/vnd.openxmlformats-package.relationships+xml"/>
  <Override PartName="/ppt/slides/_rels/slide58.xml.rels" ContentType="application/vnd.openxmlformats-package.relationships+xml"/>
  <Override PartName="/ppt/slides/_rels/slide25.xml.rels" ContentType="application/vnd.openxmlformats-package.relationships+xml"/>
  <Override PartName="/ppt/slides/_rels/slide78.xml.rels" ContentType="application/vnd.openxmlformats-package.relationships+xml"/>
  <Override PartName="/ppt/slides/_rels/slide68.xml.rels" ContentType="application/vnd.openxmlformats-package.relationships+xml"/>
  <Override PartName="/ppt/slides/_rels/slide72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75.xml.rels" ContentType="application/vnd.openxmlformats-package.relationships+xml"/>
  <Override PartName="/ppt/slides/_rels/slide66.xml.rels" ContentType="application/vnd.openxmlformats-package.relationships+xml"/>
  <Override PartName="/ppt/slides/_rels/slide77.xml.rels" ContentType="application/vnd.openxmlformats-package.relationships+xml"/>
  <Override PartName="/ppt/slides/_rels/slide67.xml.rels" ContentType="application/vnd.openxmlformats-package.relationships+xml"/>
  <Override PartName="/ppt/slides/_rels/slide71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0A67385-4AD2-45B5-8BC0-12B1D1DD578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995F2D-E772-4F5C-B868-134D4301285B}" type="slidenum">
              <a:rPr b="0" lang="en-GB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36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89640" rIns="89640" tIns="45000" bIns="45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88BB52-4ECB-4FB9-9E76-06C2ABE8FA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E12E1E-CB19-440B-9CCF-227FCE85A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C23628-D144-4998-92AB-9023C54EFE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8F2CBC-0DE7-493E-9F8B-2C8D2B41D4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85E97F-86F5-4476-95B8-1273CF2F27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422861-5A6D-4AE2-9671-EC93FE69CE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9F8B32-C418-41E9-88B4-24A66CFF81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AF16AA-FBCC-4E11-B3BE-0E00BADDDC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8B23B8-076F-4753-BAB6-171D1A0FC5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37A097-06EF-4524-BDD1-68BDD10A7D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4B8A94-6146-488D-B947-659EC97D77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DF104E-3CD0-49F3-A14E-A0EA0443F9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79A205-335B-4CEB-B7B7-DC5E780BD1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D25393-8C1F-49B4-B1B8-605813A881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53EACA-70B9-4310-8135-5D3FD45564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7366EB-D250-4839-B33F-CD61856158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5D18926-6434-4729-816A-E599BA2890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D6533B-0722-4313-B7A6-58D055FAD0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3A8787-2C8A-4C24-87C2-F067BE8E4E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17396E-7594-4068-9BB9-079CB607E9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0FF4DB-B9D3-4A13-9FB8-FBC37EBFE1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AA8BD6-1C9E-428D-B88A-1BF6905C2A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032852-E2B5-4A81-81E5-FA690E6F28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C898C4-4E58-422D-B860-A06DBDC89F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531587-EC1C-4BF4-AA9E-3E2920C234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502F0F-CED1-4FAE-AD5B-04A1E548A1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4E75AF9-77F9-4014-9243-B81B844304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E00E6A2-3B3D-45E0-84DB-08FF71C92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14A2A67-41EF-430B-81D9-D95BFFF053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0D01131-D8EC-4132-8191-0209BCA2BB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0A68258-7759-43A3-B265-397CA6BE8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9C72857-048A-48A9-805D-4E701D314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9406994-45F3-49FD-BCAE-F5B530ED3A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66756CE-2877-4552-BD67-C0AE018CA9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01CE0A-F819-48C4-A9A5-464750EDBD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952F68-4DDD-40A5-A12F-7D743B3AB3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8DA06F-5222-4915-BBB5-0C68420C6F79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76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06/24/2025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33866E-1045-4A87-9EF3-AA12E59A7F36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</a:t>
            </a:r>
            <a:r>
              <a:rPr b="0" lang="en-US" sz="1800" spc="-1" strike="noStrike">
                <a:latin typeface="Arial"/>
              </a:rPr>
              <a:t>edit the </a:t>
            </a:r>
            <a:r>
              <a:rPr b="0" lang="en-US" sz="1800" spc="-1" strike="noStrike">
                <a:latin typeface="Arial"/>
              </a:rPr>
              <a:t>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7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88425F-D922-43B0-B068-FFBC8F32D6B5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9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5572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9000"/>
          </a:bodyPr>
          <a:p>
            <a:pPr algn="ctr">
              <a:lnSpc>
                <a:spcPct val="90000"/>
              </a:lnSpc>
              <a:buNone/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CSE 604</a:t>
            </a: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	</a:t>
            </a: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Artificial Intelligence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685800" y="1805040"/>
            <a:ext cx="7771680" cy="44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Garamond"/>
              </a:rPr>
              <a:t>Chapter 6: Constraint Satisfaction Problems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Garamond"/>
              </a:rPr>
              <a:t>Dr. Ahmedul Kabir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831240" y="3852360"/>
            <a:ext cx="748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Garamond"/>
                <a:ea typeface="DejaVu Sans"/>
              </a:rPr>
              <a:t>Adapted from slides available in Russell &amp; Norvig’s textbook webpage 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Outline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Constraint Satisfaction Problems (CSP)</a:t>
            </a:r>
            <a:endParaRPr b="0" lang="en-US" sz="21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Backtracking search for CSPs</a:t>
            </a:r>
            <a:endParaRPr b="0" lang="en-US" sz="21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Local search for CSPs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CS 4341 - Constraint Satisfaction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7E0B4E-E97C-4964-9FB7-6718B38956A3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4ED05A0A-F4F2-48FC-A27E-2DB4DAEA1700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Garamond"/>
              </a:rPr>
              <a:t>Constraint satisfaction problems (CSPs)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Standard search problem: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state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is a "black box“ – any data structure that supports successor function, heuristic function, and goal test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CSP: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state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is defined by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variables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with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values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from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domain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D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i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goal test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is a set of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constraints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specifying allowable combinations of values for subsets of variables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 example of a </a:t>
            </a:r>
            <a:r>
              <a:rPr b="0" lang="en-US" sz="2400" spc="-1" strike="noStrike">
                <a:solidFill>
                  <a:srgbClr val="ff0000"/>
                </a:solidFill>
                <a:latin typeface="Garamond"/>
              </a:rPr>
              <a:t>formal representation language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Allows useful </a:t>
            </a:r>
            <a:r>
              <a:rPr b="0" lang="en-US" sz="2400" spc="-1" strike="noStrike">
                <a:solidFill>
                  <a:srgbClr val="ff0000"/>
                </a:solidFill>
                <a:latin typeface="Garamond"/>
              </a:rPr>
              <a:t>general-purpose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algorithms with more power than standard search algorithms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BEA30F-87AF-4E2F-B8D0-B9CC2D017962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AE2FBCDF-3406-4159-A737-6923D6D9CE25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Map-Coloring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04920" y="4162320"/>
            <a:ext cx="8649720" cy="196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9000"/>
          </a:bodyPr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Variables: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WA, NT, Q, NSW, V, SA, T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Domains: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D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= {red,green,blue}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Constraints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: adjacent regions must have different colors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e.g., WA ≠ NT (if the language allows this), or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(WA,NT) in {(red,green),(red,blue),(green,red), (green,blue),(blue,red),(blue,green)}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25ABCE-3FAA-4071-A739-023E359C86AE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en-US" sz="900" spc="-1" strike="noStrike">
              <a:latin typeface="Times New Roman"/>
            </a:endParaRPr>
          </a:p>
        </p:txBody>
      </p:sp>
      <p:pic>
        <p:nvPicPr>
          <p:cNvPr id="139" name="Picture 5" descr="australia"/>
          <p:cNvPicPr/>
          <p:nvPr/>
        </p:nvPicPr>
        <p:blipFill>
          <a:blip r:embed="rId1"/>
          <a:stretch/>
        </p:blipFill>
        <p:spPr>
          <a:xfrm>
            <a:off x="2666880" y="1295280"/>
            <a:ext cx="3780720" cy="31233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C59EA97-1C3E-44F4-8BF6-0B083E4C8500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Map-Coloring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04920" y="4549680"/>
            <a:ext cx="8649720" cy="15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8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Solutions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are </a:t>
            </a:r>
            <a:r>
              <a:rPr b="0" lang="en-US" sz="2800" spc="-1" strike="noStrike">
                <a:solidFill>
                  <a:srgbClr val="ff0000"/>
                </a:solidFill>
                <a:latin typeface="Garamond"/>
              </a:rPr>
              <a:t>complete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and </a:t>
            </a:r>
            <a:r>
              <a:rPr b="0" lang="en-US" sz="2800" spc="-1" strike="noStrike">
                <a:solidFill>
                  <a:srgbClr val="ff0000"/>
                </a:solidFill>
                <a:latin typeface="Garamond"/>
              </a:rPr>
              <a:t>consistent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assignments, </a:t>
            </a:r>
            <a:endParaRPr b="0" lang="en-US" sz="28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WA = red, NT = green,Q = red,NSW = green,V = red,SA = blue,T = green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Picture 4" descr="australia-solution"/>
          <p:cNvPicPr/>
          <p:nvPr/>
        </p:nvPicPr>
        <p:blipFill>
          <a:blip r:embed="rId1"/>
          <a:stretch/>
        </p:blipFill>
        <p:spPr>
          <a:xfrm>
            <a:off x="2666880" y="1295280"/>
            <a:ext cx="3780720" cy="31233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412485-7FD1-4D7B-A282-0FDFB8F8C510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DFF2106-833E-4015-83C7-D05A6AB71AF1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Constraint graph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Binary CSP: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each constraint relates two variables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Constraint graph: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nodes are variables, arcs are constraints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Picture 4" descr="australia-csp"/>
          <p:cNvPicPr/>
          <p:nvPr/>
        </p:nvPicPr>
        <p:blipFill>
          <a:blip r:embed="rId1"/>
          <a:stretch/>
        </p:blipFill>
        <p:spPr>
          <a:xfrm>
            <a:off x="3429000" y="3244320"/>
            <a:ext cx="2913840" cy="2498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80A9F0-C689-497E-AFD7-67FFEED9457A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9D4C7B3D-17C8-4D8E-92C8-6B619F0D3372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Varieties of CSPs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Discrete variables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finite domains:</a:t>
            </a:r>
            <a:endParaRPr b="0" lang="en-US" sz="2000" spc="-1" strike="noStrike">
              <a:latin typeface="Arial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variables, domain size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d </a:t>
            </a:r>
            <a:r>
              <a:rPr b="0" i="1" lang="en-US" sz="18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O(d</a:t>
            </a:r>
            <a:r>
              <a:rPr b="0" i="1" lang="en-US" sz="1800" spc="-1" strike="noStrike" baseline="30000">
                <a:solidFill>
                  <a:srgbClr val="000000"/>
                </a:solidFill>
                <a:latin typeface="Garamond"/>
              </a:rPr>
              <a:t>n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) 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complete assignments</a:t>
            </a:r>
            <a:endParaRPr b="0" lang="en-US" sz="1800" spc="-1" strike="noStrike">
              <a:latin typeface="Arial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e.g., Boolean CSPs, incl.~Boolean satisfiability (NP-complete)</a:t>
            </a: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infinite domains:</a:t>
            </a:r>
            <a:endParaRPr b="0" lang="en-US" sz="2000" spc="-1" strike="noStrike">
              <a:latin typeface="Arial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integers, strings, etc.</a:t>
            </a:r>
            <a:endParaRPr b="0" lang="en-US" sz="1800" spc="-1" strike="noStrike">
              <a:latin typeface="Arial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e.g., job scheduling, variables are start/end days for each job</a:t>
            </a:r>
            <a:endParaRPr b="0" lang="en-US" sz="1800" spc="-1" strike="noStrike">
              <a:latin typeface="Arial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need a constraint language, e.g.,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StartJob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1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+ 5 ≤ StartJob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Continuous variables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e.g., start/end times for Hubble Space Telescope observations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linear constraints solvable in polynomial time by linear programming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9B7D3B-6595-4232-BFD4-C321DDCF1F80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20FA636D-9F5E-4732-8189-5920A3F9FDCB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Varieties of constraints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Unary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constraints involve a single variable, </a:t>
            </a:r>
            <a:endParaRPr b="0" lang="en-US" sz="2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SA ≠ green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Binary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constraints involve pairs of variables,</a:t>
            </a:r>
            <a:endParaRPr b="0" lang="en-US" sz="2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SA ≠ WA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Higher-order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constraints involve 3 or more variables,</a:t>
            </a:r>
            <a:endParaRPr b="0" lang="en-US" sz="2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alldiff (all values of a set should be different)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4CE43B-28CD-41AD-A1C3-FF40D0B951A5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4B13E908-3F1E-46AF-A2AF-0D0F07FD21E7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Cryptarithmetic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04920" y="3649680"/>
            <a:ext cx="8570160" cy="30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Variables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: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 F T U W </a:t>
            </a:r>
            <a:br>
              <a:rPr sz="2000"/>
            </a:b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R O X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1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 X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2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i="1" lang="en-US" sz="2000" spc="-1" strike="noStrike" baseline="-25000">
                <a:solidFill>
                  <a:srgbClr val="000000"/>
                </a:solidFill>
                <a:latin typeface="Garamond"/>
              </a:rPr>
              <a:t>3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Domains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: {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0,1,2,3,4,5,6,7,8,9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}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Constraints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: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Alldiff (F,T,U,W,R,O)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O + O = R + 10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1</a:t>
            </a: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1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+ W + W = U + 10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2</a:t>
            </a: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2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+ T + T 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=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O + 10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 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3</a:t>
            </a: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i="1" lang="en-US" sz="1800" spc="-1" strike="noStrike" baseline="-25000">
                <a:solidFill>
                  <a:srgbClr val="000000"/>
                </a:solidFill>
                <a:latin typeface="Garamond"/>
              </a:rPr>
              <a:t>3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=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,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≠ 0, </a:t>
            </a:r>
            <a:r>
              <a:rPr b="0" i="1" lang="en-US" sz="1800" spc="-1" strike="noStrike">
                <a:solidFill>
                  <a:srgbClr val="000000"/>
                </a:solidFill>
                <a:latin typeface="Garamond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≠ 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2" name="Picture 5" descr="cryptarithmetic"/>
          <p:cNvPicPr/>
          <p:nvPr/>
        </p:nvPicPr>
        <p:blipFill>
          <a:blip r:embed="rId1"/>
          <a:stretch/>
        </p:blipFill>
        <p:spPr>
          <a:xfrm>
            <a:off x="1447920" y="1371600"/>
            <a:ext cx="6095160" cy="2214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5D40BA-7A91-4907-B6D5-69EC3ED08C44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1310734A-8BDE-4FDA-B997-FDFC98198A81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Real-world CSPs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28560" y="1523880"/>
            <a:ext cx="8325720" cy="372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Assignment problems</a:t>
            </a:r>
            <a:endParaRPr b="0" lang="en-US" sz="28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who teaches what class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Timetabling problems</a:t>
            </a:r>
            <a:endParaRPr b="0" lang="en-US" sz="28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e.g., which class is offered when and where?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Transportation scheduling</a:t>
            </a:r>
            <a:endParaRPr b="0" lang="en-US" sz="28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Factory scheduling</a:t>
            </a:r>
            <a:endParaRPr b="0" lang="en-US" sz="28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Notice that many real-world problems involve real-valued variables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54446E-BB6A-4333-BE3C-C8BC21BDAAF2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BDFDE5E-DB74-4AEE-96E8-1A54972E9297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Standard search formulation (incremental)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8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Let's start with the straightforward approach, then fix it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States are defined by the values assigned so far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Initial state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: the empty assignment { }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Successor function: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assign a value to an unassigned variable that does not conflict with current assignment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fail if no legal assignments</a:t>
            </a:r>
            <a:endParaRPr b="0" lang="en-US" sz="1800" spc="-1" strike="noStrike">
              <a:latin typeface="Arial"/>
            </a:endParaRPr>
          </a:p>
          <a:p>
            <a:pPr marL="800280" indent="-343080">
              <a:lnSpc>
                <a:spcPct val="8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Goal test: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 current assignment is complete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This is the same for all CSPs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Every solution appears at depth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with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variables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Garamond"/>
              </a:rPr>
              <a:t>use depth-first search</a:t>
            </a:r>
            <a:endParaRPr b="0" lang="en-US" sz="17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Path is irrelevant, so can also use complete-state formulation</a:t>
            </a:r>
            <a:endParaRPr b="0" lang="en-US" sz="2000" spc="-1" strike="noStrike"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b = (n - </a:t>
            </a:r>
            <a:r>
              <a:rPr b="0" lang="en-US" sz="2000" spc="-1" strike="noStrike">
                <a:solidFill>
                  <a:srgbClr val="000000"/>
                </a:solidFill>
                <a:latin typeface="Monotype Corsiva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)d at depth </a:t>
            </a:r>
            <a:r>
              <a:rPr b="0" lang="en-US" sz="2000" spc="-1" strike="noStrike">
                <a:solidFill>
                  <a:srgbClr val="000000"/>
                </a:solidFill>
                <a:latin typeface="Monotype Corsiva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, hence n!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d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leaves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16BD49-FE5C-4773-BE28-5E45E4554E4E}" type="slidenum">
              <a:t>11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D865D8C-0411-4E9A-A065-44D6A680F7DD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search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/>
          </a:bodyPr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Variable assignments are </a:t>
            </a: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commutative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}, i.e.,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[ WA = red then NT = green ] same as [ NT = green then WA = red ]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Only need to consider assignments to a single variable at each node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b = d and there are d</a:t>
            </a:r>
            <a:r>
              <a:rPr b="0" lang="en-US" sz="1800" spc="-1" strike="noStrike" baseline="30000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 leaves</a:t>
            </a: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8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11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Depth-first search for CSPs with single-variable assignments is called </a:t>
            </a:r>
            <a:r>
              <a:rPr b="0" lang="en-US" sz="2000" spc="-1" strike="noStrike">
                <a:solidFill>
                  <a:srgbClr val="0070c0"/>
                </a:solidFill>
                <a:latin typeface="Garamond"/>
              </a:rPr>
              <a:t>backtracking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search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Backtracking search is the basic uninformed algorithm for CSPs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Can solve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-queens for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≈ 25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D51E8E-EB34-447A-B7CC-691F02727502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4192B1E1-56E2-4B47-AE17-33F8875F6731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search</a:t>
            </a:r>
            <a:endParaRPr b="0" lang="en-US" sz="3300" spc="-1" strike="noStrike">
              <a:latin typeface="Arial"/>
            </a:endParaRPr>
          </a:p>
        </p:txBody>
      </p:sp>
      <p:pic>
        <p:nvPicPr>
          <p:cNvPr id="160" name="Picture 4" descr=""/>
          <p:cNvPicPr/>
          <p:nvPr/>
        </p:nvPicPr>
        <p:blipFill>
          <a:blip r:embed="rId1"/>
          <a:srcRect l="17188" t="21873" r="13282" b="29168"/>
          <a:stretch/>
        </p:blipFill>
        <p:spPr>
          <a:xfrm>
            <a:off x="609480" y="1371600"/>
            <a:ext cx="7848000" cy="4144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3F0BA2-D305-4C8D-848F-09C911F9E033}" type="slidenum">
              <a:t>13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BC96245D-1D2A-4042-9DE5-6A06B7DC9140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example</a:t>
            </a:r>
            <a:endParaRPr b="0" lang="en-US" sz="3300" spc="-1" strike="noStrike">
              <a:latin typeface="Arial"/>
            </a:endParaRPr>
          </a:p>
        </p:txBody>
      </p:sp>
      <p:pic>
        <p:nvPicPr>
          <p:cNvPr id="162" name="Picture 4" descr="backtrack-progress1c"/>
          <p:cNvPicPr/>
          <p:nvPr/>
        </p:nvPicPr>
        <p:blipFill>
          <a:blip r:embed="rId1"/>
          <a:stretch/>
        </p:blipFill>
        <p:spPr>
          <a:xfrm>
            <a:off x="1643040" y="1619280"/>
            <a:ext cx="5857200" cy="3618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9BB57F-3E64-47AF-8F6E-2F2B01CDDBD2}" type="slidenum">
              <a:t>14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08877D5-34A7-4C32-8326-286AC3905764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example</a:t>
            </a:r>
            <a:endParaRPr b="0" lang="en-US" sz="3300" spc="-1" strike="noStrike">
              <a:latin typeface="Arial"/>
            </a:endParaRPr>
          </a:p>
        </p:txBody>
      </p:sp>
      <p:pic>
        <p:nvPicPr>
          <p:cNvPr id="164" name="Picture 4" descr="backtrack-progress2c"/>
          <p:cNvPicPr/>
          <p:nvPr/>
        </p:nvPicPr>
        <p:blipFill>
          <a:blip r:embed="rId1"/>
          <a:stretch/>
        </p:blipFill>
        <p:spPr>
          <a:xfrm>
            <a:off x="1643040" y="1619280"/>
            <a:ext cx="5857200" cy="3618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153D51-28AF-42D7-BB5B-582D911BB2A3}" type="slidenum">
              <a:t>15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BEFF5FF6-48AC-4AEA-A34F-8279E13247F9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example</a:t>
            </a:r>
            <a:endParaRPr b="0" lang="en-US" sz="3300" spc="-1" strike="noStrike">
              <a:latin typeface="Arial"/>
            </a:endParaRPr>
          </a:p>
        </p:txBody>
      </p:sp>
      <p:pic>
        <p:nvPicPr>
          <p:cNvPr id="166" name="Picture 5" descr="backtrack-progress3c"/>
          <p:cNvPicPr/>
          <p:nvPr/>
        </p:nvPicPr>
        <p:blipFill>
          <a:blip r:embed="rId1"/>
          <a:stretch/>
        </p:blipFill>
        <p:spPr>
          <a:xfrm>
            <a:off x="1643040" y="1619280"/>
            <a:ext cx="5857200" cy="3618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5F5944-F9E3-43FA-9CEC-CC16E4B3F412}" type="slidenum">
              <a:t>16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FA64088A-1FF7-488F-B882-F7CFEECC3615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Backtracking example</a:t>
            </a:r>
            <a:endParaRPr b="0" lang="en-US" sz="3300" spc="-1" strike="noStrike">
              <a:latin typeface="Arial"/>
            </a:endParaRPr>
          </a:p>
        </p:txBody>
      </p:sp>
      <p:pic>
        <p:nvPicPr>
          <p:cNvPr id="168" name="Picture 4" descr="backtrack-progress4c"/>
          <p:cNvPicPr/>
          <p:nvPr/>
        </p:nvPicPr>
        <p:blipFill>
          <a:blip r:embed="rId1"/>
          <a:stretch/>
        </p:blipFill>
        <p:spPr>
          <a:xfrm>
            <a:off x="1643040" y="1619280"/>
            <a:ext cx="5857200" cy="3618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2C32C0-C081-481E-8BC0-22D26F983EBF}" type="slidenum">
              <a:t>17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14C778A2-B4F9-4565-82D9-4B9B40AC8178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Improving backtracking efficiency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ff0000"/>
                </a:solidFill>
                <a:latin typeface="Garamond"/>
              </a:rPr>
              <a:t>General-purpose</a:t>
            </a: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 methods can give huge gains in speed: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Which variable should be assigned next?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In what order should its values be tried?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Can we detect inevitable failure early?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FEAF871-5034-4FAB-AD5A-9F99AC0CF550}" type="slidenum">
              <a:t>18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8CF12885-F22E-4652-AAE3-860EA4FAB76B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Minimum remaining values (MRV)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Minimum remaining values:</a:t>
            </a:r>
            <a:endParaRPr b="0" lang="en-US" sz="21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choose the variable with the fewest legal values</a:t>
            </a: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73" name="Picture 4" descr="australia-most-constrained-variable"/>
          <p:cNvPicPr/>
          <p:nvPr/>
        </p:nvPicPr>
        <p:blipFill>
          <a:blip r:embed="rId1"/>
          <a:stretch/>
        </p:blipFill>
        <p:spPr>
          <a:xfrm>
            <a:off x="1447920" y="3124080"/>
            <a:ext cx="6104880" cy="990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F7A282-BF1C-4C55-A41A-0570C8974745}" type="slidenum">
              <a:t>19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F1EDEE59-E478-45FE-A573-A7CCBB586243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Degree Heuristic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Tie-breaker among MRV variables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Degree Heuristic (most constraining variable first):</a:t>
            </a:r>
            <a:endParaRPr b="0" lang="en-US" sz="21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choose the variable with the most constraints on remaining variables (with the highest degree)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76" name="Picture 4" descr="australia-most-constraining-variable"/>
          <p:cNvPicPr/>
          <p:nvPr/>
        </p:nvPicPr>
        <p:blipFill>
          <a:blip r:embed="rId1"/>
          <a:stretch/>
        </p:blipFill>
        <p:spPr>
          <a:xfrm>
            <a:off x="685800" y="4267080"/>
            <a:ext cx="7619400" cy="1235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16142E-290C-4C4F-BEB2-F0FDF0612375}" type="slidenum">
              <a:t>20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C4814566-F726-453D-877C-5B3B9815A060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Least constraining value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Given a variable, choose the least constraining value: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the one that rules out the fewest values in the remaining variables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Combining these heuristics makes 1000 queens feasible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79" name="Picture 4" descr="australia-least-constraining-value"/>
          <p:cNvPicPr/>
          <p:nvPr/>
        </p:nvPicPr>
        <p:blipFill>
          <a:blip r:embed="rId1"/>
          <a:stretch/>
        </p:blipFill>
        <p:spPr>
          <a:xfrm>
            <a:off x="914400" y="4498920"/>
            <a:ext cx="7085880" cy="1677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19E3F2-9273-41CC-831E-14230BB2BA1D}" type="slidenum">
              <a:t>21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947D945F-47A3-4F2F-896F-90A265DA8331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Idea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Keep track of remaining legal values for unassigned variables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Terminate search when any variable has no legal values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2" name="Picture 4" descr="forward-checking-progress1c"/>
          <p:cNvPicPr/>
          <p:nvPr/>
        </p:nvPicPr>
        <p:blipFill>
          <a:blip r:embed="rId1"/>
          <a:stretch/>
        </p:blipFill>
        <p:spPr>
          <a:xfrm>
            <a:off x="1724760" y="4087080"/>
            <a:ext cx="5133240" cy="1399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C02C2A-028B-409E-904F-604D1CC636F6}" type="slidenum">
              <a:t>22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B283B94D-D891-4E6D-9F47-1C4A53F70FA2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Idea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Keep track of remaining legal values for unassigned variables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Terminate search when any variable has no legal values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5" name="Picture 4" descr="forward-checking-progress2c"/>
          <p:cNvPicPr/>
          <p:nvPr/>
        </p:nvPicPr>
        <p:blipFill>
          <a:blip r:embed="rId1"/>
          <a:stretch/>
        </p:blipFill>
        <p:spPr>
          <a:xfrm>
            <a:off x="1724760" y="4020120"/>
            <a:ext cx="5133240" cy="1694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7C8A8B-82E9-4DEC-8BBF-DE40A6345004}" type="slidenum">
              <a:t>23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A99952C2-1957-4971-A1F6-812725076918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Idea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Keep track of remaining legal values for unassigned variables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Terminate search when any variable has no legal values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8" name="Picture 4" descr="forward-checking-progress3c"/>
          <p:cNvPicPr/>
          <p:nvPr/>
        </p:nvPicPr>
        <p:blipFill>
          <a:blip r:embed="rId1"/>
          <a:stretch/>
        </p:blipFill>
        <p:spPr>
          <a:xfrm>
            <a:off x="1600200" y="4114800"/>
            <a:ext cx="5133240" cy="19803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E43F88-B0EC-4A0B-A338-DF7A0E52B19D}" type="slidenum">
              <a:t>24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6DC81E7A-5089-4595-BFF0-61E07AC4A16B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Idea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</a:t>
            </a:r>
            <a:endParaRPr b="0" lang="en-US" sz="24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Keep track of remaining legal values for unassigned variables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Terminate search when any variable has no legal values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1" name="Picture 4" descr="forward-checking-progress4c"/>
          <p:cNvPicPr/>
          <p:nvPr/>
        </p:nvPicPr>
        <p:blipFill>
          <a:blip r:embed="rId1"/>
          <a:stretch/>
        </p:blipFill>
        <p:spPr>
          <a:xfrm>
            <a:off x="1828800" y="3896280"/>
            <a:ext cx="5133240" cy="2275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213F11-E34E-49F8-972F-595AF582EF1A}" type="slidenum">
              <a:t>25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A6C47B95-87FE-4893-B5A5-2CD388F6B14B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93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7" name="Text Box 17"/>
          <p:cNvSpPr/>
          <p:nvPr/>
        </p:nvSpPr>
        <p:spPr>
          <a:xfrm>
            <a:off x="33933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 Box 18"/>
          <p:cNvSpPr/>
          <p:nvPr/>
        </p:nvSpPr>
        <p:spPr>
          <a:xfrm>
            <a:off x="3393360" y="46483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9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11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4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5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6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7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29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2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3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4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5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47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0" name="Text Box 16"/>
          <p:cNvSpPr/>
          <p:nvPr/>
        </p:nvSpPr>
        <p:spPr>
          <a:xfrm>
            <a:off x="5917320" y="167652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1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2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3" name="Text Box 19"/>
          <p:cNvSpPr/>
          <p:nvPr/>
        </p:nvSpPr>
        <p:spPr>
          <a:xfrm>
            <a:off x="5849640" y="4724280"/>
            <a:ext cx="993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65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8" name="Text Box 16"/>
          <p:cNvSpPr/>
          <p:nvPr/>
        </p:nvSpPr>
        <p:spPr>
          <a:xfrm>
            <a:off x="5924880" y="1676520"/>
            <a:ext cx="10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0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1" name="Text Box 19"/>
          <p:cNvSpPr/>
          <p:nvPr/>
        </p:nvSpPr>
        <p:spPr>
          <a:xfrm>
            <a:off x="5849640" y="4724280"/>
            <a:ext cx="993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83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6" name="Text Box 16"/>
          <p:cNvSpPr/>
          <p:nvPr/>
        </p:nvSpPr>
        <p:spPr>
          <a:xfrm>
            <a:off x="5924880" y="1676520"/>
            <a:ext cx="10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7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8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9" name="Text Box 19"/>
          <p:cNvSpPr/>
          <p:nvPr/>
        </p:nvSpPr>
        <p:spPr>
          <a:xfrm>
            <a:off x="5847840" y="472428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01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4" name="Text Box 16"/>
          <p:cNvSpPr/>
          <p:nvPr/>
        </p:nvSpPr>
        <p:spPr>
          <a:xfrm>
            <a:off x="5924880" y="1676520"/>
            <a:ext cx="10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5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6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7" name="Text Box 19"/>
          <p:cNvSpPr/>
          <p:nvPr/>
        </p:nvSpPr>
        <p:spPr>
          <a:xfrm>
            <a:off x="5855040" y="472428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19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2" name="Text Box 16"/>
          <p:cNvSpPr/>
          <p:nvPr/>
        </p:nvSpPr>
        <p:spPr>
          <a:xfrm>
            <a:off x="5924880" y="1676520"/>
            <a:ext cx="10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3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4" name="Text Box 18"/>
          <p:cNvSpPr/>
          <p:nvPr/>
        </p:nvSpPr>
        <p:spPr>
          <a:xfrm>
            <a:off x="3421080" y="4648320"/>
            <a:ext cx="871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5" name="Text Box 19"/>
          <p:cNvSpPr/>
          <p:nvPr/>
        </p:nvSpPr>
        <p:spPr>
          <a:xfrm>
            <a:off x="5855040" y="472428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37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0" name="Text Box 16"/>
          <p:cNvSpPr/>
          <p:nvPr/>
        </p:nvSpPr>
        <p:spPr>
          <a:xfrm>
            <a:off x="5924880" y="1676520"/>
            <a:ext cx="10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1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2" name="Text Box 18"/>
          <p:cNvSpPr/>
          <p:nvPr/>
        </p:nvSpPr>
        <p:spPr>
          <a:xfrm>
            <a:off x="3421080" y="4648320"/>
            <a:ext cx="871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3" name="Text Box 19"/>
          <p:cNvSpPr/>
          <p:nvPr/>
        </p:nvSpPr>
        <p:spPr>
          <a:xfrm>
            <a:off x="5855040" y="472428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4" name="Text Box 20"/>
          <p:cNvSpPr/>
          <p:nvPr/>
        </p:nvSpPr>
        <p:spPr>
          <a:xfrm>
            <a:off x="3124080" y="5105520"/>
            <a:ext cx="1675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Dead End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56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9" name="Text Box 16"/>
          <p:cNvSpPr/>
          <p:nvPr/>
        </p:nvSpPr>
        <p:spPr>
          <a:xfrm>
            <a:off x="5924520" y="1676520"/>
            <a:ext cx="99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0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1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2" name="Text Box 19"/>
          <p:cNvSpPr/>
          <p:nvPr/>
        </p:nvSpPr>
        <p:spPr>
          <a:xfrm>
            <a:off x="5849640" y="4724280"/>
            <a:ext cx="993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74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7" name="Text Box 16"/>
          <p:cNvSpPr/>
          <p:nvPr/>
        </p:nvSpPr>
        <p:spPr>
          <a:xfrm>
            <a:off x="5924520" y="1676520"/>
            <a:ext cx="99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8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89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0" name="Text Box 19"/>
          <p:cNvSpPr/>
          <p:nvPr/>
        </p:nvSpPr>
        <p:spPr>
          <a:xfrm>
            <a:off x="5861160" y="4724280"/>
            <a:ext cx="88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9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5" name="Text Box 16"/>
          <p:cNvSpPr/>
          <p:nvPr/>
        </p:nvSpPr>
        <p:spPr>
          <a:xfrm>
            <a:off x="5924520" y="1676520"/>
            <a:ext cx="99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6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7" name="Text Box 18"/>
          <p:cNvSpPr/>
          <p:nvPr/>
        </p:nvSpPr>
        <p:spPr>
          <a:xfrm>
            <a:off x="3409560" y="46483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8" name="Text Box 19"/>
          <p:cNvSpPr/>
          <p:nvPr/>
        </p:nvSpPr>
        <p:spPr>
          <a:xfrm>
            <a:off x="5861160" y="4724280"/>
            <a:ext cx="88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Forward Checking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410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Text Box 15"/>
          <p:cNvSpPr/>
          <p:nvPr/>
        </p:nvSpPr>
        <p:spPr>
          <a:xfrm>
            <a:off x="144252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3" name="Text Box 16"/>
          <p:cNvSpPr/>
          <p:nvPr/>
        </p:nvSpPr>
        <p:spPr>
          <a:xfrm>
            <a:off x="5924520" y="1676520"/>
            <a:ext cx="99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4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5" name="Text Box 18"/>
          <p:cNvSpPr/>
          <p:nvPr/>
        </p:nvSpPr>
        <p:spPr>
          <a:xfrm>
            <a:off x="3416760" y="464832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6" name="Text Box 19"/>
          <p:cNvSpPr/>
          <p:nvPr/>
        </p:nvSpPr>
        <p:spPr>
          <a:xfrm>
            <a:off x="5861160" y="4724280"/>
            <a:ext cx="88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7" name="Text Box 20"/>
          <p:cNvSpPr/>
          <p:nvPr/>
        </p:nvSpPr>
        <p:spPr>
          <a:xfrm>
            <a:off x="2666880" y="5181480"/>
            <a:ext cx="251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Solution !!!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429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430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431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4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6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7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9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40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1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2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3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4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5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6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47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448" name="Group 22"/>
          <p:cNvGrpSpPr/>
          <p:nvPr/>
        </p:nvGrpSpPr>
        <p:grpSpPr>
          <a:xfrm>
            <a:off x="4164480" y="2133720"/>
            <a:ext cx="3919680" cy="3259440"/>
            <a:chOff x="4164480" y="2133720"/>
            <a:chExt cx="3919680" cy="3259440"/>
          </a:xfrm>
        </p:grpSpPr>
        <p:grpSp>
          <p:nvGrpSpPr>
            <p:cNvPr id="449" name="Group 23"/>
            <p:cNvGrpSpPr/>
            <p:nvPr/>
          </p:nvGrpSpPr>
          <p:grpSpPr>
            <a:xfrm>
              <a:off x="4164480" y="2133720"/>
              <a:ext cx="3919680" cy="3259440"/>
              <a:chOff x="4164480" y="2133720"/>
              <a:chExt cx="3919680" cy="3259440"/>
            </a:xfrm>
          </p:grpSpPr>
          <p:sp>
            <p:nvSpPr>
              <p:cNvPr id="450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51" name="Text Box 25"/>
              <p:cNvSpPr/>
              <p:nvPr/>
            </p:nvSpPr>
            <p:spPr>
              <a:xfrm>
                <a:off x="4164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52" name="Text Box 26"/>
              <p:cNvSpPr/>
              <p:nvPr/>
            </p:nvSpPr>
            <p:spPr>
              <a:xfrm>
                <a:off x="6450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53" name="Text Box 27"/>
              <p:cNvSpPr/>
              <p:nvPr/>
            </p:nvSpPr>
            <p:spPr>
              <a:xfrm>
                <a:off x="6450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454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461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462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463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4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5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6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7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9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0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1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72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3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4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5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6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7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8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79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480" name="Group 22"/>
          <p:cNvGrpSpPr/>
          <p:nvPr/>
        </p:nvGrpSpPr>
        <p:grpSpPr>
          <a:xfrm>
            <a:off x="4164480" y="2133720"/>
            <a:ext cx="3919680" cy="3259440"/>
            <a:chOff x="4164480" y="2133720"/>
            <a:chExt cx="3919680" cy="3259440"/>
          </a:xfrm>
        </p:grpSpPr>
        <p:grpSp>
          <p:nvGrpSpPr>
            <p:cNvPr id="481" name="Group 23"/>
            <p:cNvGrpSpPr/>
            <p:nvPr/>
          </p:nvGrpSpPr>
          <p:grpSpPr>
            <a:xfrm>
              <a:off x="4164480" y="2133720"/>
              <a:ext cx="3919680" cy="3259440"/>
              <a:chOff x="4164480" y="2133720"/>
              <a:chExt cx="3919680" cy="3259440"/>
            </a:xfrm>
          </p:grpSpPr>
          <p:sp>
            <p:nvSpPr>
              <p:cNvPr id="482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83" name="Text Box 25"/>
              <p:cNvSpPr/>
              <p:nvPr/>
            </p:nvSpPr>
            <p:spPr>
              <a:xfrm>
                <a:off x="4164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84" name="Text Box 26"/>
              <p:cNvSpPr/>
              <p:nvPr/>
            </p:nvSpPr>
            <p:spPr>
              <a:xfrm>
                <a:off x="6450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85" name="Text Box 27"/>
              <p:cNvSpPr/>
              <p:nvPr/>
            </p:nvSpPr>
            <p:spPr>
              <a:xfrm>
                <a:off x="6450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486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2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93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494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Oval 37"/>
            <p:cNvSpPr/>
            <p:nvPr/>
          </p:nvSpPr>
          <p:spPr>
            <a:xfrm>
              <a:off x="25146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Oval 38"/>
            <p:cNvSpPr/>
            <p:nvPr/>
          </p:nvSpPr>
          <p:spPr>
            <a:xfrm>
              <a:off x="29718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Oval 40"/>
            <p:cNvSpPr/>
            <p:nvPr/>
          </p:nvSpPr>
          <p:spPr>
            <a:xfrm>
              <a:off x="29718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Oval 41"/>
            <p:cNvSpPr/>
            <p:nvPr/>
          </p:nvSpPr>
          <p:spPr>
            <a:xfrm>
              <a:off x="25146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501" name="Group 3"/>
          <p:cNvGrpSpPr/>
          <p:nvPr/>
        </p:nvGrpSpPr>
        <p:grpSpPr>
          <a:xfrm>
            <a:off x="1219680" y="2666880"/>
            <a:ext cx="2142720" cy="2209320"/>
            <a:chOff x="1219680" y="2666880"/>
            <a:chExt cx="2142720" cy="2209320"/>
          </a:xfrm>
        </p:grpSpPr>
        <p:grpSp>
          <p:nvGrpSpPr>
            <p:cNvPr id="502" name="Group 4"/>
            <p:cNvGrpSpPr/>
            <p:nvPr/>
          </p:nvGrpSpPr>
          <p:grpSpPr>
            <a:xfrm>
              <a:off x="1534320" y="3048120"/>
              <a:ext cx="1828080" cy="1828080"/>
              <a:chOff x="1534320" y="3048120"/>
              <a:chExt cx="1828080" cy="1828080"/>
            </a:xfrm>
          </p:grpSpPr>
          <p:sp>
            <p:nvSpPr>
              <p:cNvPr id="503" name="Rectangle 5"/>
              <p:cNvSpPr/>
              <p:nvPr/>
            </p:nvSpPr>
            <p:spPr>
              <a:xfrm>
                <a:off x="153432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4" name="Rectangle 6"/>
              <p:cNvSpPr/>
              <p:nvPr/>
            </p:nvSpPr>
            <p:spPr>
              <a:xfrm>
                <a:off x="199152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5" name="Rectangle 7"/>
              <p:cNvSpPr/>
              <p:nvPr/>
            </p:nvSpPr>
            <p:spPr>
              <a:xfrm>
                <a:off x="244872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6" name="Rectangle 8"/>
              <p:cNvSpPr/>
              <p:nvPr/>
            </p:nvSpPr>
            <p:spPr>
              <a:xfrm>
                <a:off x="199152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7" name="Rectangle 9"/>
              <p:cNvSpPr/>
              <p:nvPr/>
            </p:nvSpPr>
            <p:spPr>
              <a:xfrm>
                <a:off x="153432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8" name="Rectangle 10"/>
              <p:cNvSpPr/>
              <p:nvPr/>
            </p:nvSpPr>
            <p:spPr>
              <a:xfrm>
                <a:off x="290592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9" name="Rectangle 11"/>
              <p:cNvSpPr/>
              <p:nvPr/>
            </p:nvSpPr>
            <p:spPr>
              <a:xfrm>
                <a:off x="244872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0" name="Rectangle 12"/>
              <p:cNvSpPr/>
              <p:nvPr/>
            </p:nvSpPr>
            <p:spPr>
              <a:xfrm>
                <a:off x="153432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1" name="Rectangle 13"/>
              <p:cNvSpPr/>
              <p:nvPr/>
            </p:nvSpPr>
            <p:spPr>
              <a:xfrm>
                <a:off x="290592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12" name="Text Box 14"/>
            <p:cNvSpPr/>
            <p:nvPr/>
          </p:nvSpPr>
          <p:spPr>
            <a:xfrm>
              <a:off x="121968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3" name="Text Box 15"/>
            <p:cNvSpPr/>
            <p:nvPr/>
          </p:nvSpPr>
          <p:spPr>
            <a:xfrm>
              <a:off x="121968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4" name="Text Box 16"/>
            <p:cNvSpPr/>
            <p:nvPr/>
          </p:nvSpPr>
          <p:spPr>
            <a:xfrm>
              <a:off x="121968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5" name="Text Box 17"/>
            <p:cNvSpPr/>
            <p:nvPr/>
          </p:nvSpPr>
          <p:spPr>
            <a:xfrm>
              <a:off x="121968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6" name="Text Box 18"/>
            <p:cNvSpPr/>
            <p:nvPr/>
          </p:nvSpPr>
          <p:spPr>
            <a:xfrm>
              <a:off x="251532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7" name="Text Box 19"/>
            <p:cNvSpPr/>
            <p:nvPr/>
          </p:nvSpPr>
          <p:spPr>
            <a:xfrm>
              <a:off x="205812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8" name="Text Box 20"/>
            <p:cNvSpPr/>
            <p:nvPr/>
          </p:nvSpPr>
          <p:spPr>
            <a:xfrm>
              <a:off x="297252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19" name="Text Box 21"/>
            <p:cNvSpPr/>
            <p:nvPr/>
          </p:nvSpPr>
          <p:spPr>
            <a:xfrm>
              <a:off x="160092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520" name="Group 22"/>
          <p:cNvGrpSpPr/>
          <p:nvPr/>
        </p:nvGrpSpPr>
        <p:grpSpPr>
          <a:xfrm>
            <a:off x="4161600" y="2133720"/>
            <a:ext cx="3922920" cy="3259440"/>
            <a:chOff x="4161600" y="2133720"/>
            <a:chExt cx="3922920" cy="3259440"/>
          </a:xfrm>
        </p:grpSpPr>
        <p:grpSp>
          <p:nvGrpSpPr>
            <p:cNvPr id="521" name="Group 23"/>
            <p:cNvGrpSpPr/>
            <p:nvPr/>
          </p:nvGrpSpPr>
          <p:grpSpPr>
            <a:xfrm>
              <a:off x="4161600" y="2133720"/>
              <a:ext cx="3922920" cy="3259440"/>
              <a:chOff x="4161600" y="2133720"/>
              <a:chExt cx="3922920" cy="3259440"/>
            </a:xfrm>
          </p:grpSpPr>
          <p:sp>
            <p:nvSpPr>
              <p:cNvPr id="522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23" name="Text Box 25"/>
              <p:cNvSpPr/>
              <p:nvPr/>
            </p:nvSpPr>
            <p:spPr>
              <a:xfrm>
                <a:off x="4161600" y="457200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24" name="Text Box 26"/>
              <p:cNvSpPr/>
              <p:nvPr/>
            </p:nvSpPr>
            <p:spPr>
              <a:xfrm>
                <a:off x="6447600" y="457200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25" name="Text Box 27"/>
              <p:cNvSpPr/>
              <p:nvPr/>
            </p:nvSpPr>
            <p:spPr>
              <a:xfrm>
                <a:off x="6447600" y="2133720"/>
                <a:ext cx="16365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 ,  ,3,4}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526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7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8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9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1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2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33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534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5" name="Oval 37"/>
            <p:cNvSpPr/>
            <p:nvPr/>
          </p:nvSpPr>
          <p:spPr>
            <a:xfrm>
              <a:off x="25146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Oval 38"/>
            <p:cNvSpPr/>
            <p:nvPr/>
          </p:nvSpPr>
          <p:spPr>
            <a:xfrm>
              <a:off x="29718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7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8" name="Oval 40"/>
            <p:cNvSpPr/>
            <p:nvPr/>
          </p:nvSpPr>
          <p:spPr>
            <a:xfrm>
              <a:off x="29718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9" name="Oval 41"/>
            <p:cNvSpPr/>
            <p:nvPr/>
          </p:nvSpPr>
          <p:spPr>
            <a:xfrm>
              <a:off x="25146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541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542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543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4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5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6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7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8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9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0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1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52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3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4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5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6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7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8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59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560" name="Group 22"/>
          <p:cNvGrpSpPr/>
          <p:nvPr/>
        </p:nvGrpSpPr>
        <p:grpSpPr>
          <a:xfrm>
            <a:off x="4161600" y="2133720"/>
            <a:ext cx="3922920" cy="3259440"/>
            <a:chOff x="4161600" y="2133720"/>
            <a:chExt cx="3922920" cy="3259440"/>
          </a:xfrm>
        </p:grpSpPr>
        <p:grpSp>
          <p:nvGrpSpPr>
            <p:cNvPr id="561" name="Group 23"/>
            <p:cNvGrpSpPr/>
            <p:nvPr/>
          </p:nvGrpSpPr>
          <p:grpSpPr>
            <a:xfrm>
              <a:off x="4161600" y="2133720"/>
              <a:ext cx="3922920" cy="3259440"/>
              <a:chOff x="4161600" y="2133720"/>
              <a:chExt cx="3922920" cy="3259440"/>
            </a:xfrm>
          </p:grpSpPr>
          <p:sp>
            <p:nvSpPr>
              <p:cNvPr id="562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63" name="Text Box 25"/>
              <p:cNvSpPr/>
              <p:nvPr/>
            </p:nvSpPr>
            <p:spPr>
              <a:xfrm>
                <a:off x="4161600" y="457200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64" name="Text Box 26"/>
              <p:cNvSpPr/>
              <p:nvPr/>
            </p:nvSpPr>
            <p:spPr>
              <a:xfrm>
                <a:off x="6447600" y="457200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565" name="Text Box 27"/>
              <p:cNvSpPr/>
              <p:nvPr/>
            </p:nvSpPr>
            <p:spPr>
              <a:xfrm>
                <a:off x="6447600" y="213372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3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566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2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Oval 35"/>
          <p:cNvSpPr/>
          <p:nvPr/>
        </p:nvSpPr>
        <p:spPr>
          <a:xfrm>
            <a:off x="20574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Oval 36"/>
          <p:cNvSpPr/>
          <p:nvPr/>
        </p:nvSpPr>
        <p:spPr>
          <a:xfrm>
            <a:off x="25146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Oval 37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Oval 38"/>
          <p:cNvSpPr/>
          <p:nvPr/>
        </p:nvSpPr>
        <p:spPr>
          <a:xfrm>
            <a:off x="20574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7" name="Oval 39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Oval 40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AutoShape 41"/>
          <p:cNvSpPr/>
          <p:nvPr/>
        </p:nvSpPr>
        <p:spPr>
          <a:xfrm>
            <a:off x="1981080" y="39625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Oval 42"/>
          <p:cNvSpPr/>
          <p:nvPr/>
        </p:nvSpPr>
        <p:spPr>
          <a:xfrm>
            <a:off x="25146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Oval 43"/>
          <p:cNvSpPr/>
          <p:nvPr/>
        </p:nvSpPr>
        <p:spPr>
          <a:xfrm>
            <a:off x="25146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Oval 44"/>
          <p:cNvSpPr/>
          <p:nvPr/>
        </p:nvSpPr>
        <p:spPr>
          <a:xfrm>
            <a:off x="29718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584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585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586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7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8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9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0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1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2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3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4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95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96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97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98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99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00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01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02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603" name="Group 22"/>
          <p:cNvGrpSpPr/>
          <p:nvPr/>
        </p:nvGrpSpPr>
        <p:grpSpPr>
          <a:xfrm>
            <a:off x="4158000" y="2133720"/>
            <a:ext cx="3926520" cy="3259440"/>
            <a:chOff x="4158000" y="2133720"/>
            <a:chExt cx="3926520" cy="3259440"/>
          </a:xfrm>
        </p:grpSpPr>
        <p:grpSp>
          <p:nvGrpSpPr>
            <p:cNvPr id="604" name="Group 23"/>
            <p:cNvGrpSpPr/>
            <p:nvPr/>
          </p:nvGrpSpPr>
          <p:grpSpPr>
            <a:xfrm>
              <a:off x="4158000" y="2133720"/>
              <a:ext cx="3926520" cy="3259440"/>
              <a:chOff x="4158000" y="2133720"/>
              <a:chExt cx="3926520" cy="3259440"/>
            </a:xfrm>
          </p:grpSpPr>
          <p:sp>
            <p:nvSpPr>
              <p:cNvPr id="605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06" name="Text Box 25"/>
              <p:cNvSpPr/>
              <p:nvPr/>
            </p:nvSpPr>
            <p:spPr>
              <a:xfrm>
                <a:off x="4158000" y="4572000"/>
                <a:ext cx="16401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07" name="Text Box 26"/>
              <p:cNvSpPr/>
              <p:nvPr/>
            </p:nvSpPr>
            <p:spPr>
              <a:xfrm>
                <a:off x="6494760" y="4572000"/>
                <a:ext cx="154080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 ,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08" name="Text Box 27"/>
              <p:cNvSpPr/>
              <p:nvPr/>
            </p:nvSpPr>
            <p:spPr>
              <a:xfrm>
                <a:off x="6447600" y="2133720"/>
                <a:ext cx="16369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3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609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0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15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Oval 35"/>
          <p:cNvSpPr/>
          <p:nvPr/>
        </p:nvSpPr>
        <p:spPr>
          <a:xfrm>
            <a:off x="20574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Oval 36"/>
          <p:cNvSpPr/>
          <p:nvPr/>
        </p:nvSpPr>
        <p:spPr>
          <a:xfrm>
            <a:off x="25146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Oval 37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9" name="Oval 38"/>
          <p:cNvSpPr/>
          <p:nvPr/>
        </p:nvSpPr>
        <p:spPr>
          <a:xfrm>
            <a:off x="20574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Oval 39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Oval 40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AutoShape 41"/>
          <p:cNvSpPr/>
          <p:nvPr/>
        </p:nvSpPr>
        <p:spPr>
          <a:xfrm>
            <a:off x="1981080" y="39625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Oval 42"/>
          <p:cNvSpPr/>
          <p:nvPr/>
        </p:nvSpPr>
        <p:spPr>
          <a:xfrm>
            <a:off x="25146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4" name="Oval 43"/>
          <p:cNvSpPr/>
          <p:nvPr/>
        </p:nvSpPr>
        <p:spPr>
          <a:xfrm>
            <a:off x="25146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Oval 44"/>
          <p:cNvSpPr/>
          <p:nvPr/>
        </p:nvSpPr>
        <p:spPr>
          <a:xfrm>
            <a:off x="29718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Text Box 45"/>
          <p:cNvSpPr/>
          <p:nvPr/>
        </p:nvSpPr>
        <p:spPr>
          <a:xfrm>
            <a:off x="1828800" y="5867280"/>
            <a:ext cx="28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Dead End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Backtrack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628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629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630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1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2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3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4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5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6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7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8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639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0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1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2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3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4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5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46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647" name="Group 22"/>
          <p:cNvGrpSpPr/>
          <p:nvPr/>
        </p:nvGrpSpPr>
        <p:grpSpPr>
          <a:xfrm>
            <a:off x="4062240" y="2133720"/>
            <a:ext cx="3973680" cy="3259440"/>
            <a:chOff x="4062240" y="2133720"/>
            <a:chExt cx="3973680" cy="3259440"/>
          </a:xfrm>
        </p:grpSpPr>
        <p:grpSp>
          <p:nvGrpSpPr>
            <p:cNvPr id="648" name="Group 23"/>
            <p:cNvGrpSpPr/>
            <p:nvPr/>
          </p:nvGrpSpPr>
          <p:grpSpPr>
            <a:xfrm>
              <a:off x="4062240" y="2133720"/>
              <a:ext cx="3973680" cy="3259440"/>
              <a:chOff x="4062240" y="2133720"/>
              <a:chExt cx="3973680" cy="3259440"/>
            </a:xfrm>
          </p:grpSpPr>
          <p:sp>
            <p:nvSpPr>
              <p:cNvPr id="649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50" name="Text Box 25"/>
              <p:cNvSpPr/>
              <p:nvPr/>
            </p:nvSpPr>
            <p:spPr>
              <a:xfrm>
                <a:off x="4062240" y="4572000"/>
                <a:ext cx="183384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2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51" name="Text Box 26"/>
              <p:cNvSpPr/>
              <p:nvPr/>
            </p:nvSpPr>
            <p:spPr>
              <a:xfrm>
                <a:off x="6494760" y="4572000"/>
                <a:ext cx="154080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,3,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52" name="Text Box 27"/>
              <p:cNvSpPr/>
              <p:nvPr/>
            </p:nvSpPr>
            <p:spPr>
              <a:xfrm>
                <a:off x="6494760" y="2133720"/>
                <a:ext cx="15411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653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4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5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6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7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8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59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Oval 35"/>
          <p:cNvSpPr/>
          <p:nvPr/>
        </p:nvSpPr>
        <p:spPr>
          <a:xfrm>
            <a:off x="20574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Oval 36"/>
          <p:cNvSpPr/>
          <p:nvPr/>
        </p:nvSpPr>
        <p:spPr>
          <a:xfrm>
            <a:off x="25146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Oval 37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Oval 38"/>
          <p:cNvSpPr/>
          <p:nvPr/>
        </p:nvSpPr>
        <p:spPr>
          <a:xfrm>
            <a:off x="20574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Oval 39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Oval 40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AutoShape 41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Oval 42"/>
          <p:cNvSpPr/>
          <p:nvPr/>
        </p:nvSpPr>
        <p:spPr>
          <a:xfrm>
            <a:off x="25146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Oval 44"/>
          <p:cNvSpPr/>
          <p:nvPr/>
        </p:nvSpPr>
        <p:spPr>
          <a:xfrm>
            <a:off x="29718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670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671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672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3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4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5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6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7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8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9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0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681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2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3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4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5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6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7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688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689" name="Group 22"/>
          <p:cNvGrpSpPr/>
          <p:nvPr/>
        </p:nvGrpSpPr>
        <p:grpSpPr>
          <a:xfrm>
            <a:off x="4062240" y="2133720"/>
            <a:ext cx="4022280" cy="3259440"/>
            <a:chOff x="4062240" y="2133720"/>
            <a:chExt cx="4022280" cy="3259440"/>
          </a:xfrm>
        </p:grpSpPr>
        <p:grpSp>
          <p:nvGrpSpPr>
            <p:cNvPr id="690" name="Group 23"/>
            <p:cNvGrpSpPr/>
            <p:nvPr/>
          </p:nvGrpSpPr>
          <p:grpSpPr>
            <a:xfrm>
              <a:off x="4062240" y="2133720"/>
              <a:ext cx="4022280" cy="3259440"/>
              <a:chOff x="4062240" y="2133720"/>
              <a:chExt cx="4022280" cy="3259440"/>
            </a:xfrm>
          </p:grpSpPr>
          <p:sp>
            <p:nvSpPr>
              <p:cNvPr id="691" name="Text Box 24"/>
              <p:cNvSpPr/>
              <p:nvPr/>
            </p:nvSpPr>
            <p:spPr>
              <a:xfrm>
                <a:off x="4164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92" name="Text Box 25"/>
              <p:cNvSpPr/>
              <p:nvPr/>
            </p:nvSpPr>
            <p:spPr>
              <a:xfrm>
                <a:off x="4062240" y="4572000"/>
                <a:ext cx="183384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93" name="Text Box 26"/>
              <p:cNvSpPr/>
              <p:nvPr/>
            </p:nvSpPr>
            <p:spPr>
              <a:xfrm>
                <a:off x="6541920" y="4572000"/>
                <a:ext cx="144504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, ,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694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 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695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01" name="AutoShape 34"/>
          <p:cNvSpPr/>
          <p:nvPr/>
        </p:nvSpPr>
        <p:spPr>
          <a:xfrm>
            <a:off x="15238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Oval 35"/>
          <p:cNvSpPr/>
          <p:nvPr/>
        </p:nvSpPr>
        <p:spPr>
          <a:xfrm>
            <a:off x="20574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Oval 36"/>
          <p:cNvSpPr/>
          <p:nvPr/>
        </p:nvSpPr>
        <p:spPr>
          <a:xfrm>
            <a:off x="25146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4" name="Oval 37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Oval 38"/>
          <p:cNvSpPr/>
          <p:nvPr/>
        </p:nvSpPr>
        <p:spPr>
          <a:xfrm>
            <a:off x="20574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Oval 39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Oval 40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AutoShape 41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Oval 42"/>
          <p:cNvSpPr/>
          <p:nvPr/>
        </p:nvSpPr>
        <p:spPr>
          <a:xfrm>
            <a:off x="25146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Oval 46"/>
          <p:cNvSpPr/>
          <p:nvPr/>
        </p:nvSpPr>
        <p:spPr>
          <a:xfrm>
            <a:off x="2971800" y="35812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AutoShape 47"/>
          <p:cNvSpPr/>
          <p:nvPr/>
        </p:nvSpPr>
        <p:spPr>
          <a:xfrm>
            <a:off x="24382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Oval 48"/>
          <p:cNvSpPr/>
          <p:nvPr/>
        </p:nvSpPr>
        <p:spPr>
          <a:xfrm>
            <a:off x="29718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Text Box 49"/>
          <p:cNvSpPr/>
          <p:nvPr/>
        </p:nvSpPr>
        <p:spPr>
          <a:xfrm>
            <a:off x="1828800" y="5867280"/>
            <a:ext cx="28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Dead End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Backtrack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715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716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717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8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9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0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1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2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3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4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5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26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27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28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29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30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31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32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33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734" name="Group 22"/>
          <p:cNvGrpSpPr/>
          <p:nvPr/>
        </p:nvGrpSpPr>
        <p:grpSpPr>
          <a:xfrm>
            <a:off x="4163040" y="2133720"/>
            <a:ext cx="3921120" cy="3259440"/>
            <a:chOff x="4163040" y="2133720"/>
            <a:chExt cx="3921120" cy="3259440"/>
          </a:xfrm>
        </p:grpSpPr>
        <p:grpSp>
          <p:nvGrpSpPr>
            <p:cNvPr id="735" name="Group 23"/>
            <p:cNvGrpSpPr/>
            <p:nvPr/>
          </p:nvGrpSpPr>
          <p:grpSpPr>
            <a:xfrm>
              <a:off x="4163040" y="2133720"/>
              <a:ext cx="3921120" cy="3259440"/>
              <a:chOff x="4163040" y="2133720"/>
              <a:chExt cx="3921120" cy="3259440"/>
            </a:xfrm>
          </p:grpSpPr>
          <p:sp>
            <p:nvSpPr>
              <p:cNvPr id="736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</a:t>
                </a:r>
                <a:r>
                  <a:rPr b="0" lang="en-US" sz="2400" spc="-1" strike="noStrike">
                    <a:solidFill>
                      <a:srgbClr val="ed7d31"/>
                    </a:solidFill>
                    <a:latin typeface="Tahoma"/>
                    <a:ea typeface="DejaVu Sans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37" name="Text Box 25"/>
              <p:cNvSpPr/>
              <p:nvPr/>
            </p:nvSpPr>
            <p:spPr>
              <a:xfrm>
                <a:off x="4164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38" name="Text Box 26"/>
              <p:cNvSpPr/>
              <p:nvPr/>
            </p:nvSpPr>
            <p:spPr>
              <a:xfrm>
                <a:off x="6450480" y="457200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39" name="Text Box 27"/>
              <p:cNvSpPr/>
              <p:nvPr/>
            </p:nvSpPr>
            <p:spPr>
              <a:xfrm>
                <a:off x="6450480" y="2133720"/>
                <a:ext cx="16336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{1,2,3,4}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740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1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2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3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4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5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46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47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748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9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1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2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nodeType="clickEffect" fill="hold">
                      <p:stCondLst>
                        <p:cond delay="indefinite"/>
                      </p:stCondLst>
                      <p:childTnLst>
                        <p:par>
                          <p:cTn id="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755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756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757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8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9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0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1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2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3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4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5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66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67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68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69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70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71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72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73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774" name="Group 22"/>
          <p:cNvGrpSpPr/>
          <p:nvPr/>
        </p:nvGrpSpPr>
        <p:grpSpPr>
          <a:xfrm>
            <a:off x="4161600" y="2133720"/>
            <a:ext cx="3922920" cy="3259440"/>
            <a:chOff x="4161600" y="2133720"/>
            <a:chExt cx="3922920" cy="3259440"/>
          </a:xfrm>
        </p:grpSpPr>
        <p:grpSp>
          <p:nvGrpSpPr>
            <p:cNvPr id="775" name="Group 23"/>
            <p:cNvGrpSpPr/>
            <p:nvPr/>
          </p:nvGrpSpPr>
          <p:grpSpPr>
            <a:xfrm>
              <a:off x="4161600" y="2133720"/>
              <a:ext cx="3922920" cy="3259440"/>
              <a:chOff x="4161600" y="2133720"/>
              <a:chExt cx="3922920" cy="3259440"/>
            </a:xfrm>
          </p:grpSpPr>
          <p:sp>
            <p:nvSpPr>
              <p:cNvPr id="776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77" name="Text Box 25"/>
              <p:cNvSpPr/>
              <p:nvPr/>
            </p:nvSpPr>
            <p:spPr>
              <a:xfrm>
                <a:off x="4161600" y="4572000"/>
                <a:ext cx="16365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78" name="Text Box 26"/>
              <p:cNvSpPr/>
              <p:nvPr/>
            </p:nvSpPr>
            <p:spPr>
              <a:xfrm>
                <a:off x="6449040" y="4572000"/>
                <a:ext cx="16351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79" name="Text Box 27"/>
              <p:cNvSpPr/>
              <p:nvPr/>
            </p:nvSpPr>
            <p:spPr>
              <a:xfrm>
                <a:off x="6446160" y="2133720"/>
                <a:ext cx="16383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,4}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780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86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87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788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795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796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797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98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99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0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1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2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3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4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5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06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07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08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09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10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11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12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13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814" name="Group 22"/>
          <p:cNvGrpSpPr/>
          <p:nvPr/>
        </p:nvGrpSpPr>
        <p:grpSpPr>
          <a:xfrm>
            <a:off x="4161600" y="2133720"/>
            <a:ext cx="3922920" cy="3259440"/>
            <a:chOff x="4161600" y="2133720"/>
            <a:chExt cx="3922920" cy="3259440"/>
          </a:xfrm>
        </p:grpSpPr>
        <p:grpSp>
          <p:nvGrpSpPr>
            <p:cNvPr id="815" name="Group 23"/>
            <p:cNvGrpSpPr/>
            <p:nvPr/>
          </p:nvGrpSpPr>
          <p:grpSpPr>
            <a:xfrm>
              <a:off x="4161600" y="2133720"/>
              <a:ext cx="3922920" cy="3259440"/>
              <a:chOff x="4161600" y="2133720"/>
              <a:chExt cx="3922920" cy="3259440"/>
            </a:xfrm>
          </p:grpSpPr>
          <p:sp>
            <p:nvSpPr>
              <p:cNvPr id="816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17" name="Text Box 25"/>
              <p:cNvSpPr/>
              <p:nvPr/>
            </p:nvSpPr>
            <p:spPr>
              <a:xfrm>
                <a:off x="4161600" y="4572000"/>
                <a:ext cx="16365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18" name="Text Box 26"/>
              <p:cNvSpPr/>
              <p:nvPr/>
            </p:nvSpPr>
            <p:spPr>
              <a:xfrm>
                <a:off x="6449040" y="4572000"/>
                <a:ext cx="16351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19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820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1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3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4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5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6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7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828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9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0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1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2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3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34" name="AutoShape 42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Oval 43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6" name="Oval 44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838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839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840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1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2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3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4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5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6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7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8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49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0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1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2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3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4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5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56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857" name="Group 22"/>
          <p:cNvGrpSpPr/>
          <p:nvPr/>
        </p:nvGrpSpPr>
        <p:grpSpPr>
          <a:xfrm>
            <a:off x="4160160" y="2133720"/>
            <a:ext cx="3924360" cy="3259440"/>
            <a:chOff x="4160160" y="2133720"/>
            <a:chExt cx="3924360" cy="3259440"/>
          </a:xfrm>
        </p:grpSpPr>
        <p:grpSp>
          <p:nvGrpSpPr>
            <p:cNvPr id="858" name="Group 23"/>
            <p:cNvGrpSpPr/>
            <p:nvPr/>
          </p:nvGrpSpPr>
          <p:grpSpPr>
            <a:xfrm>
              <a:off x="4160160" y="2133720"/>
              <a:ext cx="3924360" cy="3259440"/>
              <a:chOff x="4160160" y="2133720"/>
              <a:chExt cx="3924360" cy="3259440"/>
            </a:xfrm>
          </p:grpSpPr>
          <p:sp>
            <p:nvSpPr>
              <p:cNvPr id="859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60" name="Text Box 25"/>
              <p:cNvSpPr/>
              <p:nvPr/>
            </p:nvSpPr>
            <p:spPr>
              <a:xfrm>
                <a:off x="4160160" y="4572000"/>
                <a:ext cx="163800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  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61" name="Text Box 26"/>
              <p:cNvSpPr/>
              <p:nvPr/>
            </p:nvSpPr>
            <p:spPr>
              <a:xfrm>
                <a:off x="6447600" y="4572000"/>
                <a:ext cx="16365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862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863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4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5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6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7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8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9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70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871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2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3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4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5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6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77" name="AutoShape 42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78" name="Oval 43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9" name="Oval 44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881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882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883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4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5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6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7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8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9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0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1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92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3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4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5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6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7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8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99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900" name="Group 22"/>
          <p:cNvGrpSpPr/>
          <p:nvPr/>
        </p:nvGrpSpPr>
        <p:grpSpPr>
          <a:xfrm>
            <a:off x="4160160" y="2133720"/>
            <a:ext cx="3924360" cy="3259440"/>
            <a:chOff x="4160160" y="2133720"/>
            <a:chExt cx="3924360" cy="3259440"/>
          </a:xfrm>
        </p:grpSpPr>
        <p:grpSp>
          <p:nvGrpSpPr>
            <p:cNvPr id="901" name="Group 23"/>
            <p:cNvGrpSpPr/>
            <p:nvPr/>
          </p:nvGrpSpPr>
          <p:grpSpPr>
            <a:xfrm>
              <a:off x="4160160" y="2133720"/>
              <a:ext cx="3924360" cy="3259440"/>
              <a:chOff x="4160160" y="2133720"/>
              <a:chExt cx="3924360" cy="3259440"/>
            </a:xfrm>
          </p:grpSpPr>
          <p:sp>
            <p:nvSpPr>
              <p:cNvPr id="902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03" name="Text Box 25"/>
              <p:cNvSpPr/>
              <p:nvPr/>
            </p:nvSpPr>
            <p:spPr>
              <a:xfrm>
                <a:off x="4160160" y="4572000"/>
                <a:ext cx="16383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 ,  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04" name="Text Box 26"/>
              <p:cNvSpPr/>
              <p:nvPr/>
            </p:nvSpPr>
            <p:spPr>
              <a:xfrm>
                <a:off x="6447600" y="4572000"/>
                <a:ext cx="16365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{1,  ,3,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05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906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7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8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9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0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2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13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914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0" name="AutoShape 42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Oval 43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Oval 44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3" name="AutoShape 45"/>
          <p:cNvSpPr/>
          <p:nvPr/>
        </p:nvSpPr>
        <p:spPr>
          <a:xfrm>
            <a:off x="24382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24" name="Oval 46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926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927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928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29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0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1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2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3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4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5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6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937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38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39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40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41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42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43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44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945" name="Group 22"/>
          <p:cNvGrpSpPr/>
          <p:nvPr/>
        </p:nvGrpSpPr>
        <p:grpSpPr>
          <a:xfrm>
            <a:off x="4160160" y="2133720"/>
            <a:ext cx="3924360" cy="3259440"/>
            <a:chOff x="4160160" y="2133720"/>
            <a:chExt cx="3924360" cy="3259440"/>
          </a:xfrm>
        </p:grpSpPr>
        <p:grpSp>
          <p:nvGrpSpPr>
            <p:cNvPr id="946" name="Group 23"/>
            <p:cNvGrpSpPr/>
            <p:nvPr/>
          </p:nvGrpSpPr>
          <p:grpSpPr>
            <a:xfrm>
              <a:off x="4160160" y="2133720"/>
              <a:ext cx="3924360" cy="3259440"/>
              <a:chOff x="4160160" y="2133720"/>
              <a:chExt cx="3924360" cy="3259440"/>
            </a:xfrm>
          </p:grpSpPr>
          <p:sp>
            <p:nvSpPr>
              <p:cNvPr id="947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48" name="Text Box 25"/>
              <p:cNvSpPr/>
              <p:nvPr/>
            </p:nvSpPr>
            <p:spPr>
              <a:xfrm>
                <a:off x="4160160" y="4572000"/>
                <a:ext cx="16383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 ,  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49" name="Text Box 26"/>
              <p:cNvSpPr/>
              <p:nvPr/>
            </p:nvSpPr>
            <p:spPr>
              <a:xfrm>
                <a:off x="6446160" y="4572000"/>
                <a:ext cx="163800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 ,  ,3,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50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951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3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4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5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6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7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58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959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0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1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2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3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4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65" name="AutoShape 42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66" name="Oval 43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7" name="Oval 44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8" name="AutoShape 45"/>
          <p:cNvSpPr/>
          <p:nvPr/>
        </p:nvSpPr>
        <p:spPr>
          <a:xfrm>
            <a:off x="24382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Oval 46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 Problem</a:t>
            </a:r>
            <a:endParaRPr b="0" lang="en-US" sz="3300" spc="-1" strike="noStrike">
              <a:latin typeface="Arial"/>
            </a:endParaRPr>
          </a:p>
        </p:txBody>
      </p:sp>
      <p:grpSp>
        <p:nvGrpSpPr>
          <p:cNvPr id="971" name="Group 3"/>
          <p:cNvGrpSpPr/>
          <p:nvPr/>
        </p:nvGrpSpPr>
        <p:grpSpPr>
          <a:xfrm>
            <a:off x="1209600" y="2666880"/>
            <a:ext cx="2142360" cy="2209320"/>
            <a:chOff x="1209600" y="2666880"/>
            <a:chExt cx="2142360" cy="2209320"/>
          </a:xfrm>
        </p:grpSpPr>
        <p:grpSp>
          <p:nvGrpSpPr>
            <p:cNvPr id="972" name="Group 4"/>
            <p:cNvGrpSpPr/>
            <p:nvPr/>
          </p:nvGrpSpPr>
          <p:grpSpPr>
            <a:xfrm>
              <a:off x="1523880" y="3048120"/>
              <a:ext cx="1828080" cy="1828080"/>
              <a:chOff x="1523880" y="3048120"/>
              <a:chExt cx="1828080" cy="1828080"/>
            </a:xfrm>
          </p:grpSpPr>
          <p:sp>
            <p:nvSpPr>
              <p:cNvPr id="973" name="Rectangle 5"/>
              <p:cNvSpPr/>
              <p:nvPr/>
            </p:nvSpPr>
            <p:spPr>
              <a:xfrm>
                <a:off x="1523880" y="3048120"/>
                <a:ext cx="1828080" cy="1828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4" name="Rectangle 6"/>
              <p:cNvSpPr/>
              <p:nvPr/>
            </p:nvSpPr>
            <p:spPr>
              <a:xfrm>
                <a:off x="19810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5" name="Rectangle 7"/>
              <p:cNvSpPr/>
              <p:nvPr/>
            </p:nvSpPr>
            <p:spPr>
              <a:xfrm>
                <a:off x="24382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6" name="Rectangle 8"/>
              <p:cNvSpPr/>
              <p:nvPr/>
            </p:nvSpPr>
            <p:spPr>
              <a:xfrm>
                <a:off x="19810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7" name="Rectangle 9"/>
              <p:cNvSpPr/>
              <p:nvPr/>
            </p:nvSpPr>
            <p:spPr>
              <a:xfrm>
                <a:off x="15238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8" name="Rectangle 10"/>
              <p:cNvSpPr/>
              <p:nvPr/>
            </p:nvSpPr>
            <p:spPr>
              <a:xfrm>
                <a:off x="2895480" y="39625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9" name="Rectangle 11"/>
              <p:cNvSpPr/>
              <p:nvPr/>
            </p:nvSpPr>
            <p:spPr>
              <a:xfrm>
                <a:off x="2438280" y="35053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0" name="Rectangle 12"/>
              <p:cNvSpPr/>
              <p:nvPr/>
            </p:nvSpPr>
            <p:spPr>
              <a:xfrm>
                <a:off x="1523880" y="44197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1" name="Rectangle 13"/>
              <p:cNvSpPr/>
              <p:nvPr/>
            </p:nvSpPr>
            <p:spPr>
              <a:xfrm>
                <a:off x="2895480" y="3048120"/>
                <a:ext cx="456480" cy="456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982" name="Text Box 14"/>
            <p:cNvSpPr/>
            <p:nvPr/>
          </p:nvSpPr>
          <p:spPr>
            <a:xfrm>
              <a:off x="1209600" y="30481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3" name="Text Box 15"/>
            <p:cNvSpPr/>
            <p:nvPr/>
          </p:nvSpPr>
          <p:spPr>
            <a:xfrm>
              <a:off x="1209600" y="39625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4" name="Text Box 16"/>
            <p:cNvSpPr/>
            <p:nvPr/>
          </p:nvSpPr>
          <p:spPr>
            <a:xfrm>
              <a:off x="1209600" y="35053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5" name="Text Box 17"/>
            <p:cNvSpPr/>
            <p:nvPr/>
          </p:nvSpPr>
          <p:spPr>
            <a:xfrm>
              <a:off x="1209600" y="441972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6" name="Text Box 18"/>
            <p:cNvSpPr/>
            <p:nvPr/>
          </p:nvSpPr>
          <p:spPr>
            <a:xfrm>
              <a:off x="25048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7" name="Text Box 19"/>
            <p:cNvSpPr/>
            <p:nvPr/>
          </p:nvSpPr>
          <p:spPr>
            <a:xfrm>
              <a:off x="20476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8" name="Text Box 20"/>
            <p:cNvSpPr/>
            <p:nvPr/>
          </p:nvSpPr>
          <p:spPr>
            <a:xfrm>
              <a:off x="29620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4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89" name="Text Box 21"/>
            <p:cNvSpPr/>
            <p:nvPr/>
          </p:nvSpPr>
          <p:spPr>
            <a:xfrm>
              <a:off x="1590480" y="2666880"/>
              <a:ext cx="3412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Tahoma"/>
                  <a:ea typeface="DejaVu Sans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990" name="Group 22"/>
          <p:cNvGrpSpPr/>
          <p:nvPr/>
        </p:nvGrpSpPr>
        <p:grpSpPr>
          <a:xfrm>
            <a:off x="4160160" y="2133720"/>
            <a:ext cx="3924360" cy="3259440"/>
            <a:chOff x="4160160" y="2133720"/>
            <a:chExt cx="3924360" cy="3259440"/>
          </a:xfrm>
        </p:grpSpPr>
        <p:grpSp>
          <p:nvGrpSpPr>
            <p:cNvPr id="991" name="Group 23"/>
            <p:cNvGrpSpPr/>
            <p:nvPr/>
          </p:nvGrpSpPr>
          <p:grpSpPr>
            <a:xfrm>
              <a:off x="4160160" y="2133720"/>
              <a:ext cx="3924360" cy="3259440"/>
              <a:chOff x="4160160" y="2133720"/>
              <a:chExt cx="3924360" cy="3259440"/>
            </a:xfrm>
          </p:grpSpPr>
          <p:sp>
            <p:nvSpPr>
              <p:cNvPr id="992" name="Text Box 24"/>
              <p:cNvSpPr/>
              <p:nvPr/>
            </p:nvSpPr>
            <p:spPr>
              <a:xfrm>
                <a:off x="4163040" y="2133720"/>
                <a:ext cx="163548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X1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3300"/>
                    </a:solidFill>
                    <a:latin typeface="Tahoma"/>
                    <a:ea typeface="DejaVu Sans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,3,4}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93" name="Text Box 25"/>
              <p:cNvSpPr/>
              <p:nvPr/>
            </p:nvSpPr>
            <p:spPr>
              <a:xfrm>
                <a:off x="4160160" y="4572000"/>
                <a:ext cx="163836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X3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1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 ,  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94" name="Text Box 26"/>
              <p:cNvSpPr/>
              <p:nvPr/>
            </p:nvSpPr>
            <p:spPr>
              <a:xfrm>
                <a:off x="6446160" y="4572000"/>
                <a:ext cx="163800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X4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  ,  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3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  }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995" name="Text Box 27"/>
              <p:cNvSpPr/>
              <p:nvPr/>
            </p:nvSpPr>
            <p:spPr>
              <a:xfrm>
                <a:off x="6445800" y="2133720"/>
                <a:ext cx="1638720" cy="8211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X2</a:t>
                </a:r>
                <a:endParaRPr b="0" lang="en-US" sz="24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{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ffff"/>
                    </a:solidFill>
                    <a:latin typeface="Tahoma"/>
                    <a:ea typeface="DejaVu Sans"/>
                  </a:rPr>
                  <a:t> 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,</a:t>
                </a:r>
                <a:r>
                  <a:rPr b="0" lang="en-US" sz="2400" spc="-1" strike="noStrike">
                    <a:solidFill>
                      <a:srgbClr val="ff0000"/>
                    </a:solidFill>
                    <a:latin typeface="Tahoma"/>
                    <a:ea typeface="DejaVu Sans"/>
                  </a:rPr>
                  <a:t>4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Tahoma"/>
                    <a:ea typeface="DejaVu Sans"/>
                  </a:rPr>
                  <a:t>}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sp>
          <p:nvSpPr>
            <p:cNvPr id="996" name="Line 28"/>
            <p:cNvSpPr/>
            <p:nvPr/>
          </p:nvSpPr>
          <p:spPr>
            <a:xfrm>
              <a:off x="5719680" y="251460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7" name="Line 29"/>
            <p:cNvSpPr/>
            <p:nvPr/>
          </p:nvSpPr>
          <p:spPr>
            <a:xfrm>
              <a:off x="503388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8" name="Line 30"/>
            <p:cNvSpPr/>
            <p:nvPr/>
          </p:nvSpPr>
          <p:spPr>
            <a:xfrm>
              <a:off x="5719680" y="4952880"/>
              <a:ext cx="8380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9" name="Line 31"/>
            <p:cNvSpPr/>
            <p:nvPr/>
          </p:nvSpPr>
          <p:spPr>
            <a:xfrm>
              <a:off x="7243560" y="2971800"/>
              <a:ext cx="3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0" name="Line 32"/>
            <p:cNvSpPr/>
            <p:nvPr/>
          </p:nvSpPr>
          <p:spPr>
            <a:xfrm>
              <a:off x="5643360" y="2971800"/>
              <a:ext cx="91440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1" name="Line 33"/>
            <p:cNvSpPr/>
            <p:nvPr/>
          </p:nvSpPr>
          <p:spPr>
            <a:xfrm flipH="1">
              <a:off x="5719680" y="2971800"/>
              <a:ext cx="83808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02" name="AutoShape 34"/>
          <p:cNvSpPr/>
          <p:nvPr/>
        </p:nvSpPr>
        <p:spPr>
          <a:xfrm>
            <a:off x="1523880" y="35053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03" name="Group 35"/>
          <p:cNvGrpSpPr/>
          <p:nvPr/>
        </p:nvGrpSpPr>
        <p:grpSpPr>
          <a:xfrm>
            <a:off x="2057400" y="3124080"/>
            <a:ext cx="1218600" cy="1675800"/>
            <a:chOff x="2057400" y="3124080"/>
            <a:chExt cx="1218600" cy="1675800"/>
          </a:xfrm>
        </p:grpSpPr>
        <p:sp>
          <p:nvSpPr>
            <p:cNvPr id="1004" name="Oval 36"/>
            <p:cNvSpPr/>
            <p:nvPr/>
          </p:nvSpPr>
          <p:spPr>
            <a:xfrm>
              <a:off x="2057400" y="31240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5" name="Oval 37"/>
            <p:cNvSpPr/>
            <p:nvPr/>
          </p:nvSpPr>
          <p:spPr>
            <a:xfrm>
              <a:off x="2057400" y="40384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6" name="Oval 38"/>
            <p:cNvSpPr/>
            <p:nvPr/>
          </p:nvSpPr>
          <p:spPr>
            <a:xfrm>
              <a:off x="2514600" y="44956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7" name="Oval 39"/>
            <p:cNvSpPr/>
            <p:nvPr/>
          </p:nvSpPr>
          <p:spPr>
            <a:xfrm>
              <a:off x="20574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8" name="Oval 40"/>
            <p:cNvSpPr/>
            <p:nvPr/>
          </p:nvSpPr>
          <p:spPr>
            <a:xfrm>
              <a:off x="29718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9" name="Oval 41"/>
            <p:cNvSpPr/>
            <p:nvPr/>
          </p:nvSpPr>
          <p:spPr>
            <a:xfrm>
              <a:off x="2514600" y="3581280"/>
              <a:ext cx="304200" cy="3042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10" name="AutoShape 42"/>
          <p:cNvSpPr/>
          <p:nvPr/>
        </p:nvSpPr>
        <p:spPr>
          <a:xfrm>
            <a:off x="1981080" y="44197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1" name="Oval 43"/>
          <p:cNvSpPr/>
          <p:nvPr/>
        </p:nvSpPr>
        <p:spPr>
          <a:xfrm>
            <a:off x="2514600" y="40384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2" name="Oval 44"/>
          <p:cNvSpPr/>
          <p:nvPr/>
        </p:nvSpPr>
        <p:spPr>
          <a:xfrm>
            <a:off x="2971800" y="44956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3" name="AutoShape 45"/>
          <p:cNvSpPr/>
          <p:nvPr/>
        </p:nvSpPr>
        <p:spPr>
          <a:xfrm>
            <a:off x="2438280" y="30481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4" name="Oval 46"/>
          <p:cNvSpPr/>
          <p:nvPr/>
        </p:nvSpPr>
        <p:spPr>
          <a:xfrm>
            <a:off x="2971800" y="3124080"/>
            <a:ext cx="304200" cy="304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AutoShape 47"/>
          <p:cNvSpPr/>
          <p:nvPr/>
        </p:nvSpPr>
        <p:spPr>
          <a:xfrm>
            <a:off x="2895480" y="3962520"/>
            <a:ext cx="456480" cy="45648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6" name="Text Box 48"/>
          <p:cNvSpPr/>
          <p:nvPr/>
        </p:nvSpPr>
        <p:spPr>
          <a:xfrm>
            <a:off x="1676520" y="5638680"/>
            <a:ext cx="2208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800" spc="-1" strike="noStrike">
                <a:solidFill>
                  <a:srgbClr val="ff3300"/>
                </a:solidFill>
                <a:latin typeface="Arial"/>
                <a:ea typeface="DejaVu Sans"/>
              </a:rPr>
              <a:t>Solution !!!!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Constraint propagation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000"/>
          </a:bodyPr>
          <a:p>
            <a:pPr marL="171360" indent="-171360">
              <a:lnSpc>
                <a:spcPct val="12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Forward checking propagates information from assigned to unassigned variables, but doesn't provide early detection for all failures: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NT and SA cannot both be blue!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70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Constraint propagation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repeatedly enforces constraints locally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19" name="Picture 4" descr="forward-checking-progress3c"/>
          <p:cNvPicPr/>
          <p:nvPr/>
        </p:nvPicPr>
        <p:blipFill>
          <a:blip r:embed="rId1"/>
          <a:stretch/>
        </p:blipFill>
        <p:spPr>
          <a:xfrm>
            <a:off x="1981080" y="2819520"/>
            <a:ext cx="5133240" cy="19803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14D777-F270-425B-ADDD-F199646B70E6}" type="slidenum">
              <a:t>53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A8871044-A53D-419A-9B9D-CEA2F808A5E2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2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Simplest form of propagation makes each arc 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consistent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4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Y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is consistent iff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for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every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value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of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there is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allowed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y</a:t>
            </a: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022" name="Picture 6" descr="ac-example1c"/>
          <p:cNvPicPr/>
          <p:nvPr/>
        </p:nvPicPr>
        <p:blipFill>
          <a:blip r:embed="rId1"/>
          <a:stretch/>
        </p:blipFill>
        <p:spPr>
          <a:xfrm>
            <a:off x="2004840" y="3648240"/>
            <a:ext cx="5133240" cy="1761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86283E-39AE-4F96-AF83-40438CD698F0}" type="slidenum">
              <a:t>54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ECEA1377-D43C-41D5-85AF-19FDB39720BF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2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Simplest form of propagation makes each arc 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consistent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4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Y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is consistent iff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for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every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value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of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there is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allowed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y</a:t>
            </a: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025" name="Picture 6" descr="ac-example2c"/>
          <p:cNvPicPr/>
          <p:nvPr/>
        </p:nvPicPr>
        <p:blipFill>
          <a:blip r:embed="rId1"/>
          <a:stretch/>
        </p:blipFill>
        <p:spPr>
          <a:xfrm>
            <a:off x="2004840" y="3657600"/>
            <a:ext cx="5133240" cy="1761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C32AC0-DD98-4099-B3EE-664E61B72CEE}" type="slidenum">
              <a:t>55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8FB7AAA1-E16C-4116-BEA8-35475D2B0577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Simplest form of propagation makes each arc 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consistent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4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Y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is consistent iff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for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every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value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of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there is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allowed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y</a:t>
            </a: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If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loses a value, neighbors of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need to be rechecked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8" name="Picture 6" descr="ac-example3c"/>
          <p:cNvPicPr/>
          <p:nvPr/>
        </p:nvPicPr>
        <p:blipFill>
          <a:blip r:embed="rId1"/>
          <a:stretch/>
        </p:blipFill>
        <p:spPr>
          <a:xfrm>
            <a:off x="2004840" y="3648240"/>
            <a:ext cx="5133240" cy="1761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B4F91C-120A-4ABD-986E-C1925BC8CB62}" type="slidenum">
              <a:t>56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88CA9212-E5B1-42DE-AFB3-DF5A1B5CDA9C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9000"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Simplest form of propagation makes each arc 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consistent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4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Y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is consistent iff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for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every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value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of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X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there is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allowed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y</a:t>
            </a: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514440" indent="-1713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If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loses a value, neighbors of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X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need to be rechecked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Arc consistency detects failure earlier than forward checking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Can be run as a preprocessor or after each assignment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031" name="Picture 6" descr="ac-example4c"/>
          <p:cNvPicPr/>
          <p:nvPr/>
        </p:nvPicPr>
        <p:blipFill>
          <a:blip r:embed="rId1"/>
          <a:stretch/>
        </p:blipFill>
        <p:spPr>
          <a:xfrm>
            <a:off x="1905120" y="2971800"/>
            <a:ext cx="5133240" cy="1761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03786B-3276-4353-BCBB-15E2B8471CCA}" type="slidenum">
              <a:t>57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57D30AA7-7BA9-44B8-B282-7561BA24CD51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Arc consistency algorithm AC-3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/>
          </p:nvPr>
        </p:nvSpPr>
        <p:spPr>
          <a:xfrm>
            <a:off x="304920" y="5559480"/>
            <a:ext cx="8649720" cy="57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Time complexity: O(n</a:t>
            </a:r>
            <a:r>
              <a:rPr b="0" lang="en-US" sz="2100" spc="-1" strike="noStrike" baseline="30000">
                <a:solidFill>
                  <a:srgbClr val="000000"/>
                </a:solidFill>
                <a:latin typeface="Garamond"/>
              </a:rPr>
              <a:t>2</a:t>
            </a: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d</a:t>
            </a:r>
            <a:r>
              <a:rPr b="0" lang="en-US" sz="2100" spc="-1" strike="noStrike" baseline="30000">
                <a:solidFill>
                  <a:srgbClr val="000000"/>
                </a:solidFill>
                <a:latin typeface="Garamond"/>
              </a:rPr>
              <a:t>3</a:t>
            </a:r>
            <a:r>
              <a:rPr b="0" lang="en-US" sz="2100" spc="-1" strike="noStrike">
                <a:solidFill>
                  <a:srgbClr val="000000"/>
                </a:solidFill>
                <a:latin typeface="Garamond"/>
              </a:rPr>
              <a:t>)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034" name="Picture 4" descr=""/>
          <p:cNvPicPr/>
          <p:nvPr/>
        </p:nvPicPr>
        <p:blipFill>
          <a:blip r:embed="rId1"/>
          <a:srcRect l="16405" t="21873" r="13282" b="22917"/>
          <a:stretch/>
        </p:blipFill>
        <p:spPr>
          <a:xfrm>
            <a:off x="1295280" y="1371600"/>
            <a:ext cx="6857280" cy="4037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5EA9CA-786F-4806-88FB-56ACB2A3CB43}" type="slidenum">
              <a:t>58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3593D566-602F-420B-AD96-A5833B7EC71E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36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7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8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9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0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1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2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3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5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6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7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9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0" name="Text Box 17"/>
          <p:cNvSpPr/>
          <p:nvPr/>
        </p:nvSpPr>
        <p:spPr>
          <a:xfrm>
            <a:off x="33933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1" name="Text Box 18"/>
          <p:cNvSpPr/>
          <p:nvPr/>
        </p:nvSpPr>
        <p:spPr>
          <a:xfrm>
            <a:off x="3393360" y="46483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2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54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5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6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7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8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9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0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1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2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3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4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5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6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7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8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9" name="Text Box 18"/>
          <p:cNvSpPr/>
          <p:nvPr/>
        </p:nvSpPr>
        <p:spPr>
          <a:xfrm>
            <a:off x="3393360" y="46483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0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1" name="Line 20"/>
          <p:cNvSpPr/>
          <p:nvPr/>
        </p:nvSpPr>
        <p:spPr>
          <a:xfrm flipH="1">
            <a:off x="1981080" y="2286000"/>
            <a:ext cx="1523880" cy="68580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73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4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5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6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7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8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9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0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1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2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3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4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5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6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7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8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9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0" name="Line 20"/>
          <p:cNvSpPr/>
          <p:nvPr/>
        </p:nvSpPr>
        <p:spPr>
          <a:xfrm>
            <a:off x="2057400" y="3429000"/>
            <a:ext cx="1676160" cy="68580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09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5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6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7" name="Text Box 18"/>
          <p:cNvSpPr/>
          <p:nvPr/>
        </p:nvSpPr>
        <p:spPr>
          <a:xfrm>
            <a:off x="340344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8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9" name="Line 20"/>
          <p:cNvSpPr/>
          <p:nvPr/>
        </p:nvSpPr>
        <p:spPr>
          <a:xfrm>
            <a:off x="4267080" y="2133360"/>
            <a:ext cx="175248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0" name="Rectangle 20"/>
          <p:cNvSpPr/>
          <p:nvPr/>
        </p:nvSpPr>
        <p:spPr>
          <a:xfrm>
            <a:off x="1447920" y="5638680"/>
            <a:ext cx="617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loses a value, neighbors of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need to be rechecked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11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5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6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7" name="Text Box 18"/>
          <p:cNvSpPr/>
          <p:nvPr/>
        </p:nvSpPr>
        <p:spPr>
          <a:xfrm>
            <a:off x="340344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8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9" name="Line 20"/>
          <p:cNvSpPr/>
          <p:nvPr/>
        </p:nvSpPr>
        <p:spPr>
          <a:xfrm>
            <a:off x="4267080" y="2514600"/>
            <a:ext cx="1905120" cy="160020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0" name="Rectangle 20"/>
          <p:cNvSpPr/>
          <p:nvPr/>
        </p:nvSpPr>
        <p:spPr>
          <a:xfrm>
            <a:off x="1447920" y="5638680"/>
            <a:ext cx="617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loses a value, neighbors of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need to be rechecked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13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5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6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7" name="Text Box 18"/>
          <p:cNvSpPr/>
          <p:nvPr/>
        </p:nvSpPr>
        <p:spPr>
          <a:xfrm>
            <a:off x="340344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8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9" name="Line 20"/>
          <p:cNvSpPr/>
          <p:nvPr/>
        </p:nvSpPr>
        <p:spPr>
          <a:xfrm>
            <a:off x="3962160" y="2743200"/>
            <a:ext cx="360" cy="137160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0" name="Rectangle 20"/>
          <p:cNvSpPr/>
          <p:nvPr/>
        </p:nvSpPr>
        <p:spPr>
          <a:xfrm>
            <a:off x="1447920" y="5638680"/>
            <a:ext cx="617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loses a value, neighbors of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need to be rechecked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15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5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6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7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8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9" name="Line 20"/>
          <p:cNvSpPr/>
          <p:nvPr/>
        </p:nvSpPr>
        <p:spPr>
          <a:xfrm>
            <a:off x="3733560" y="2666880"/>
            <a:ext cx="360" cy="144792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70" name="Rectangle 20"/>
          <p:cNvSpPr/>
          <p:nvPr/>
        </p:nvSpPr>
        <p:spPr>
          <a:xfrm>
            <a:off x="1447920" y="5638680"/>
            <a:ext cx="617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loses a value, neighbors of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need to be rechecked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17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5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6" name="Text Box 17"/>
          <p:cNvSpPr/>
          <p:nvPr/>
        </p:nvSpPr>
        <p:spPr>
          <a:xfrm>
            <a:off x="3400560" y="16765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7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8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9" name="Line 20"/>
          <p:cNvSpPr/>
          <p:nvPr/>
        </p:nvSpPr>
        <p:spPr>
          <a:xfrm flipH="1">
            <a:off x="4038480" y="4114800"/>
            <a:ext cx="1676520" cy="36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191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2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3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4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5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6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7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8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9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0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1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2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3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4" name="Text Box 16"/>
          <p:cNvSpPr/>
          <p:nvPr/>
        </p:nvSpPr>
        <p:spPr>
          <a:xfrm>
            <a:off x="5907960" y="167652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5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6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7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09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0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1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2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3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4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5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6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7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8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9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0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1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2" name="Text Box 16"/>
          <p:cNvSpPr/>
          <p:nvPr/>
        </p:nvSpPr>
        <p:spPr>
          <a:xfrm>
            <a:off x="5917320" y="167652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3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4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5" name="Text Box 19"/>
          <p:cNvSpPr/>
          <p:nvPr/>
        </p:nvSpPr>
        <p:spPr>
          <a:xfrm>
            <a:off x="5831640" y="472428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6" name="Line 20"/>
          <p:cNvSpPr/>
          <p:nvPr/>
        </p:nvSpPr>
        <p:spPr>
          <a:xfrm flipH="1">
            <a:off x="4343400" y="2590560"/>
            <a:ext cx="1752480" cy="36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28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9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0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1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2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3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4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5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6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7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8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9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0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1" name="Text Box 16"/>
          <p:cNvSpPr/>
          <p:nvPr/>
        </p:nvSpPr>
        <p:spPr>
          <a:xfrm>
            <a:off x="5917320" y="167652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2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3" name="Text Box 18"/>
          <p:cNvSpPr/>
          <p:nvPr/>
        </p:nvSpPr>
        <p:spPr>
          <a:xfrm>
            <a:off x="34005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4" name="Text Box 19"/>
          <p:cNvSpPr/>
          <p:nvPr/>
        </p:nvSpPr>
        <p:spPr>
          <a:xfrm>
            <a:off x="5841000" y="472428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5" name="Line 20"/>
          <p:cNvSpPr/>
          <p:nvPr/>
        </p:nvSpPr>
        <p:spPr>
          <a:xfrm flipH="1" flipV="1">
            <a:off x="4343400" y="2590560"/>
            <a:ext cx="1752480" cy="15242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47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8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9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0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1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2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3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4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5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6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7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8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9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0" name="Text Box 16"/>
          <p:cNvSpPr/>
          <p:nvPr/>
        </p:nvSpPr>
        <p:spPr>
          <a:xfrm>
            <a:off x="5917320" y="167652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1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2" name="Text Box 18"/>
          <p:cNvSpPr/>
          <p:nvPr/>
        </p:nvSpPr>
        <p:spPr>
          <a:xfrm>
            <a:off x="3409920" y="4648320"/>
            <a:ext cx="9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3" name="Text Box 19"/>
          <p:cNvSpPr/>
          <p:nvPr/>
        </p:nvSpPr>
        <p:spPr>
          <a:xfrm>
            <a:off x="5841000" y="472428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4" name="Line 20"/>
          <p:cNvSpPr/>
          <p:nvPr/>
        </p:nvSpPr>
        <p:spPr>
          <a:xfrm flipV="1">
            <a:off x="4038480" y="2666880"/>
            <a:ext cx="360" cy="144792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66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7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8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9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0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1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2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3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4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5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6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7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8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9" name="Text Box 16"/>
          <p:cNvSpPr/>
          <p:nvPr/>
        </p:nvSpPr>
        <p:spPr>
          <a:xfrm>
            <a:off x="5917320" y="1676520"/>
            <a:ext cx="98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0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1" name="Text Box 18"/>
          <p:cNvSpPr/>
          <p:nvPr/>
        </p:nvSpPr>
        <p:spPr>
          <a:xfrm>
            <a:off x="3409920" y="4648320"/>
            <a:ext cx="9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2" name="Text Box 19"/>
          <p:cNvSpPr/>
          <p:nvPr/>
        </p:nvSpPr>
        <p:spPr>
          <a:xfrm>
            <a:off x="5851440" y="4724280"/>
            <a:ext cx="95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3" name="Line 20"/>
          <p:cNvSpPr/>
          <p:nvPr/>
        </p:nvSpPr>
        <p:spPr>
          <a:xfrm>
            <a:off x="4038480" y="4114800"/>
            <a:ext cx="175248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85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6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7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8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9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0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1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2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3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4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5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6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7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8" name="Text Box 16"/>
          <p:cNvSpPr/>
          <p:nvPr/>
        </p:nvSpPr>
        <p:spPr>
          <a:xfrm>
            <a:off x="5924160" y="167652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9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0" name="Text Box 18"/>
          <p:cNvSpPr/>
          <p:nvPr/>
        </p:nvSpPr>
        <p:spPr>
          <a:xfrm>
            <a:off x="3409920" y="4648320"/>
            <a:ext cx="9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1" name="Text Box 19"/>
          <p:cNvSpPr/>
          <p:nvPr/>
        </p:nvSpPr>
        <p:spPr>
          <a:xfrm>
            <a:off x="5851440" y="4724280"/>
            <a:ext cx="95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2" name="Line 20"/>
          <p:cNvSpPr/>
          <p:nvPr/>
        </p:nvSpPr>
        <p:spPr>
          <a:xfrm flipV="1">
            <a:off x="6095880" y="2514600"/>
            <a:ext cx="360" cy="16761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04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5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6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7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8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9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0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1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2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3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4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5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6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7" name="Text Box 16"/>
          <p:cNvSpPr/>
          <p:nvPr/>
        </p:nvSpPr>
        <p:spPr>
          <a:xfrm>
            <a:off x="5927400" y="167652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8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9" name="Text Box 18"/>
          <p:cNvSpPr/>
          <p:nvPr/>
        </p:nvSpPr>
        <p:spPr>
          <a:xfrm>
            <a:off x="3409920" y="4648320"/>
            <a:ext cx="9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0" name="Text Box 19"/>
          <p:cNvSpPr/>
          <p:nvPr/>
        </p:nvSpPr>
        <p:spPr>
          <a:xfrm>
            <a:off x="5851440" y="4724280"/>
            <a:ext cx="95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1" name="Line 20"/>
          <p:cNvSpPr/>
          <p:nvPr/>
        </p:nvSpPr>
        <p:spPr>
          <a:xfrm flipV="1">
            <a:off x="6095880" y="2514600"/>
            <a:ext cx="360" cy="167616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23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4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5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6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7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8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9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0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1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2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3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4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5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6" name="Text Box 16"/>
          <p:cNvSpPr/>
          <p:nvPr/>
        </p:nvSpPr>
        <p:spPr>
          <a:xfrm>
            <a:off x="5927400" y="167652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7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8" name="Text Box 18"/>
          <p:cNvSpPr/>
          <p:nvPr/>
        </p:nvSpPr>
        <p:spPr>
          <a:xfrm>
            <a:off x="3409920" y="4648320"/>
            <a:ext cx="9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9" name="Text Box 19"/>
          <p:cNvSpPr/>
          <p:nvPr/>
        </p:nvSpPr>
        <p:spPr>
          <a:xfrm>
            <a:off x="5855040" y="472428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0" name="Line 20"/>
          <p:cNvSpPr/>
          <p:nvPr/>
        </p:nvSpPr>
        <p:spPr>
          <a:xfrm>
            <a:off x="4190760" y="4190760"/>
            <a:ext cx="1676520" cy="36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Arc Consistency: AC3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42" name="Oval 3"/>
          <p:cNvSpPr/>
          <p:nvPr/>
        </p:nvSpPr>
        <p:spPr>
          <a:xfrm>
            <a:off x="1523880" y="3200400"/>
            <a:ext cx="456480" cy="45648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3" name="Oval 4"/>
          <p:cNvSpPr/>
          <p:nvPr/>
        </p:nvSpPr>
        <p:spPr>
          <a:xfrm>
            <a:off x="3657600" y="41911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4" name="Oval 5"/>
          <p:cNvSpPr/>
          <p:nvPr/>
        </p:nvSpPr>
        <p:spPr>
          <a:xfrm>
            <a:off x="3657600" y="2133720"/>
            <a:ext cx="456480" cy="45648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5" name="Oval 6"/>
          <p:cNvSpPr/>
          <p:nvPr/>
        </p:nvSpPr>
        <p:spPr>
          <a:xfrm>
            <a:off x="6095880" y="4267080"/>
            <a:ext cx="456480" cy="456480"/>
          </a:xfrm>
          <a:prstGeom prst="ellipse">
            <a:avLst/>
          </a:prstGeom>
          <a:solidFill>
            <a:srgbClr val="f2170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6" name="Oval 7"/>
          <p:cNvSpPr/>
          <p:nvPr/>
        </p:nvSpPr>
        <p:spPr>
          <a:xfrm>
            <a:off x="6172200" y="2133720"/>
            <a:ext cx="456480" cy="4564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7" name="Line 8"/>
          <p:cNvSpPr/>
          <p:nvPr/>
        </p:nvSpPr>
        <p:spPr>
          <a:xfrm flipV="1">
            <a:off x="1904760" y="2438280"/>
            <a:ext cx="1752840" cy="838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8" name="Line 9"/>
          <p:cNvSpPr/>
          <p:nvPr/>
        </p:nvSpPr>
        <p:spPr>
          <a:xfrm>
            <a:off x="1904760" y="3581280"/>
            <a:ext cx="1752840" cy="762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9" name="Line 10"/>
          <p:cNvSpPr/>
          <p:nvPr/>
        </p:nvSpPr>
        <p:spPr>
          <a:xfrm>
            <a:off x="3886200" y="2590560"/>
            <a:ext cx="360" cy="1600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0" name="Line 11"/>
          <p:cNvSpPr/>
          <p:nvPr/>
        </p:nvSpPr>
        <p:spPr>
          <a:xfrm>
            <a:off x="4114800" y="2361960"/>
            <a:ext cx="20574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1" name="Line 12"/>
          <p:cNvSpPr/>
          <p:nvPr/>
        </p:nvSpPr>
        <p:spPr>
          <a:xfrm>
            <a:off x="6400800" y="2590560"/>
            <a:ext cx="360" cy="1676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2" name="Line 13"/>
          <p:cNvSpPr/>
          <p:nvPr/>
        </p:nvSpPr>
        <p:spPr>
          <a:xfrm>
            <a:off x="4114800" y="4419360"/>
            <a:ext cx="198108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3" name="Line 14"/>
          <p:cNvSpPr/>
          <p:nvPr/>
        </p:nvSpPr>
        <p:spPr>
          <a:xfrm>
            <a:off x="4038480" y="2514600"/>
            <a:ext cx="2133720" cy="1828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4" name="Text Box 15"/>
          <p:cNvSpPr/>
          <p:nvPr/>
        </p:nvSpPr>
        <p:spPr>
          <a:xfrm>
            <a:off x="1443960" y="3809880"/>
            <a:ext cx="53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5" name="Text Box 16"/>
          <p:cNvSpPr/>
          <p:nvPr/>
        </p:nvSpPr>
        <p:spPr>
          <a:xfrm>
            <a:off x="5927400" y="1676520"/>
            <a:ext cx="9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  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6" name="Text Box 17"/>
          <p:cNvSpPr/>
          <p:nvPr/>
        </p:nvSpPr>
        <p:spPr>
          <a:xfrm>
            <a:off x="3403080" y="1676520"/>
            <a:ext cx="100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  ,</a:t>
            </a:r>
            <a:r>
              <a:rPr b="1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B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7" name="Text Box 18"/>
          <p:cNvSpPr/>
          <p:nvPr/>
        </p:nvSpPr>
        <p:spPr>
          <a:xfrm>
            <a:off x="3413160" y="4648320"/>
            <a:ext cx="98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0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ff"/>
                </a:solidFill>
                <a:latin typeface="Tahoma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</a:t>
            </a:r>
            <a:r>
              <a:rPr b="1" lang="en-US" sz="1800" spc="-1" strike="noStrike">
                <a:solidFill>
                  <a:srgbClr val="008000"/>
                </a:solidFill>
                <a:latin typeface="Tahoma"/>
                <a:ea typeface="DejaVu Sans"/>
              </a:rPr>
              <a:t>G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8" name="Text Box 19"/>
          <p:cNvSpPr/>
          <p:nvPr/>
        </p:nvSpPr>
        <p:spPr>
          <a:xfrm>
            <a:off x="5855040" y="4724280"/>
            <a:ext cx="97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[</a:t>
            </a:r>
            <a:r>
              <a:rPr b="1" lang="en-US" sz="1800" spc="-1" strike="noStrike">
                <a:solidFill>
                  <a:srgbClr val="ff0000"/>
                </a:solidFill>
                <a:latin typeface="Tahoma"/>
                <a:ea typeface="DejaVu Sans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,  ,  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9" name="Text Box 20"/>
          <p:cNvSpPr/>
          <p:nvPr/>
        </p:nvSpPr>
        <p:spPr>
          <a:xfrm>
            <a:off x="3048120" y="5486400"/>
            <a:ext cx="159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Solution !!!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Local search for CSPs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6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Hill-climbing, simulated annealing typically work with "complete" states, i.e., all variables assigned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To apply to CSPs: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allow states with unsatisfied constraints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operators </a:t>
            </a:r>
            <a:r>
              <a:rPr b="0" lang="en-US" sz="2000" spc="-1" strike="noStrike">
                <a:solidFill>
                  <a:srgbClr val="ff0000"/>
                </a:solidFill>
                <a:latin typeface="Garamond"/>
              </a:rPr>
              <a:t>reassign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variable values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Variable selection: randomly select any conflicted variable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Value selection by </a:t>
            </a:r>
            <a:r>
              <a:rPr b="0" lang="en-US" sz="2400" spc="-1" strike="noStrike">
                <a:solidFill>
                  <a:srgbClr val="ff0000"/>
                </a:solidFill>
                <a:latin typeface="Garamond"/>
              </a:rPr>
              <a:t>min-conflicts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heuristic: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choose value that violates the fewest constraints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i.e., hill-climb with </a:t>
            </a:r>
            <a:r>
              <a:rPr b="0" i="1" lang="en-US" sz="2000" spc="-1" strike="noStrike">
                <a:solidFill>
                  <a:srgbClr val="000000"/>
                </a:solidFill>
                <a:latin typeface="Garamond"/>
              </a:rPr>
              <a:t>h(n)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= total number of violated constraints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6A7F06-4FDD-43C1-BE26-5ACAB52E50AC}" type="slidenum">
              <a:t>76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9A310F9D-CEF7-468B-A37D-221630CD5DCF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Example: 4-Queens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63" name="PlaceHolder 2"/>
          <p:cNvSpPr>
            <a:spLocks noGrp="1"/>
          </p:cNvSpPr>
          <p:nvPr>
            <p:ph/>
          </p:nvPr>
        </p:nvSpPr>
        <p:spPr>
          <a:xfrm>
            <a:off x="685800" y="168984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2400" spc="-1" strike="noStrike">
                <a:solidFill>
                  <a:srgbClr val="ed7d31"/>
                </a:solidFill>
                <a:latin typeface="Garamond"/>
              </a:rPr>
              <a:t>States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4 queens in 4 columns (4</a:t>
            </a:r>
            <a:r>
              <a:rPr b="0" lang="en-US" sz="2400" spc="-1" strike="noStrike" baseline="30000">
                <a:solidFill>
                  <a:srgbClr val="000000"/>
                </a:solidFill>
                <a:latin typeface="Garamond"/>
              </a:rPr>
              <a:t>4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= 256 states)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ed7d31"/>
                </a:solidFill>
                <a:latin typeface="Garamond"/>
              </a:rPr>
              <a:t>Actions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move queen in column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ed7d31"/>
                </a:solidFill>
                <a:latin typeface="Garamond"/>
              </a:rPr>
              <a:t>Goal test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no attacks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ed7d31"/>
                </a:solidFill>
                <a:latin typeface="Garamond"/>
              </a:rPr>
              <a:t>Evaluation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h(n)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= number of attacks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ed7d31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80000"/>
              </a:lnSpc>
              <a:spcBef>
                <a:spcPts val="75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Given random initial state, can solve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-queens in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almost constant time for arbitrary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with high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probability (e.g., </a:t>
            </a:r>
            <a:r>
              <a:rPr b="0" i="1" lang="en-US" sz="2400" spc="-1" strike="noStrike">
                <a:solidFill>
                  <a:srgbClr val="000000"/>
                </a:solidFill>
                <a:latin typeface="Garamond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= 10,000,000)</a:t>
            </a:r>
            <a:endParaRPr b="0" lang="en-US" sz="2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364" name="Picture 4" descr="4queens-iterative"/>
          <p:cNvPicPr/>
          <p:nvPr/>
        </p:nvPicPr>
        <p:blipFill>
          <a:blip r:embed="rId1"/>
          <a:stretch/>
        </p:blipFill>
        <p:spPr>
          <a:xfrm rot="21533400">
            <a:off x="1959480" y="4156560"/>
            <a:ext cx="4347720" cy="1326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CS 4341 - Constraint Satisfaction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23CEE3-6134-4817-B5E7-E787FB388979}" type="slidenum">
              <a:t>77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369268F5-8277-4CF6-B9D6-08D8322802CF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Garamond"/>
              </a:rPr>
              <a:t>Summary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/>
          </a:bodyPr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CSPs are a special kind of problem:</a:t>
            </a:r>
            <a:endParaRPr b="0" lang="en-US" sz="20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states defined by values of a fixed set of variables</a:t>
            </a:r>
            <a:endParaRPr b="0" lang="en-US" sz="1800" spc="-1" strike="noStrike">
              <a:latin typeface="Arial"/>
            </a:endParaRPr>
          </a:p>
          <a:p>
            <a:pPr lvl="1" marL="514440" indent="-171360">
              <a:lnSpc>
                <a:spcPct val="8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goal test defined by constraints on variable values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Backtracking = depth-first search with one variable assigned per node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Variable ordering and value selection heuristics help significantly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Forward checking prevents assignments that guarantee later failure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Constraint propagation (e.g., arc consistency) does additional work to constrain values and detect inconsistencies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pc="-1" strike="noStrike">
              <a:latin typeface="Arial"/>
            </a:endParaRPr>
          </a:p>
          <a:p>
            <a:pPr marL="171360" indent="-171360">
              <a:lnSpc>
                <a:spcPct val="8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Iterative min-conflicts is usually effective in practice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5FFD2A-59D6-4846-B8B6-A71B8EF5D06C}" type="slidenum">
              <a:t>78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D3E2EEA5-D7B0-4EC2-B575-BB5218472F43}" type="datetime1">
              <a:rPr lang="en-US"/>
              <a:t>06/24/2025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Application>LibreOffice/7.3.7.2$Linux_X86_64 LibreOffice_project/30$Build-2</Application>
  <AppVersion>15.0000</AppVersion>
  <Words>2533</Words>
  <Paragraphs>727</Paragraphs>
  <Company>NUS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2003-12-17T05:14:46Z</dcterms:created>
  <dc:creator>Min-Yen Kan</dc:creator>
  <dc:description/>
  <dc:language>en-US</dc:language>
  <cp:lastModifiedBy/>
  <dcterms:modified xsi:type="dcterms:W3CDTF">2025-06-24T23:02:17Z</dcterms:modified>
  <cp:revision>23</cp:revision>
  <dc:subject/>
  <dc:title>Constraint Satisfaction Problems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4</vt:i4>
  </property>
  <property fmtid="{D5CDD505-2E9C-101B-9397-08002B2CF9AE}" pid="3" name="Notes">
    <vt:i4>1</vt:i4>
  </property>
  <property fmtid="{D5CDD505-2E9C-101B-9397-08002B2CF9AE}" pid="4" name="PresentationFormat">
    <vt:lpwstr>On-screen Show (4:3)</vt:lpwstr>
  </property>
  <property fmtid="{D5CDD505-2E9C-101B-9397-08002B2CF9AE}" pid="5" name="Slides">
    <vt:i4>78</vt:i4>
  </property>
</Properties>
</file>