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0.jpeg" ContentType="image/jpeg"/>
  <Override PartName="/ppt/media/image5.png" ContentType="image/png"/>
  <Override PartName="/ppt/media/image9.png" ContentType="image/png"/>
  <Override PartName="/ppt/media/image13.png" ContentType="image/png"/>
  <Override PartName="/ppt/media/image12.jpeg" ContentType="image/jpeg"/>
  <Override PartName="/ppt/media/image8.png" ContentType="image/png"/>
  <Override PartName="/ppt/media/image7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jpeg" ContentType="image/jpeg"/>
  <Override PartName="/ppt/media/image15.png" ContentType="image/png"/>
  <Override PartName="/ppt/media/image14.png" ContentType="image/png"/>
  <Override PartName="/ppt/media/image4.jpeg" ContentType="image/jpeg"/>
  <Override PartName="/ppt/media/image2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C063F3-4E23-4C11-8AAA-E1B1CCF136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B858B5-0B9C-4852-9F27-19835E9210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53713-0BA5-4A3D-8AAB-61FD263C1E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6BE9B-30AF-40E5-8C14-D09EE0F30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24777-D8B4-4B02-8821-1116D16F75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E921A9-8E18-46B9-95D4-26A453CE7C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B0947-394B-4BBA-836A-AD9D56E37D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A7545-1708-4DBC-BA11-32E5036CE5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A8ECA3-1B1E-464B-997C-985D23A0EB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2754D6-73A7-4C7B-9DCF-2623D45BFA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D2371-DDDA-4F8C-B21A-9B252750DD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27A14A-D99E-4A7B-A9BA-1D88EE037D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6F55F-5A6E-4EAB-9432-4E7803FEC1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1FC6B6-4F07-4B22-A7AA-ED546FC9F8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8FD73C-6E4E-45E1-A805-0E629B3BA8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A5061A-BA42-4D29-8EED-3B739015A1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74BFB-31C4-4149-A3BD-DF5FF1817A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E55736-F5C8-4BFE-A4AE-2A41365631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2ED61-82CB-4F01-BEAE-9634213348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7FA3FD-7D7D-40C2-AECD-0F0C98EFAB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829096-04A2-4D36-8ED2-13EF1E3A2C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249451-351C-4DE3-AA26-69A4B56DE2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5C4D4E-7126-4F1E-9553-458CEF265C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A07BD4-607A-4532-B4F1-36670C8F2F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Garamond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8C1C3A-BF0C-45F5-AACA-DCD3E9833EF5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Edit Master text styles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tarSymbol"/>
              <a:buChar char="»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677DE5-4CB6-4E6A-8B5F-7B9E41076E17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CSE 604</a:t>
            </a: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	</a:t>
            </a: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Artificial Intelligence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443960" y="28530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Garamond"/>
              </a:rPr>
              <a:t>Chapter 2: Intelligent Agents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39"/>
              </a:spcBef>
              <a:buNone/>
              <a:tabLst>
                <a:tab algn="l" pos="0"/>
              </a:tabLst>
            </a:pPr>
            <a:endParaRPr b="0" lang="en-US" sz="7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Garamond"/>
              </a:rPr>
              <a:t>Dr. Ahmedul Kabir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903600" y="3962520"/>
            <a:ext cx="748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Garamond"/>
              </a:rPr>
              <a:t>Adapted from slides available in Russell &amp; Norvig’s textbook webpage 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85" name="Picture 1" descr=""/>
          <p:cNvPicPr/>
          <p:nvPr/>
        </p:nvPicPr>
        <p:blipFill>
          <a:blip r:embed="rId1"/>
          <a:stretch/>
        </p:blipFill>
        <p:spPr>
          <a:xfrm>
            <a:off x="3843000" y="5707080"/>
            <a:ext cx="1602360" cy="87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Outline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Agents and environments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Rationality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PEAS (Performance measure, Environment, Actuators, Sensors)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Environment types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Agent types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An </a:t>
            </a: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agent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is anything that can be viewed as </a:t>
            </a: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perceiving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its environment through sensors and </a:t>
            </a: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acting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 upon that environment through actuators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pic>
        <p:nvPicPr>
          <p:cNvPr id="90" name="Picture 4" descr="agent-environment"/>
          <p:cNvPicPr/>
          <p:nvPr/>
        </p:nvPicPr>
        <p:blipFill>
          <a:blip r:embed="rId1"/>
          <a:stretch/>
        </p:blipFill>
        <p:spPr>
          <a:xfrm>
            <a:off x="1618560" y="3410280"/>
            <a:ext cx="5906160" cy="266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Examples of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Human agent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eyes, ears, and other organs for sensors; hands, legs, mouth, and other body parts for actuators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Robotic agent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cameras and infrared range finders for sensors; various motors for actuators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Software agent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receives keystrokes, file contents, network packets as sensory inputs; acts by displaying on screen, writing files etc.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Vacuum-cleaner world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Percepts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location and contents, e.g., [A, Dirty]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Actions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</a:t>
            </a:r>
            <a:r>
              <a:rPr b="0" i="1" lang="en-US" sz="2800" spc="-1" strike="noStrike">
                <a:solidFill>
                  <a:srgbClr val="000000"/>
                </a:solidFill>
                <a:latin typeface="Garamond"/>
              </a:rPr>
              <a:t>Left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, </a:t>
            </a:r>
            <a:r>
              <a:rPr b="0" i="1" lang="en-US" sz="2800" spc="-1" strike="noStrike">
                <a:solidFill>
                  <a:srgbClr val="000000"/>
                </a:solidFill>
                <a:latin typeface="Garamond"/>
              </a:rPr>
              <a:t>Right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, </a:t>
            </a:r>
            <a:r>
              <a:rPr b="0" i="1" lang="en-US" sz="2800" spc="-1" strike="noStrike">
                <a:solidFill>
                  <a:srgbClr val="000000"/>
                </a:solidFill>
                <a:latin typeface="Garamond"/>
              </a:rPr>
              <a:t>Suck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, </a:t>
            </a:r>
            <a:r>
              <a:rPr b="0" i="1" lang="en-US" sz="2800" spc="-1" strike="noStrike">
                <a:solidFill>
                  <a:srgbClr val="000000"/>
                </a:solidFill>
                <a:latin typeface="Garamond"/>
              </a:rPr>
              <a:t>NoOp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pic>
        <p:nvPicPr>
          <p:cNvPr id="95" name="Picture 4" descr="vacuum2-environment"/>
          <p:cNvPicPr/>
          <p:nvPr/>
        </p:nvPicPr>
        <p:blipFill>
          <a:blip r:embed="rId1"/>
          <a:stretch/>
        </p:blipFill>
        <p:spPr>
          <a:xfrm>
            <a:off x="2819520" y="1752480"/>
            <a:ext cx="3201840" cy="163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Rational Agent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 rational agent chooses whichever action maximizes the expected value of the performance measure given the percept sequence to date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Rational ≠ omniscient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percepts may not supply all relevant information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Rational ≠ clairvoyant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Garamond"/>
              </a:rPr>
              <a:t>action outcomes may not be as expected</a:t>
            </a:r>
            <a:endParaRPr b="0" lang="en-US" sz="1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Hence, rational ≠ successful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Rational ⇒ exploration, learning, autonomy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Rational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An agent should strive to "</a:t>
            </a: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do the right thing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", based on what it can perceive and the actions it can perform. 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70c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70c0"/>
                </a:solidFill>
                <a:latin typeface="Garamond"/>
              </a:rPr>
              <a:t>Performance measure</a:t>
            </a: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: An objective criterion for success of an agent's behavior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E.g., performance measure of a vacuum-cleaner agent could be :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amount of dirt cleaned up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amount of time taken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amount of electricity consumed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PEAS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Specifying the task environment: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P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erformance measure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E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nvironment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A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ctuators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ensors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PEAS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086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Agent: </a:t>
            </a: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Part-picking robot 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Performance measure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: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% of parts in correct bins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Environment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Conveyor belt, parts, bins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Actuators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Jointed arm and hand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Sensors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Camera, joint angle sensors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7925040" y="2743200"/>
            <a:ext cx="2133360" cy="351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PEAS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0006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Agent: </a:t>
            </a:r>
            <a:r>
              <a:rPr b="1" lang="en-US" sz="2800" spc="-1" strike="noStrike">
                <a:solidFill>
                  <a:srgbClr val="000000"/>
                </a:solidFill>
                <a:latin typeface="Garamond"/>
              </a:rPr>
              <a:t>Automated car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Performance measure</a:t>
            </a:r>
            <a:r>
              <a:rPr b="0" lang="en-US" sz="2400" spc="-1" strike="noStrike">
                <a:solidFill>
                  <a:srgbClr val="0070c0"/>
                </a:solidFill>
                <a:latin typeface="Garamond"/>
              </a:rPr>
              <a:t>: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Safe, fast, legal, comfortable trip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Environment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Roads, other traffic, pedestrians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Actuators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Steering wheel, accelerator, brake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Garamond"/>
              </a:rPr>
              <a:t>Sensors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: Camera, GPS, Speedometer, engine sensor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45720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Environment types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Fully observable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vs.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partially observable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Single agent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vs.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multiagent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Deterministic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vs.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stochastic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Episodic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vs.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sequential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Static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dynamic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Discrete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vs 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continuous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Content Placeholder 3"/>
          <p:cNvGraphicFramePr/>
          <p:nvPr/>
        </p:nvGraphicFramePr>
        <p:xfrm>
          <a:off x="457200" y="76212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Fully Observable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Partially Observable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 can observe (see/hear/perceive)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all relevant information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from the environment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 can observe only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partial information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from the environment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0" name="Picture 4" descr=""/>
          <p:cNvPicPr/>
          <p:nvPr/>
        </p:nvPicPr>
        <p:blipFill>
          <a:blip r:embed="rId1"/>
          <a:stretch/>
        </p:blipFill>
        <p:spPr>
          <a:xfrm>
            <a:off x="762120" y="2971800"/>
            <a:ext cx="3371400" cy="219384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5" descr=""/>
          <p:cNvPicPr/>
          <p:nvPr/>
        </p:nvPicPr>
        <p:blipFill>
          <a:blip r:embed="rId2"/>
          <a:stretch/>
        </p:blipFill>
        <p:spPr>
          <a:xfrm>
            <a:off x="4800600" y="2971800"/>
            <a:ext cx="3647880" cy="219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Content Placeholder 3"/>
          <p:cNvGraphicFramePr/>
          <p:nvPr/>
        </p:nvGraphicFramePr>
        <p:xfrm>
          <a:off x="457200" y="71640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Single Agent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Multiagent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Our agent is the only intelligent agent in the environment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There are multiple intelligent agents which can be either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cooperative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or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competitive 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3" name="Picture 1" descr=""/>
          <p:cNvPicPr/>
          <p:nvPr/>
        </p:nvPicPr>
        <p:blipFill>
          <a:blip r:embed="rId1"/>
          <a:stretch/>
        </p:blipFill>
        <p:spPr>
          <a:xfrm>
            <a:off x="1295280" y="2836440"/>
            <a:ext cx="2514240" cy="249732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2" descr=""/>
          <p:cNvPicPr/>
          <p:nvPr/>
        </p:nvPicPr>
        <p:blipFill>
          <a:blip r:embed="rId2"/>
          <a:stretch/>
        </p:blipFill>
        <p:spPr>
          <a:xfrm>
            <a:off x="5181480" y="2943000"/>
            <a:ext cx="2928600" cy="22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Content Placeholder 3"/>
          <p:cNvGraphicFramePr/>
          <p:nvPr/>
        </p:nvGraphicFramePr>
        <p:xfrm>
          <a:off x="457200" y="76212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Deterministic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Stochastic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 can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fully determine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the outcome of it’s action (next step, not necessarily the full task)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 is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uncertain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of the outcome of it’s action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6" name="Picture 4" descr=""/>
          <p:cNvPicPr/>
          <p:nvPr/>
        </p:nvPicPr>
        <p:blipFill>
          <a:blip r:embed="rId1"/>
          <a:stretch/>
        </p:blipFill>
        <p:spPr>
          <a:xfrm>
            <a:off x="762120" y="2971800"/>
            <a:ext cx="3371400" cy="219384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2" descr="194 Football Free Kick Illustrations &amp; Clip Art - iStock"/>
          <p:cNvPicPr/>
          <p:nvPr/>
        </p:nvPicPr>
        <p:blipFill>
          <a:blip r:embed="rId2"/>
          <a:stretch/>
        </p:blipFill>
        <p:spPr>
          <a:xfrm>
            <a:off x="5029200" y="2514600"/>
            <a:ext cx="3241440" cy="280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Content Placeholder 3"/>
          <p:cNvGraphicFramePr/>
          <p:nvPr/>
        </p:nvGraphicFramePr>
        <p:xfrm>
          <a:off x="457200" y="71640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Episodic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Sequential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Agent’s actions are completely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independent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of each other, not linked to past or future actions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Agent’s actions are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dependent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on it’s past/future actions. The actions form a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sequence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.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9" name="Picture 2" descr=""/>
          <p:cNvPicPr/>
          <p:nvPr/>
        </p:nvPicPr>
        <p:blipFill>
          <a:blip r:embed="rId1"/>
          <a:stretch/>
        </p:blipFill>
        <p:spPr>
          <a:xfrm>
            <a:off x="5181480" y="2943000"/>
            <a:ext cx="2928600" cy="228420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4" descr=""/>
          <p:cNvPicPr/>
          <p:nvPr/>
        </p:nvPicPr>
        <p:blipFill>
          <a:blip r:embed="rId2"/>
          <a:stretch/>
        </p:blipFill>
        <p:spPr>
          <a:xfrm>
            <a:off x="1752480" y="2743200"/>
            <a:ext cx="1828440" cy="301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Content Placeholder 3"/>
          <p:cNvGraphicFramePr/>
          <p:nvPr/>
        </p:nvGraphicFramePr>
        <p:xfrm>
          <a:off x="457200" y="76212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Static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Dynamic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While the agent is in the process of taking it’s action, the environment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doesn’t change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The environment is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constantly changing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even when the agent is taking an action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2" name="Picture 2" descr="Research in Autonomous Driving – A Historic Bibliometric View of the  Research Development in Autonomous Driving - Research leap"/>
          <p:cNvPicPr/>
          <p:nvPr/>
        </p:nvPicPr>
        <p:blipFill>
          <a:blip r:embed="rId1"/>
          <a:stretch/>
        </p:blipFill>
        <p:spPr>
          <a:xfrm>
            <a:off x="4724280" y="3016080"/>
            <a:ext cx="3731400" cy="210564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2" descr="Carrom - Quick Guide"/>
          <p:cNvPicPr/>
          <p:nvPr/>
        </p:nvPicPr>
        <p:blipFill>
          <a:blip r:embed="rId2"/>
          <a:stretch/>
        </p:blipFill>
        <p:spPr>
          <a:xfrm>
            <a:off x="838080" y="2984760"/>
            <a:ext cx="3276360" cy="217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Content Placeholder 3"/>
          <p:cNvGraphicFramePr/>
          <p:nvPr/>
        </p:nvGraphicFramePr>
        <p:xfrm>
          <a:off x="457200" y="716400"/>
          <a:ext cx="8229240" cy="1112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Discrete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Continuous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be0e3"/>
                      </a:solidFill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Agent’s task can be broken down into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discrete set of actions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(you can make a list of agent’s actions A</a:t>
                      </a:r>
                      <a:r>
                        <a:rPr b="0" lang="en-US" sz="2000" spc="-1" strike="noStrike" baseline="-25000">
                          <a:solidFill>
                            <a:srgbClr val="000000"/>
                          </a:solidFill>
                          <a:latin typeface="Garamond"/>
                        </a:rPr>
                        <a:t>1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, A</a:t>
                      </a:r>
                      <a:r>
                        <a:rPr b="0" lang="en-US" sz="2000" spc="-1" strike="noStrike" baseline="-25000">
                          <a:solidFill>
                            <a:srgbClr val="000000"/>
                          </a:solidFill>
                          <a:latin typeface="Garamond"/>
                        </a:rPr>
                        <a:t>2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, ..., A</a:t>
                      </a:r>
                      <a:r>
                        <a:rPr b="0" lang="en-US" sz="2000" spc="-1" strike="noStrike" baseline="-25000">
                          <a:solidFill>
                            <a:srgbClr val="000000"/>
                          </a:solidFill>
                          <a:latin typeface="Garamond"/>
                        </a:rPr>
                        <a:t>n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) 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Actions are happening </a:t>
                      </a:r>
                      <a:r>
                        <a:rPr b="0" lang="en-US" sz="2000" spc="-1" strike="noStrike">
                          <a:solidFill>
                            <a:srgbClr val="0070c0"/>
                          </a:solidFill>
                          <a:latin typeface="Garamond"/>
                        </a:rPr>
                        <a:t>continuously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Garamond"/>
                        </a:rPr>
                        <a:t> and can not be listed, i.e., you cannot say where one action ends and the other begins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2000" spc="-1" strike="noStrike"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0e3">
                        <a:alpha val="20000"/>
                      </a:srgbClr>
                    </a:solidFill>
                  </a:tcPr>
                </a:tc>
              </a:tr>
              <a:tr h="370800"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  <a:tc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be0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5" name="Picture 1" descr=""/>
          <p:cNvPicPr/>
          <p:nvPr/>
        </p:nvPicPr>
        <p:blipFill>
          <a:blip r:embed="rId1"/>
          <a:stretch/>
        </p:blipFill>
        <p:spPr>
          <a:xfrm>
            <a:off x="1295280" y="2988720"/>
            <a:ext cx="2514240" cy="249732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2" descr="Sports Match, Men Play Football. in Minimalist Style Cartoon Flat Vector  Stock Vector - Illustration of competition, kicking: 150743219"/>
          <p:cNvPicPr/>
          <p:nvPr/>
        </p:nvPicPr>
        <p:blipFill>
          <a:blip r:embed="rId2"/>
          <a:stretch/>
        </p:blipFill>
        <p:spPr>
          <a:xfrm>
            <a:off x="4952880" y="2988720"/>
            <a:ext cx="3329640" cy="24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Environment types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Chess with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Chess without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Taxi driving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a clock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a clock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Fully observable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Yes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Yes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Deterministic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Strategic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Strategic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Episodic         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Static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Semi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Yes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Discrete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Yes 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Yes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Single agent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No 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 environment type largely determines the agent design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Garamond"/>
              </a:rPr>
              <a:t>The real world is (of course) partially observable, stochastic, sequential, dynamic, continuous, multi-agent</a:t>
            </a:r>
            <a:endParaRPr b="0" lang="en-US" sz="2000" spc="-1" strike="noStrike">
              <a:solidFill>
                <a:srgbClr val="000000"/>
              </a:solidFill>
              <a:latin typeface="Garamond"/>
            </a:endParaRPr>
          </a:p>
        </p:txBody>
      </p:sp>
      <p:graphicFrame>
        <p:nvGraphicFramePr>
          <p:cNvPr id="129" name="Group 10"/>
          <p:cNvGraphicFramePr/>
          <p:nvPr/>
        </p:nvGraphicFramePr>
        <p:xfrm>
          <a:off x="3124080" y="2209680"/>
          <a:ext cx="5409720" cy="1904760"/>
        </p:xfrm>
        <a:graphic>
          <a:graphicData uri="http://schemas.openxmlformats.org/drawingml/2006/table">
            <a:tbl>
              <a:tblPr/>
              <a:tblGrid>
                <a:gridCol w="5410080"/>
              </a:tblGrid>
              <a:tr h="1904760">
                <a:tc>
                  <a:tcPr anchor="t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Agent types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pc="-1" strike="noStrike">
                <a:solidFill>
                  <a:srgbClr val="000000"/>
                </a:solidFill>
                <a:latin typeface="Garamond"/>
              </a:rPr>
              <a:t>Four basic types in order of increasing generality:</a:t>
            </a: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Simple reflex agents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Model-based reflex agents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Goal-based agents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Garamond"/>
              </a:rPr>
              <a:t>Utility-based agents</a:t>
            </a:r>
            <a:endParaRPr b="0" lang="en-US" sz="2400" spc="-1" strike="noStrike">
              <a:solidFill>
                <a:srgbClr val="000000"/>
              </a:solidFill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Simple reflex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4" descr="simple-reflex-agent"/>
          <p:cNvPicPr/>
          <p:nvPr/>
        </p:nvPicPr>
        <p:blipFill>
          <a:blip r:embed="rId1"/>
          <a:stretch/>
        </p:blipFill>
        <p:spPr>
          <a:xfrm>
            <a:off x="609480" y="1371600"/>
            <a:ext cx="8000640" cy="51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Model-based reflex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Picture 4" descr="reflex+state-agent"/>
          <p:cNvPicPr/>
          <p:nvPr/>
        </p:nvPicPr>
        <p:blipFill>
          <a:blip r:embed="rId1"/>
          <a:stretch/>
        </p:blipFill>
        <p:spPr>
          <a:xfrm>
            <a:off x="609480" y="1371600"/>
            <a:ext cx="8000640" cy="509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Goal-based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Garamond"/>
            </a:endParaRPr>
          </a:p>
        </p:txBody>
      </p:sp>
      <p:pic>
        <p:nvPicPr>
          <p:cNvPr id="138" name="Picture 5" descr="goal-based-agent"/>
          <p:cNvPicPr/>
          <p:nvPr/>
        </p:nvPicPr>
        <p:blipFill>
          <a:blip r:embed="rId1"/>
          <a:stretch/>
        </p:blipFill>
        <p:spPr>
          <a:xfrm>
            <a:off x="609480" y="1392480"/>
            <a:ext cx="8000640" cy="509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Garamond"/>
              </a:rPr>
              <a:t>Utility-based agents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5" descr="utility-based-agent"/>
          <p:cNvPicPr/>
          <p:nvPr/>
        </p:nvPicPr>
        <p:blipFill>
          <a:blip r:embed="rId1"/>
          <a:stretch/>
        </p:blipFill>
        <p:spPr>
          <a:xfrm>
            <a:off x="496800" y="1417680"/>
            <a:ext cx="8113320" cy="516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Application>LibreOffice/7.3.7.2$Linux_X86_64 LibreOffice_project/30$Build-2</Application>
  <AppVersion>15.0000</AppVersion>
  <Words>605</Words>
  <Paragraphs>208</Paragraphs>
  <Company>NUS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2003-12-17T02:32:09Z</dcterms:created>
  <dc:creator>Min-Yen Kan</dc:creator>
  <dc:description/>
  <dc:language>en-US</dc:language>
  <cp:lastModifiedBy/>
  <dcterms:modified xsi:type="dcterms:W3CDTF">2025-06-25T09:32:39Z</dcterms:modified>
  <cp:revision>25</cp:revision>
  <dc:subject/>
  <dc:title>Intelligent Agents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23</vt:i4>
  </property>
</Properties>
</file>