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5.png" ContentType="image/png"/>
  <Override PartName="/ppt/media/image2.jpeg" ContentType="image/jpeg"/>
  <Override PartName="/ppt/media/image3.jpeg" ContentType="image/jpeg"/>
  <Override PartName="/ppt/media/image4.gif" ContentType="image/gif"/>
  <Override PartName="/ppt/media/image8.png" ContentType="image/png"/>
  <Override PartName="/ppt/media/image6.gif" ContentType="image/gif"/>
  <Override PartName="/ppt/media/image7.jpeg" ContentType="image/jpe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8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6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28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9312E3-4301-403B-8F44-D832385474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106D02-CA6E-47BB-B293-5EFA0CE275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657954-1A52-410F-A6AB-08BD4681BC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11096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06795E-45B8-44D0-9877-87C691047B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640571-21CE-4C54-9C45-DB29DF8C68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ubTitle"/>
          </p:nvPr>
        </p:nvSpPr>
        <p:spPr>
          <a:xfrm>
            <a:off x="457200" y="205920"/>
            <a:ext cx="822924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5B7931-EC47-45AE-8D23-EC147A7282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74240" y="111096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457200" y="2883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AE1E34-8E3B-4477-9F25-27B68467BE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110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4674240" y="2883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EEDC7E-D275-4A59-8996-89797DE15C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674240" y="1110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457200" y="2883960"/>
            <a:ext cx="822924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4793A5-54B8-47C8-83A2-D8E7E807DA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822924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57200" y="2883960"/>
            <a:ext cx="822924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6293CD-DC43-4A44-B5BB-9EE5B93A8C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4674240" y="1110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457200" y="2883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674240" y="2883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19A1ED-099B-429E-85C3-61B8B3CA5BD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3239640" y="111096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/>
          </p:nvPr>
        </p:nvSpPr>
        <p:spPr>
          <a:xfrm>
            <a:off x="6022080" y="111096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/>
          </p:nvPr>
        </p:nvSpPr>
        <p:spPr>
          <a:xfrm>
            <a:off x="457200" y="288396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/>
          </p:nvPr>
        </p:nvSpPr>
        <p:spPr>
          <a:xfrm>
            <a:off x="3239640" y="288396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/>
          </p:nvPr>
        </p:nvSpPr>
        <p:spPr>
          <a:xfrm>
            <a:off x="6022080" y="288396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66C51A-394D-4049-8F69-5D60DB15387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E9B56F-0527-42B1-92CB-1037260C0C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F33DE9-5689-4B9D-9827-0D116E804D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15A1E1-18EC-479A-A43A-9FA071E548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11096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FDCA2F-6778-4385-A97E-4FE0FB8433E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629006-420C-4107-848D-F352606144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ubTitle"/>
          </p:nvPr>
        </p:nvSpPr>
        <p:spPr>
          <a:xfrm>
            <a:off x="457200" y="205920"/>
            <a:ext cx="822924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E82725-3703-4782-AE81-983FB7B0C6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674240" y="111096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457200" y="2883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2A6F37-0CC9-48DB-81A3-0C5550BEB9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674240" y="1110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4674240" y="2883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8E4BAB-D97C-4D9F-AE97-A5E375BEBE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674240" y="1110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457200" y="2883960"/>
            <a:ext cx="822924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FFCA60-26D8-467B-B626-12BB5A6407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822924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457200" y="2883960"/>
            <a:ext cx="822924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EDEC9F-5153-403A-9C3D-DA9A62F417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4674240" y="1110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457200" y="2883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4674240" y="288396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53C5DF-C24A-4DB6-9034-35757689E6C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3239640" y="111096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6022080" y="111096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/>
          </p:nvPr>
        </p:nvSpPr>
        <p:spPr>
          <a:xfrm>
            <a:off x="457200" y="288396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/>
          </p:nvPr>
        </p:nvSpPr>
        <p:spPr>
          <a:xfrm>
            <a:off x="3239640" y="288396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5" name="PlaceHolder 7"/>
          <p:cNvSpPr>
            <a:spLocks noGrp="1"/>
          </p:cNvSpPr>
          <p:nvPr>
            <p:ph/>
          </p:nvPr>
        </p:nvSpPr>
        <p:spPr>
          <a:xfrm>
            <a:off x="6022080" y="288396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1BFAED-C18E-431C-B281-57343D1FB4D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Freeform 12" hidden="1"/>
          <p:cNvSpPr/>
          <p:nvPr/>
        </p:nvSpPr>
        <p:spPr>
          <a:xfrm>
            <a:off x="716400" y="3751560"/>
            <a:ext cx="3801600" cy="1081800"/>
          </a:xfrm>
          <a:custGeom>
            <a:avLst/>
            <a:gdLst/>
            <a:ahLst/>
            <a:rect l="l" t="t" r="r" b="b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Freeform 11" hidden="1"/>
          <p:cNvSpPr/>
          <p:nvPr/>
        </p:nvSpPr>
        <p:spPr>
          <a:xfrm>
            <a:off x="-53640" y="4338720"/>
            <a:ext cx="3801600" cy="628200"/>
          </a:xfrm>
          <a:custGeom>
            <a:avLst/>
            <a:gdLst/>
            <a:ahLst/>
            <a:rect l="l" t="t" r="r" b="b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Right Triangle 13" hidden="1"/>
          <p:cNvSpPr/>
          <p:nvPr/>
        </p:nvSpPr>
        <p:spPr>
          <a:xfrm>
            <a:off x="-6120" y="4343400"/>
            <a:ext cx="3402000" cy="810360"/>
          </a:xfrm>
          <a:prstGeom prst="rtTriangle">
            <a:avLst/>
          </a:prstGeom>
          <a:blipFill rotWithShape="0">
            <a:blip r:embed="rId2">
              <a:alphaModFix amt="50000"/>
            </a:blip>
            <a:srcRect/>
            <a:tile/>
          </a:blip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" name="Straight Connector 14"/>
          <p:cNvSpPr/>
          <p:nvPr/>
        </p:nvSpPr>
        <p:spPr>
          <a:xfrm>
            <a:off x="-9000" y="4340520"/>
            <a:ext cx="3405240" cy="813240"/>
          </a:xfrm>
          <a:prstGeom prst="line">
            <a:avLst/>
          </a:prstGeom>
          <a:ln w="12065">
            <a:solidFill>
              <a:srgbClr val="196f85"/>
            </a:solidFill>
            <a:miter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" name="Right Triangle 9"/>
          <p:cNvSpPr/>
          <p:nvPr/>
        </p:nvSpPr>
        <p:spPr>
          <a:xfrm>
            <a:off x="0" y="3498120"/>
            <a:ext cx="9150840" cy="360"/>
          </a:xfrm>
          <a:prstGeom prst="rtTriangle">
            <a:avLst/>
          </a:prstGeom>
          <a:gradFill rotWithShape="0">
            <a:gsLst>
              <a:gs pos="0">
                <a:srgbClr val="007795"/>
              </a:gs>
              <a:gs pos="100000">
                <a:srgbClr val="4bbade"/>
              </a:gs>
            </a:gsLst>
            <a:lin ang="3000000"/>
          </a:grad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1314360"/>
            <a:ext cx="7772040" cy="137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 fontScale="87000"/>
          </a:bodyPr>
          <a:p>
            <a:pPr algn="r">
              <a:lnSpc>
                <a:spcPct val="100000"/>
              </a:lnSpc>
              <a:buNone/>
            </a:pPr>
            <a:r>
              <a:rPr b="1" lang="en-US" sz="4800" spc="-1" strike="noStrike">
                <a:solidFill>
                  <a:srgbClr val="464646"/>
                </a:solidFill>
                <a:latin typeface="Lucida Sans Unicode"/>
              </a:rPr>
              <a:t>Click to edit Master title style</a:t>
            </a:r>
            <a:endParaRPr b="0" lang="en-US" sz="4800" spc="-1" strike="noStrike">
              <a:solidFill>
                <a:srgbClr val="000000"/>
              </a:solidFill>
              <a:latin typeface="Lucida Sans Unicode"/>
            </a:endParaRPr>
          </a:p>
        </p:txBody>
      </p:sp>
      <p:grpSp>
        <p:nvGrpSpPr>
          <p:cNvPr id="6" name="Group 1"/>
          <p:cNvGrpSpPr/>
          <p:nvPr/>
        </p:nvGrpSpPr>
        <p:grpSpPr>
          <a:xfrm>
            <a:off x="-3600" y="3714840"/>
            <a:ext cx="9147600" cy="1433880"/>
            <a:chOff x="-3600" y="3714840"/>
            <a:chExt cx="9147600" cy="1433880"/>
          </a:xfrm>
        </p:grpSpPr>
        <p:sp>
          <p:nvSpPr>
            <p:cNvPr id="7" name="Freeform 6"/>
            <p:cNvSpPr/>
            <p:nvPr/>
          </p:nvSpPr>
          <p:spPr>
            <a:xfrm>
              <a:off x="1687680" y="3714840"/>
              <a:ext cx="7455960" cy="365760"/>
            </a:xfrm>
            <a:custGeom>
              <a:avLst/>
              <a:gdLst/>
              <a:ahLst/>
              <a:rect l="l" t="t" r="r" b="b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Freeform 7"/>
            <p:cNvSpPr/>
            <p:nvPr/>
          </p:nvSpPr>
          <p:spPr>
            <a:xfrm>
              <a:off x="35280" y="3928320"/>
              <a:ext cx="9108360" cy="591120"/>
            </a:xfrm>
            <a:custGeom>
              <a:avLst/>
              <a:gdLst/>
              <a:ahLst/>
              <a:rect l="l" t="t" r="r" b="b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Freeform 10"/>
            <p:cNvSpPr/>
            <p:nvPr/>
          </p:nvSpPr>
          <p:spPr>
            <a:xfrm>
              <a:off x="0" y="3750840"/>
              <a:ext cx="9143640" cy="1397880"/>
            </a:xfrm>
            <a:custGeom>
              <a:avLst/>
              <a:gdLst/>
              <a:ahLst/>
              <a:rect l="l" t="t" r="r" b="b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>
                <a:alphaModFix amt="50000"/>
              </a:blip>
              <a:srcRect/>
              <a:tile/>
            </a:blipFill>
            <a:ln w="12700">
              <a:noFill/>
            </a:ln>
            <a:effectLst>
              <a:outerShdw blurRad="50760" dir="5400000" dist="38160" rotWithShape="0">
                <a:srgbClr val="000000">
                  <a:alpha val="35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" name="Straight Connector 11"/>
            <p:cNvSpPr/>
            <p:nvPr/>
          </p:nvSpPr>
          <p:spPr>
            <a:xfrm>
              <a:off x="-3600" y="3747960"/>
              <a:ext cx="9147600" cy="592920"/>
            </a:xfrm>
            <a:prstGeom prst="line">
              <a:avLst/>
            </a:prstGeom>
            <a:ln w="12065">
              <a:solidFill>
                <a:srgbClr val="196f85"/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11" name="PlaceHolder 2"/>
          <p:cNvSpPr>
            <a:spLocks noGrp="1"/>
          </p:cNvSpPr>
          <p:nvPr>
            <p:ph type="dt" idx="1"/>
          </p:nvPr>
        </p:nvSpPr>
        <p:spPr>
          <a:xfrm>
            <a:off x="6726960" y="4806000"/>
            <a:ext cx="191988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&lt;date/time&gt;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2"/>
          </p:nvPr>
        </p:nvSpPr>
        <p:spPr>
          <a:xfrm>
            <a:off x="4380120" y="4806000"/>
            <a:ext cx="23504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3"/>
          </p:nvPr>
        </p:nvSpPr>
        <p:spPr>
          <a:xfrm>
            <a:off x="8647200" y="4806000"/>
            <a:ext cx="36540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39C0999-255E-463A-BEC7-C7B4740D70EB}" type="slidenum"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Lucida Sans Unicode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00" spc="-1" strike="noStrike">
                <a:solidFill>
                  <a:srgbClr val="000000"/>
                </a:solidFill>
                <a:latin typeface="Lucida Sans Unicode"/>
              </a:rPr>
              <a:t>Third Outline Level</a:t>
            </a:r>
            <a:endParaRPr b="0" lang="en-US" sz="1900" spc="-1" strike="noStrike">
              <a:solidFill>
                <a:srgbClr val="000000"/>
              </a:solidFill>
              <a:latin typeface="Lucida Sans Unicod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Lucida Sans Unicod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Lucida Sans Unicod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 12"/>
          <p:cNvSpPr/>
          <p:nvPr/>
        </p:nvSpPr>
        <p:spPr>
          <a:xfrm>
            <a:off x="716400" y="3751560"/>
            <a:ext cx="3801600" cy="1081800"/>
          </a:xfrm>
          <a:custGeom>
            <a:avLst/>
            <a:gdLst/>
            <a:ahLst/>
            <a:rect l="l" t="t" r="r" b="b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Freeform 11"/>
          <p:cNvSpPr/>
          <p:nvPr/>
        </p:nvSpPr>
        <p:spPr>
          <a:xfrm>
            <a:off x="-53640" y="4338720"/>
            <a:ext cx="3801600" cy="628200"/>
          </a:xfrm>
          <a:custGeom>
            <a:avLst/>
            <a:gdLst/>
            <a:ahLst/>
            <a:rect l="l" t="t" r="r" b="b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Right Triangle 13"/>
          <p:cNvSpPr/>
          <p:nvPr/>
        </p:nvSpPr>
        <p:spPr>
          <a:xfrm>
            <a:off x="-6120" y="4343400"/>
            <a:ext cx="3402000" cy="810360"/>
          </a:xfrm>
          <a:prstGeom prst="rtTriangle">
            <a:avLst/>
          </a:prstGeom>
          <a:blipFill rotWithShape="0">
            <a:blip r:embed="rId2">
              <a:alphaModFix amt="50000"/>
            </a:blip>
            <a:srcRect/>
            <a:tile/>
          </a:blip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4" name="Straight Connector 14"/>
          <p:cNvSpPr/>
          <p:nvPr/>
        </p:nvSpPr>
        <p:spPr>
          <a:xfrm>
            <a:off x="-9000" y="4340520"/>
            <a:ext cx="3405240" cy="813240"/>
          </a:xfrm>
          <a:prstGeom prst="line">
            <a:avLst/>
          </a:prstGeom>
          <a:ln w="12065">
            <a:solidFill>
              <a:srgbClr val="196f85"/>
            </a:solidFill>
            <a:miter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Click to edit Master text styles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Second level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85968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n-US" sz="2100" spc="-1" strike="noStrike">
                <a:solidFill>
                  <a:srgbClr val="000000"/>
                </a:solidFill>
                <a:latin typeface="Lucida Sans Unicode"/>
              </a:rPr>
              <a:t>Third level</a:t>
            </a:r>
            <a:endParaRPr b="0" lang="en-US" sz="2100" spc="-1" strike="noStrike">
              <a:solidFill>
                <a:srgbClr val="000000"/>
              </a:solidFill>
              <a:latin typeface="Lucida Sans Unicode"/>
            </a:endParaRPr>
          </a:p>
          <a:p>
            <a:pPr lvl="3" marL="11430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n-US" sz="1900" spc="-1" strike="noStrike">
                <a:solidFill>
                  <a:srgbClr val="000000"/>
                </a:solidFill>
                <a:latin typeface="Lucida Sans Unicode"/>
              </a:rPr>
              <a:t>Fourth level</a:t>
            </a:r>
            <a:endParaRPr b="0" lang="en-US" sz="1900" spc="-1" strike="noStrike">
              <a:solidFill>
                <a:srgbClr val="000000"/>
              </a:solidFill>
              <a:latin typeface="Lucida Sans Unicode"/>
            </a:endParaRPr>
          </a:p>
          <a:p>
            <a:pPr lvl="4" marL="13716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4"/>
          </p:nvPr>
        </p:nvSpPr>
        <p:spPr>
          <a:xfrm>
            <a:off x="6726960" y="4806000"/>
            <a:ext cx="191988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>
              <a:lnSpc>
                <a:spcPct val="100000"/>
              </a:lnSpc>
              <a:buNone/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&lt;date/time&gt;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5"/>
          </p:nvPr>
        </p:nvSpPr>
        <p:spPr>
          <a:xfrm>
            <a:off x="4380120" y="4806000"/>
            <a:ext cx="23504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6"/>
          </p:nvPr>
        </p:nvSpPr>
        <p:spPr>
          <a:xfrm>
            <a:off x="8647200" y="4806000"/>
            <a:ext cx="36540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10D6A49-20FC-4B9B-B507-9F6544C974AB}" type="slidenum"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Click to edit Master title style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www.microsoft.com/security/blog/2007/09/11/stride-chart/" TargetMode="External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gif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ieeexplore.ieee.org/document/1324606" TargetMode="External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85800" y="1314360"/>
            <a:ext cx="7772040" cy="137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 fontScale="87000"/>
          </a:bodyPr>
          <a:p>
            <a:pPr algn="r">
              <a:lnSpc>
                <a:spcPct val="100000"/>
              </a:lnSpc>
              <a:buNone/>
            </a:pPr>
            <a:r>
              <a:rPr b="1" lang="en-US" sz="4800" spc="-1" strike="noStrike">
                <a:solidFill>
                  <a:srgbClr val="464646"/>
                </a:solidFill>
                <a:latin typeface="Lucida Sans Unicode"/>
              </a:rPr>
              <a:t>Architectural Risk Analysis </a:t>
            </a:r>
            <a:endParaRPr b="0" lang="en-US" sz="4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685800" y="2708640"/>
            <a:ext cx="7772040" cy="899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000" bIns="45000" anchor="t">
            <a:norm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Content Placeholder 3" descr=""/>
          <p:cNvPicPr/>
          <p:nvPr/>
        </p:nvPicPr>
        <p:blipFill>
          <a:blip r:embed="rId1"/>
          <a:stretch/>
        </p:blipFill>
        <p:spPr>
          <a:xfrm>
            <a:off x="506880" y="1143000"/>
            <a:ext cx="8183160" cy="3485880"/>
          </a:xfrm>
          <a:prstGeom prst="rect">
            <a:avLst/>
          </a:prstGeom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Architectural Risk Analysis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Risk analysis approach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0000"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1)Learn as much as possible about the target of analysis.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Read and understand the specifications, architecture documents, and other design materials.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Discuss and brainstorm about the target with a group.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Determine system boundary and data sensitivity/criticality.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Play with the software (if it exists in executable form).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Study the code and other software artifacts (including the use of code analysis tools).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Identify threats and agree on relevant sources of attack (e.g., will insiders be considered).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Risk analysis approach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9000"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2) Discuss security issues surrounding the software.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ucida Sans Unicode"/>
              </a:rPr>
              <a:t>Argue about how the product works and determine areas of disagreement or ambiguity.</a:t>
            </a:r>
            <a:endParaRPr b="0" lang="en-US" sz="24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ucida Sans Unicode"/>
              </a:rPr>
              <a:t>Identify possible vulnerabilities, sometimes making use of tools or lists of common vulnerabilities.</a:t>
            </a:r>
            <a:endParaRPr b="0" lang="en-US" sz="24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ucida Sans Unicode"/>
              </a:rPr>
              <a:t>Map out exploits and begin to discuss possible fixes.</a:t>
            </a:r>
            <a:endParaRPr b="0" lang="en-US" sz="24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ucida Sans Unicode"/>
              </a:rPr>
              <a:t>Gain understanding of current and planned security controls.</a:t>
            </a:r>
            <a:endParaRPr b="0" lang="en-US" sz="24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Risk analysis approach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3)Determine probability of compromise.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Map out attack scenarios for exploits of vulnerabilities.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Balance controls against threat capacity to determine likelihood.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4)Perform impact analysis.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Determine impacts on assets and business goals.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Consider impacts on the security posture.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Risk analysis approach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5)Rank risks.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6)Develop a mitigation strategy.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Recommend countermeasures to mitigate risks.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7)Report findings.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Carefully describe the major and minor risks, with attention to impacts.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Provide basic information regarding where to spend limited mitigation resources.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Risk Analysis in Practice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7000"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Two basic categories: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567000" indent="-4572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Lucida Sans Unicode"/>
              <a:buAutoNum type="arabicPeriod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ucida Sans Unicode"/>
              </a:rPr>
              <a:t>Commercial: STRIDE from Microsoft, Security Risk Management Guide, also from Microsoft, ACSM/SAR (Adaptive Countermeasure Selection Mechanism/Security Adequacy Review) from Sun</a:t>
            </a:r>
            <a:endParaRPr b="0" lang="en-US" sz="2400" spc="-1" strike="noStrike">
              <a:solidFill>
                <a:srgbClr val="000000"/>
              </a:solidFill>
              <a:latin typeface="Lucida Sans Unicode"/>
            </a:endParaRPr>
          </a:p>
          <a:p>
            <a:pPr marL="567000" indent="-4572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Lucida Sans Unicode"/>
              <a:buAutoNum type="arabicPeriod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ucida Sans Unicode"/>
              </a:rPr>
              <a:t>Standards-Based: ASSET (Automated Security Self-Evaluation Tool) from the National Institute on Standards and Technology (NIST) , OCTAVE (Operationally Critical Threat, Asset, and Vulnerability Evaluation) from SEI</a:t>
            </a:r>
            <a:endParaRPr b="0" lang="en-US" sz="24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Risk Analysis Fits in the RMF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  <p:pic>
        <p:nvPicPr>
          <p:cNvPr id="111" name="Content Placeholder 3" descr="Capture.PNG"/>
          <p:cNvPicPr/>
          <p:nvPr/>
        </p:nvPicPr>
        <p:blipFill>
          <a:blip r:embed="rId1"/>
          <a:stretch/>
        </p:blipFill>
        <p:spPr>
          <a:xfrm>
            <a:off x="1371960" y="1183320"/>
            <a:ext cx="6171840" cy="361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53416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8000"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464646"/>
                </a:solidFill>
                <a:latin typeface="Lucida Sans Unicode"/>
              </a:rPr>
              <a:t>Traditional Risk Analysis Terminology</a:t>
            </a:r>
            <a:endParaRPr b="0" lang="en-US" sz="32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Asset: A system component, data, or even a complete system.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Risk: The probability that an asset will suffer an event of a given negative impact.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Threat: The actor or agent who is the source of danger.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53416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8000"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464646"/>
                </a:solidFill>
                <a:latin typeface="Lucida Sans Unicode"/>
              </a:rPr>
              <a:t>Traditional Risk Analysis Terminology</a:t>
            </a:r>
            <a:endParaRPr b="0" lang="en-US" sz="32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7000"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Vulnerability: In general, a vulnerability is a defect or weakness in system security procedures.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Countermeasures or safeguards: Technical controls prescribed for an information system which, taken together, adequately protect the confidentiality, integrity, and availability of the system and its information.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53416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8000"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464646"/>
                </a:solidFill>
                <a:latin typeface="Lucida Sans Unicode"/>
              </a:rPr>
              <a:t>Traditional Risk Analysis Terminology</a:t>
            </a:r>
            <a:endParaRPr b="0" lang="en-US" sz="32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Probability: The likelihood that a given event will be triggered. Three simple buckets: 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1088280" indent="-4572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Lucida Sans Unicode"/>
              <a:buAutoNum type="arabicPeriod"/>
            </a:pPr>
            <a:r>
              <a:rPr b="0" lang="en-US" sz="2100" spc="-1" strike="noStrike">
                <a:solidFill>
                  <a:srgbClr val="000000"/>
                </a:solidFill>
                <a:latin typeface="Lucida Sans Unicode"/>
              </a:rPr>
              <a:t>High (H)</a:t>
            </a:r>
            <a:endParaRPr b="0" lang="en-US" sz="21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1088280" indent="-4572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Lucida Sans Unicode"/>
              <a:buAutoNum type="arabicPeriod"/>
            </a:pPr>
            <a:r>
              <a:rPr b="0" lang="en-US" sz="2100" spc="-1" strike="noStrike">
                <a:solidFill>
                  <a:srgbClr val="000000"/>
                </a:solidFill>
                <a:latin typeface="Lucida Sans Unicode"/>
              </a:rPr>
              <a:t>Medium (M), </a:t>
            </a:r>
            <a:endParaRPr b="0" lang="en-US" sz="21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1088280" indent="-4572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Lucida Sans Unicode"/>
              <a:buAutoNum type="arabicPeriod"/>
            </a:pPr>
            <a:r>
              <a:rPr b="0" lang="en-US" sz="2100" spc="-1" strike="noStrike">
                <a:solidFill>
                  <a:srgbClr val="000000"/>
                </a:solidFill>
                <a:latin typeface="Lucida Sans Unicode"/>
              </a:rPr>
              <a:t>Low (L).</a:t>
            </a:r>
            <a:endParaRPr b="0" lang="en-US" sz="2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53416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78000"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464646"/>
                </a:solidFill>
                <a:latin typeface="Lucida Sans Unicode"/>
              </a:rPr>
              <a:t>Threat Modeling versus Risk Analysis: Microsoft Redefines Terms</a:t>
            </a:r>
            <a:endParaRPr b="0" lang="en-US" sz="32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STRIDE is an acronym for 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	</a:t>
            </a: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Spoofing, 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	</a:t>
            </a: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Tampering, 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	</a:t>
            </a: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Repudiation, 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	</a:t>
            </a: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Information disclosure, 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	</a:t>
            </a: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Denial of service, and 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	</a:t>
            </a: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Elevation of privilege.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marL="621720" indent="-228600">
              <a:lnSpc>
                <a:spcPct val="100000"/>
              </a:lnSpc>
              <a:spcBef>
                <a:spcPts val="323"/>
              </a:spcBef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Source: </a:t>
            </a:r>
            <a:r>
              <a:rPr b="0" lang="en-US" sz="2300" spc="-1" strike="noStrike" u="sng">
                <a:solidFill>
                  <a:srgbClr val="ff8119"/>
                </a:solidFill>
                <a:uFillTx/>
                <a:latin typeface="Lucida Sans Unicode"/>
                <a:hlinkClick r:id="rId1"/>
              </a:rPr>
              <a:t>Official Link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Content Placeholder 3" descr=""/>
          <p:cNvPicPr/>
          <p:nvPr/>
        </p:nvPicPr>
        <p:blipFill>
          <a:blip r:embed="rId1"/>
          <a:stretch/>
        </p:blipFill>
        <p:spPr>
          <a:xfrm>
            <a:off x="506880" y="1143000"/>
            <a:ext cx="8183160" cy="3485880"/>
          </a:xfrm>
          <a:prstGeom prst="rect">
            <a:avLst/>
          </a:prstGeom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Architectural Risk Analysis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51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8000"/>
          </a:bodyPr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Missing Stakeholders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Wrong Stakeholders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Ambiguous Requirements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Incomplete Requirements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Conflicting Requirements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Infeasible Requirements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Unverifiable Requirements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Undocumented Assumptions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Invalid Assumptions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Inadequate Validation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61000"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Risk Analysis (Requirements And Use Cases)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9000"/>
          </a:bodyPr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Design flaws account for 50% of security problems.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Some requirements are not specified properly.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Validation rules might be improper in requirement stage.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Designer should know about tools and languages.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Designer should be aware of known attacks.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67000"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Risk Analysis (Architecture And Design)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5000"/>
          </a:bodyPr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One classic risk-analysis method expresses risk as a financial loss, or annualized loss expectancy, based on the following equation: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i="1" lang="en-US" sz="2700" spc="-1" strike="noStrike">
                <a:solidFill>
                  <a:srgbClr val="000000"/>
                </a:solidFill>
                <a:latin typeface="Lucida Sans Unicode"/>
              </a:rPr>
              <a:t>ALE = SLE × ARO 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where SLE is the single loss expectancy and ARO is the annualized</a:t>
            </a:r>
            <a:br>
              <a:rPr sz="2700"/>
            </a:b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rate of occurrence. 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br>
              <a:rPr sz="2700"/>
            </a:b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For an example, 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A event causes financial loss for ABC market. Let’s assign a cost of $150 for any such event, so SLE = $150. With an ARO of just 100 such events per year, the cost to the company (or ALE) will be $15,000. 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69000"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Traditional Risk Calculation Approach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6000"/>
          </a:bodyPr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 algn="just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In the case of a Web server providing a company's face to the world, a Web site defacement might be difficult to quantify as a financial loss. 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 algn="just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Traditional risk analysis techniques do not necessarily provide an easy guide of all potential vulnerabilities and threats to be concerned about at a component level. 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Source: </a:t>
            </a:r>
            <a:r>
              <a:rPr b="0" lang="en-US" sz="2700" spc="-1" strike="noStrike" u="sng">
                <a:solidFill>
                  <a:srgbClr val="ff8119"/>
                </a:solidFill>
                <a:uFillTx/>
                <a:latin typeface="Lucida Sans Unicode"/>
                <a:hlinkClick r:id="rId1"/>
              </a:rPr>
              <a:t>Risk analysis in software design</a:t>
            </a:r>
            <a:br>
              <a:rPr sz="2700"/>
            </a:b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69000"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Limitations of Traditional Approaches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Content Placeholder 3" descr=""/>
          <p:cNvPicPr/>
          <p:nvPr/>
        </p:nvPicPr>
        <p:blipFill>
          <a:blip r:embed="rId1"/>
          <a:srcRect l="7936" t="15602" r="11100" b="8104"/>
          <a:stretch/>
        </p:blipFill>
        <p:spPr>
          <a:xfrm>
            <a:off x="1600200" y="1276200"/>
            <a:ext cx="6642000" cy="3520440"/>
          </a:xfrm>
          <a:prstGeom prst="rect">
            <a:avLst/>
          </a:prstGeom>
          <a:ln w="0">
            <a:noFill/>
          </a:ln>
        </p:spPr>
      </p:pic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78000"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A Basic Risk Analysis Approach 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8000"/>
          </a:bodyPr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During the risk analysis process one should consider…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The threats who are likely to attack our system.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The risks present in each tier's environment.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The kinds of vulnerabilities that might exist in each component, as well as the data flow.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The business impact of such technical risks, were they to be realized.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The probability of such a risk being realized.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Any feasible countermeasures that could be implemented at each tier.</a:t>
            </a:r>
            <a:br>
              <a:rPr sz="2700"/>
            </a:b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 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A Basic Risk Analysis Approach 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61000"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Touchpoint Process: Architectural Risk Analysis 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A risk analysis should be carried out only once a reasonable, big-picture overview of the system has been established.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 </a:t>
            </a: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Thus the first step of the process shown in the figure is to build a one-page overview of the system under analysis. Sometimes a one-page big picture exists, but more often it does not. 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The one-page overview can be developed through a process of artifact analysis coupled with interviews. 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61000"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Touchpoint Process: Architectural Risk Analysis 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Three critical steps (or sub-processes) make up the heart of this architectural risk analysis approach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Attack resistance analysis 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Ambiguity analysis 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Weakness analysis 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Attack Resistance Analysis 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9000"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 </a:t>
            </a: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Four steps are involved in this sub-process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 </a:t>
            </a: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Identify general flaws using secure design literature and checklists (e.g., cycling through the Spoofing, Tampering, ... categories from STRIDE). A knowledge base of historical risks is particularly useful in this activity. 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Map attack patterns using either the results of abuse case development or a list of attack patterns. 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Identify risks in the architecture based on the use of checklists. 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Understand and demonstrate the viability of these known attacks (using something like exploit graphs; see the Exploit Graphs box ). 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Exploit Graphs box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  <p:pic>
        <p:nvPicPr>
          <p:cNvPr id="141" name="Content Placeholder 3" descr="Capture.PNG"/>
          <p:cNvPicPr/>
          <p:nvPr/>
        </p:nvPicPr>
        <p:blipFill>
          <a:blip r:embed="rId1"/>
          <a:stretch/>
        </p:blipFill>
        <p:spPr>
          <a:xfrm>
            <a:off x="1371600" y="1200240"/>
            <a:ext cx="5638320" cy="365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Ambiguity Analysis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Ambiguity analysis helps to uncover ambiguity and inconsistency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Ambiguity analysis is the sub-process capturing the creative activity required to discover new risks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This process, by definition, requires at least two analysts (the more the merrier) and some amount of experience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this subprocess works best when carried out by a team of very experienced analysts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Weakness Analysis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8000"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Weakness analysis is a sub-process aimed at understanding the </a:t>
            </a:r>
            <a:r>
              <a:rPr b="1" lang="en-US" sz="2700" spc="-1" strike="noStrike">
                <a:solidFill>
                  <a:srgbClr val="000000"/>
                </a:solidFill>
                <a:latin typeface="Lucida Sans Unicode"/>
              </a:rPr>
              <a:t>impact of external software dependencies</a:t>
            </a: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It can be happened in Frameworks, network topology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Example flaws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Debug interfaces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Unused (but privileged) product "features“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</a:pPr>
            <a:r>
              <a:rPr b="0" lang="en-US" sz="2300" spc="-1" strike="noStrike">
                <a:solidFill>
                  <a:srgbClr val="000000"/>
                </a:solidFill>
                <a:latin typeface="Lucida Sans Unicode"/>
              </a:rPr>
              <a:t>Interposition attacks—DLLs, library paths, client spoofing</a:t>
            </a:r>
            <a:endParaRPr b="0" lang="en-US" sz="2300" spc="-1" strike="noStrike">
              <a:solidFill>
                <a:srgbClr val="000000"/>
              </a:solidFill>
              <a:latin typeface="Lucida Sans Unicode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/>
          </p:nvPr>
        </p:nvSpPr>
        <p:spPr>
          <a:xfrm>
            <a:off x="914400" y="1886040"/>
            <a:ext cx="739116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Architectural Risk Analysis Is a Necessity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Md. Eusha Kadir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Md. Aquib Azmain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Md. Nazmul Haque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Acknowledgement</a:t>
            </a:r>
            <a:endParaRPr b="0" lang="en-US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/>
          </p:nvPr>
        </p:nvSpPr>
        <p:spPr>
          <a:xfrm>
            <a:off x="457200" y="111096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400"/>
              </a:spcBef>
              <a:buNone/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109800"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Any Question?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109800"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109800"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Thank You.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167</TotalTime>
  <Application>LibreOffice/7.3.7.2$Linux_X86_64 LibreOffice_project/30$Build-2</Application>
  <AppVersion>15.0000</AppVersion>
  <Words>1208</Words>
  <Paragraphs>137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2019-04-24T03:20:39Z</dcterms:created>
  <dc:creator>User</dc:creator>
  <dc:description/>
  <dc:language>en-US</dc:language>
  <cp:lastModifiedBy/>
  <dcterms:modified xsi:type="dcterms:W3CDTF">2025-06-20T19:50:36Z</dcterms:modified>
  <cp:revision>30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28</vt:i4>
  </property>
</Properties>
</file>