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diagrams/data1.xml" ContentType="application/vnd.openxmlformats-officedocument.drawingml.diagramData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.jpeg" ContentType="image/jpeg"/>
  <Override PartName="/ppt/media/image11.png" ContentType="image/png"/>
  <Override PartName="/ppt/media/image6.png" ContentType="image/png"/>
  <Override PartName="/ppt/media/image21.jpeg" ContentType="image/jpeg"/>
  <Override PartName="/ppt/media/image16.png" ContentType="image/png"/>
  <Override PartName="/ppt/media/image19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5.png" ContentType="image/png"/>
  <Override PartName="/ppt/media/image14.png" ContentType="image/png"/>
  <Override PartName="/ppt/media/image5.png" ContentType="image/png"/>
  <Override PartName="/ppt/media/image10.png" ContentType="image/png"/>
  <Override PartName="/ppt/media/image2.png" ContentType="image/png"/>
  <Override PartName="/ppt/media/image4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62C39-62EB-654B-866D-4A8CE4D61F66}" type="doc">
      <dgm:prSet loTypeId="urn:microsoft.com/office/officeart/2005/8/layout/hProcess9" loCatId="" qsTypeId="urn:microsoft.com/office/officeart/2005/8/quickstyle/simple1" qsCatId="simple" csTypeId="urn:microsoft.com/office/officeart/2005/8/colors/accent1_2" csCatId="accent1" phldr="1"/>
      <dgm:spPr/>
    </dgm:pt>
    <dgm:pt modelId="{7BE09065-2780-FB43-87C4-6FC96F07551B}">
      <dgm:prSet phldrT="[Text]"/>
      <dgm:spPr/>
      <dgm:t>
        <a:bodyPr/>
        <a:lstStyle/>
        <a:p>
          <a:r>
            <a:rPr lang="en-US" dirty="0"/>
            <a:t>Data Collection</a:t>
          </a:r>
        </a:p>
      </dgm:t>
    </dgm:pt>
    <dgm:pt modelId="{B2A3A982-D269-D34A-BE6C-4DC820171B4E}" type="parTrans" cxnId="{8E625506-461E-164E-9674-4CFFBAB1A2BA}">
      <dgm:prSet/>
      <dgm:spPr/>
      <dgm:t>
        <a:bodyPr/>
        <a:lstStyle/>
        <a:p>
          <a:endParaRPr lang="en-US"/>
        </a:p>
      </dgm:t>
    </dgm:pt>
    <dgm:pt modelId="{EA262464-2957-7140-9F1A-7B01248D483C}" type="sibTrans" cxnId="{8E625506-461E-164E-9674-4CFFBAB1A2BA}">
      <dgm:prSet/>
      <dgm:spPr/>
      <dgm:t>
        <a:bodyPr/>
        <a:lstStyle/>
        <a:p>
          <a:endParaRPr lang="en-US"/>
        </a:p>
      </dgm:t>
    </dgm:pt>
    <dgm:pt modelId="{D0BA480D-6468-E04D-8BDA-E17B782AC1C7}">
      <dgm:prSet phldrT="[Text]"/>
      <dgm:spPr/>
      <dgm:t>
        <a:bodyPr/>
        <a:lstStyle/>
        <a:p>
          <a:r>
            <a:rPr lang="en-US" dirty="0"/>
            <a:t>ML</a:t>
          </a:r>
        </a:p>
      </dgm:t>
    </dgm:pt>
    <dgm:pt modelId="{95DD3A1E-A23B-CA40-A022-ECFE29EAC60E}" type="parTrans" cxnId="{451704D5-3CB3-124D-BA25-F0A96A3F9861}">
      <dgm:prSet/>
      <dgm:spPr/>
      <dgm:t>
        <a:bodyPr/>
        <a:lstStyle/>
        <a:p>
          <a:endParaRPr lang="en-US"/>
        </a:p>
      </dgm:t>
    </dgm:pt>
    <dgm:pt modelId="{CAE10B63-728E-574E-9F92-A4104D16A956}" type="sibTrans" cxnId="{451704D5-3CB3-124D-BA25-F0A96A3F9861}">
      <dgm:prSet/>
      <dgm:spPr/>
      <dgm:t>
        <a:bodyPr/>
        <a:lstStyle/>
        <a:p>
          <a:endParaRPr lang="en-US"/>
        </a:p>
      </dgm:t>
    </dgm:pt>
    <dgm:pt modelId="{58CF5002-FA47-1841-981F-96976F06D355}">
      <dgm:prSet phldrT="[Text]"/>
      <dgm:spPr/>
      <dgm:t>
        <a:bodyPr/>
        <a:lstStyle/>
        <a:p>
          <a:r>
            <a:rPr lang="en-US" dirty="0"/>
            <a:t>Scoring</a:t>
          </a:r>
        </a:p>
      </dgm:t>
    </dgm:pt>
    <dgm:pt modelId="{8DA96038-0A0A-AC43-8894-AF04CA03F13A}" type="parTrans" cxnId="{42530542-3A9F-9149-8D1A-9C50852D8FFF}">
      <dgm:prSet/>
      <dgm:spPr/>
      <dgm:t>
        <a:bodyPr/>
        <a:lstStyle/>
        <a:p>
          <a:endParaRPr lang="en-US"/>
        </a:p>
      </dgm:t>
    </dgm:pt>
    <dgm:pt modelId="{579A4E17-C5DE-F949-8D5A-D45172C8BFEB}" type="sibTrans" cxnId="{42530542-3A9F-9149-8D1A-9C50852D8FFF}">
      <dgm:prSet/>
      <dgm:spPr/>
      <dgm:t>
        <a:bodyPr/>
        <a:lstStyle/>
        <a:p>
          <a:endParaRPr lang="en-US"/>
        </a:p>
      </dgm:t>
    </dgm:pt>
    <dgm:pt modelId="{82F6F9F3-67AB-5248-ABA8-C7D3FFC6A297}" type="pres">
      <dgm:prSet presAssocID="{6AF62C39-62EB-654B-866D-4A8CE4D61F66}" presName="CompostProcess" presStyleCnt="0">
        <dgm:presLayoutVars>
          <dgm:dir/>
          <dgm:resizeHandles val="exact"/>
        </dgm:presLayoutVars>
      </dgm:prSet>
      <dgm:spPr/>
    </dgm:pt>
    <dgm:pt modelId="{8B0CF31A-3087-7C47-996D-C72BC8AE72FA}" type="pres">
      <dgm:prSet presAssocID="{6AF62C39-62EB-654B-866D-4A8CE4D61F66}" presName="arrow" presStyleLbl="bgShp" presStyleIdx="0" presStyleCnt="1"/>
      <dgm:spPr/>
    </dgm:pt>
    <dgm:pt modelId="{3AAC0FA7-408D-8B4C-BABE-5E209991C4EE}" type="pres">
      <dgm:prSet presAssocID="{6AF62C39-62EB-654B-866D-4A8CE4D61F66}" presName="linearProcess" presStyleCnt="0"/>
      <dgm:spPr/>
    </dgm:pt>
    <dgm:pt modelId="{1001E19A-6F4B-3940-875C-97F865C0DB6B}" type="pres">
      <dgm:prSet presAssocID="{7BE09065-2780-FB43-87C4-6FC96F07551B}" presName="textNode" presStyleLbl="node1" presStyleIdx="0" presStyleCnt="3">
        <dgm:presLayoutVars>
          <dgm:bulletEnabled val="1"/>
        </dgm:presLayoutVars>
      </dgm:prSet>
      <dgm:spPr/>
    </dgm:pt>
    <dgm:pt modelId="{F662B8AF-CA6E-244F-9108-4912F5787D1F}" type="pres">
      <dgm:prSet presAssocID="{EA262464-2957-7140-9F1A-7B01248D483C}" presName="sibTrans" presStyleCnt="0"/>
      <dgm:spPr/>
    </dgm:pt>
    <dgm:pt modelId="{FFA10F1A-339F-5744-9B00-99617A5F3E5C}" type="pres">
      <dgm:prSet presAssocID="{D0BA480D-6468-E04D-8BDA-E17B782AC1C7}" presName="textNode" presStyleLbl="node1" presStyleIdx="1" presStyleCnt="3" custLinFactNeighborY="-702">
        <dgm:presLayoutVars>
          <dgm:bulletEnabled val="1"/>
        </dgm:presLayoutVars>
      </dgm:prSet>
      <dgm:spPr/>
    </dgm:pt>
    <dgm:pt modelId="{B9699FDF-DF75-454B-B556-CA43077E2FEC}" type="pres">
      <dgm:prSet presAssocID="{CAE10B63-728E-574E-9F92-A4104D16A956}" presName="sibTrans" presStyleCnt="0"/>
      <dgm:spPr/>
    </dgm:pt>
    <dgm:pt modelId="{D7B5B4D5-D7B2-674F-9228-27950B0EB153}" type="pres">
      <dgm:prSet presAssocID="{58CF5002-FA47-1841-981F-96976F06D355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E625506-461E-164E-9674-4CFFBAB1A2BA}" srcId="{6AF62C39-62EB-654B-866D-4A8CE4D61F66}" destId="{7BE09065-2780-FB43-87C4-6FC96F07551B}" srcOrd="0" destOrd="0" parTransId="{B2A3A982-D269-D34A-BE6C-4DC820171B4E}" sibTransId="{EA262464-2957-7140-9F1A-7B01248D483C}"/>
    <dgm:cxn modelId="{6BBB7807-E5A5-AB4A-93FF-AD38E2F0AE52}" type="presOf" srcId="{D0BA480D-6468-E04D-8BDA-E17B782AC1C7}" destId="{FFA10F1A-339F-5744-9B00-99617A5F3E5C}" srcOrd="0" destOrd="0" presId="urn:microsoft.com/office/officeart/2005/8/layout/hProcess9"/>
    <dgm:cxn modelId="{EB6D8A1C-0C4B-DD45-8E91-5B9AEDFB1A27}" type="presOf" srcId="{6AF62C39-62EB-654B-866D-4A8CE4D61F66}" destId="{82F6F9F3-67AB-5248-ABA8-C7D3FFC6A297}" srcOrd="0" destOrd="0" presId="urn:microsoft.com/office/officeart/2005/8/layout/hProcess9"/>
    <dgm:cxn modelId="{3F984C31-8121-BB46-8CA7-A583CADB1D7B}" type="presOf" srcId="{58CF5002-FA47-1841-981F-96976F06D355}" destId="{D7B5B4D5-D7B2-674F-9228-27950B0EB153}" srcOrd="0" destOrd="0" presId="urn:microsoft.com/office/officeart/2005/8/layout/hProcess9"/>
    <dgm:cxn modelId="{42530542-3A9F-9149-8D1A-9C50852D8FFF}" srcId="{6AF62C39-62EB-654B-866D-4A8CE4D61F66}" destId="{58CF5002-FA47-1841-981F-96976F06D355}" srcOrd="2" destOrd="0" parTransId="{8DA96038-0A0A-AC43-8894-AF04CA03F13A}" sibTransId="{579A4E17-C5DE-F949-8D5A-D45172C8BFEB}"/>
    <dgm:cxn modelId="{BF50D38C-0DBA-8346-B138-974EBC2A20B1}" type="presOf" srcId="{7BE09065-2780-FB43-87C4-6FC96F07551B}" destId="{1001E19A-6F4B-3940-875C-97F865C0DB6B}" srcOrd="0" destOrd="0" presId="urn:microsoft.com/office/officeart/2005/8/layout/hProcess9"/>
    <dgm:cxn modelId="{451704D5-3CB3-124D-BA25-F0A96A3F9861}" srcId="{6AF62C39-62EB-654B-866D-4A8CE4D61F66}" destId="{D0BA480D-6468-E04D-8BDA-E17B782AC1C7}" srcOrd="1" destOrd="0" parTransId="{95DD3A1E-A23B-CA40-A022-ECFE29EAC60E}" sibTransId="{CAE10B63-728E-574E-9F92-A4104D16A956}"/>
    <dgm:cxn modelId="{A12AD4D2-6FDB-6243-8D85-33D1EA88035F}" type="presParOf" srcId="{82F6F9F3-67AB-5248-ABA8-C7D3FFC6A297}" destId="{8B0CF31A-3087-7C47-996D-C72BC8AE72FA}" srcOrd="0" destOrd="0" presId="urn:microsoft.com/office/officeart/2005/8/layout/hProcess9"/>
    <dgm:cxn modelId="{1A9160E1-6776-2B43-9314-C47C969FEE05}" type="presParOf" srcId="{82F6F9F3-67AB-5248-ABA8-C7D3FFC6A297}" destId="{3AAC0FA7-408D-8B4C-BABE-5E209991C4EE}" srcOrd="1" destOrd="0" presId="urn:microsoft.com/office/officeart/2005/8/layout/hProcess9"/>
    <dgm:cxn modelId="{31FF66AD-78E8-384C-A89A-06803929EA67}" type="presParOf" srcId="{3AAC0FA7-408D-8B4C-BABE-5E209991C4EE}" destId="{1001E19A-6F4B-3940-875C-97F865C0DB6B}" srcOrd="0" destOrd="0" presId="urn:microsoft.com/office/officeart/2005/8/layout/hProcess9"/>
    <dgm:cxn modelId="{EF30212C-9478-CE4A-8366-11CF8BE68A1F}" type="presParOf" srcId="{3AAC0FA7-408D-8B4C-BABE-5E209991C4EE}" destId="{F662B8AF-CA6E-244F-9108-4912F5787D1F}" srcOrd="1" destOrd="0" presId="urn:microsoft.com/office/officeart/2005/8/layout/hProcess9"/>
    <dgm:cxn modelId="{39AE764B-4E49-EC4F-A5F8-50B584958B17}" type="presParOf" srcId="{3AAC0FA7-408D-8B4C-BABE-5E209991C4EE}" destId="{FFA10F1A-339F-5744-9B00-99617A5F3E5C}" srcOrd="2" destOrd="0" presId="urn:microsoft.com/office/officeart/2005/8/layout/hProcess9"/>
    <dgm:cxn modelId="{96102610-3793-9849-81CF-E77AF9E58A3E}" type="presParOf" srcId="{3AAC0FA7-408D-8B4C-BABE-5E209991C4EE}" destId="{B9699FDF-DF75-454B-B556-CA43077E2FEC}" srcOrd="3" destOrd="0" presId="urn:microsoft.com/office/officeart/2005/8/layout/hProcess9"/>
    <dgm:cxn modelId="{09D9884A-B4CA-5C47-9E99-7EDA3C51C77A}" type="presParOf" srcId="{3AAC0FA7-408D-8B4C-BABE-5E209991C4EE}" destId="{D7B5B4D5-D7B2-674F-9228-27950B0EB15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3FBEDF-873A-614E-8389-1E6150A1915B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67A273-10B2-6F4E-92CC-5271C907C2EB}">
      <dgm:prSet phldrT="[Text]"/>
      <dgm:spPr/>
      <dgm:t>
        <a:bodyPr/>
        <a:lstStyle/>
        <a:p>
          <a:r>
            <a:rPr lang="en-US" dirty="0"/>
            <a:t>CVSS Attributes</a:t>
          </a:r>
        </a:p>
      </dgm:t>
    </dgm:pt>
    <dgm:pt modelId="{06F43403-91E9-6245-8CA0-DAE9ACF24E68}" type="parTrans" cxnId="{4A7270A6-50B3-344A-B6CE-7B006EC1C714}">
      <dgm:prSet/>
      <dgm:spPr/>
      <dgm:t>
        <a:bodyPr/>
        <a:lstStyle/>
        <a:p>
          <a:endParaRPr lang="en-US"/>
        </a:p>
      </dgm:t>
    </dgm:pt>
    <dgm:pt modelId="{0E06D22C-D660-734A-BE53-C7C4C3B9B0D3}" type="sibTrans" cxnId="{4A7270A6-50B3-344A-B6CE-7B006EC1C714}">
      <dgm:prSet/>
      <dgm:spPr/>
      <dgm:t>
        <a:bodyPr/>
        <a:lstStyle/>
        <a:p>
          <a:endParaRPr lang="en-US"/>
        </a:p>
      </dgm:t>
    </dgm:pt>
    <dgm:pt modelId="{136C3E1F-AA3A-0E41-A098-B494C2F3D3EB}">
      <dgm:prSet phldrT="[Text]"/>
      <dgm:spPr/>
      <dgm:t>
        <a:bodyPr/>
        <a:lstStyle/>
        <a:p>
          <a:pPr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Exploitation complexity</a:t>
          </a:r>
          <a:endParaRPr lang="en-US" dirty="0"/>
        </a:p>
      </dgm:t>
    </dgm:pt>
    <dgm:pt modelId="{2168B94A-9F59-B54C-A776-ECE363CEC9B8}" type="parTrans" cxnId="{59BBB917-DBD9-B741-B7D5-32B00CBEEB29}">
      <dgm:prSet/>
      <dgm:spPr/>
      <dgm:t>
        <a:bodyPr/>
        <a:lstStyle/>
        <a:p>
          <a:endParaRPr lang="en-US"/>
        </a:p>
      </dgm:t>
    </dgm:pt>
    <dgm:pt modelId="{66CD4AA5-1722-C745-880E-7860881D76CA}" type="sibTrans" cxnId="{59BBB917-DBD9-B741-B7D5-32B00CBEEB29}">
      <dgm:prSet/>
      <dgm:spPr/>
      <dgm:t>
        <a:bodyPr/>
        <a:lstStyle/>
        <a:p>
          <a:endParaRPr lang="en-US"/>
        </a:p>
      </dgm:t>
    </dgm:pt>
    <dgm:pt modelId="{F31F0730-7F8B-7C40-89C8-5906A937B782}">
      <dgm:prSet phldrT="[Text]"/>
      <dgm:spPr/>
      <dgm:t>
        <a:bodyPr/>
        <a:lstStyle/>
        <a:p>
          <a:r>
            <a:rPr lang="en-US" dirty="0"/>
            <a:t>Historical Data</a:t>
          </a:r>
        </a:p>
      </dgm:t>
    </dgm:pt>
    <dgm:pt modelId="{19BCD444-465F-7A47-9950-83BCAF736A12}" type="parTrans" cxnId="{03396116-CD3B-B74D-96B6-318D0A3A8632}">
      <dgm:prSet/>
      <dgm:spPr/>
      <dgm:t>
        <a:bodyPr/>
        <a:lstStyle/>
        <a:p>
          <a:endParaRPr lang="en-US"/>
        </a:p>
      </dgm:t>
    </dgm:pt>
    <dgm:pt modelId="{49301DEA-B9D0-7641-8FD8-BFFB400E46AB}" type="sibTrans" cxnId="{03396116-CD3B-B74D-96B6-318D0A3A8632}">
      <dgm:prSet/>
      <dgm:spPr/>
      <dgm:t>
        <a:bodyPr/>
        <a:lstStyle/>
        <a:p>
          <a:endParaRPr lang="en-US"/>
        </a:p>
      </dgm:t>
    </dgm:pt>
    <dgm:pt modelId="{128D0AD5-485F-2541-A959-C1B3C169E62C}">
      <dgm:prSet phldrT="[Text]"/>
      <dgm:spPr/>
      <dgm:t>
        <a:bodyPr/>
        <a:lstStyle/>
        <a:p>
          <a:pPr>
            <a:buFont typeface="Wingdings" pitchFamily="2" charset="2"/>
            <a:buChar char="q"/>
          </a:pPr>
          <a:r>
            <a:rPr lang="en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Previous vulnerability exploitation trend</a:t>
          </a:r>
          <a:endParaRPr lang="en-US" dirty="0"/>
        </a:p>
      </dgm:t>
    </dgm:pt>
    <dgm:pt modelId="{763AD87A-1C5C-AB4C-B8BE-71B03723CD03}" type="parTrans" cxnId="{88277CC1-7C93-6B43-82BF-9D3527CE7E92}">
      <dgm:prSet/>
      <dgm:spPr/>
      <dgm:t>
        <a:bodyPr/>
        <a:lstStyle/>
        <a:p>
          <a:endParaRPr lang="en-US"/>
        </a:p>
      </dgm:t>
    </dgm:pt>
    <dgm:pt modelId="{01FC1039-42EB-7643-BE62-2BCA3AA74151}" type="sibTrans" cxnId="{88277CC1-7C93-6B43-82BF-9D3527CE7E92}">
      <dgm:prSet/>
      <dgm:spPr/>
      <dgm:t>
        <a:bodyPr/>
        <a:lstStyle/>
        <a:p>
          <a:endParaRPr lang="en-US"/>
        </a:p>
      </dgm:t>
    </dgm:pt>
    <dgm:pt modelId="{90247710-09E3-D443-997B-B1F587D5CF81}">
      <dgm:prSet phldrT="[Text]"/>
      <dgm:spPr/>
      <dgm:t>
        <a:bodyPr/>
        <a:lstStyle/>
        <a:p>
          <a:r>
            <a:rPr lang="en-US" dirty="0"/>
            <a:t>Public Vulnerability Database</a:t>
          </a:r>
        </a:p>
      </dgm:t>
    </dgm:pt>
    <dgm:pt modelId="{5CB3CBF6-24A5-974E-85DC-252B13D7D08F}" type="parTrans" cxnId="{AE0948CA-9511-4D43-BF2F-3B5630ADA40E}">
      <dgm:prSet/>
      <dgm:spPr/>
      <dgm:t>
        <a:bodyPr/>
        <a:lstStyle/>
        <a:p>
          <a:endParaRPr lang="en-US"/>
        </a:p>
      </dgm:t>
    </dgm:pt>
    <dgm:pt modelId="{EB9BC61A-B78E-2F48-A6F9-CDC89E676A55}" type="sibTrans" cxnId="{AE0948CA-9511-4D43-BF2F-3B5630ADA40E}">
      <dgm:prSet/>
      <dgm:spPr/>
      <dgm:t>
        <a:bodyPr/>
        <a:lstStyle/>
        <a:p>
          <a:endParaRPr lang="en-US"/>
        </a:p>
      </dgm:t>
    </dgm:pt>
    <dgm:pt modelId="{7700AA03-AB95-C546-B844-A0F61427D78D}">
      <dgm:prSet phldrT="[Text]" custT="1"/>
      <dgm:spPr/>
      <dgm:t>
        <a:bodyPr/>
        <a:lstStyle/>
        <a:p>
          <a:pPr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Information from databases like NVD (National Vulnerability Database)</a:t>
          </a:r>
          <a:endParaRPr lang="en-US" sz="4200" kern="1200" dirty="0"/>
        </a:p>
      </dgm:t>
    </dgm:pt>
    <dgm:pt modelId="{7D463E5A-9F37-434F-81E1-879250065030}" type="parTrans" cxnId="{676C8AB4-C626-0F49-9797-70AD72CC7D6F}">
      <dgm:prSet/>
      <dgm:spPr/>
      <dgm:t>
        <a:bodyPr/>
        <a:lstStyle/>
        <a:p>
          <a:endParaRPr lang="en-US"/>
        </a:p>
      </dgm:t>
    </dgm:pt>
    <dgm:pt modelId="{19772A4A-80B1-E746-89DC-33B9F2CF40A3}" type="sibTrans" cxnId="{676C8AB4-C626-0F49-9797-70AD72CC7D6F}">
      <dgm:prSet/>
      <dgm:spPr/>
      <dgm:t>
        <a:bodyPr/>
        <a:lstStyle/>
        <a:p>
          <a:endParaRPr lang="en-US"/>
        </a:p>
      </dgm:t>
    </dgm:pt>
    <dgm:pt modelId="{18F47296-6C99-E145-B028-93AF7006298A}">
      <dgm:prSet phldrT="[Text]"/>
      <dgm:spPr/>
      <dgm:t>
        <a:bodyPr/>
        <a:lstStyle/>
        <a:p>
          <a:pPr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Attack vector</a:t>
          </a:r>
          <a:endParaRPr lang="en-US" dirty="0"/>
        </a:p>
      </dgm:t>
    </dgm:pt>
    <dgm:pt modelId="{7EBA1BD3-B16A-234F-81C1-4C8B541A09EE}" type="parTrans" cxnId="{DF887C45-549F-BF40-AEB6-4B87FB78C697}">
      <dgm:prSet/>
      <dgm:spPr/>
      <dgm:t>
        <a:bodyPr/>
        <a:lstStyle/>
        <a:p>
          <a:endParaRPr lang="en-US"/>
        </a:p>
      </dgm:t>
    </dgm:pt>
    <dgm:pt modelId="{04D26AB4-1831-E041-AAC2-DF969DE3D55E}" type="sibTrans" cxnId="{DF887C45-549F-BF40-AEB6-4B87FB78C697}">
      <dgm:prSet/>
      <dgm:spPr/>
      <dgm:t>
        <a:bodyPr/>
        <a:lstStyle/>
        <a:p>
          <a:endParaRPr lang="en-US"/>
        </a:p>
      </dgm:t>
    </dgm:pt>
    <dgm:pt modelId="{C40D2A08-80A4-1C4C-914E-C6C90BA7B21A}">
      <dgm:prSet phldrT="[Text]"/>
      <dgm:spPr/>
      <dgm:t>
        <a:bodyPr/>
        <a:lstStyle/>
        <a:p>
          <a:pPr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Confidentiality, integrity, and availability impact</a:t>
          </a:r>
          <a:endParaRPr lang="en-US" dirty="0"/>
        </a:p>
      </dgm:t>
    </dgm:pt>
    <dgm:pt modelId="{8B560B22-85B0-2B48-A643-1F53C61FE8DA}" type="parTrans" cxnId="{AC07613B-70A9-0C49-8741-45C0DF6509A0}">
      <dgm:prSet/>
      <dgm:spPr/>
      <dgm:t>
        <a:bodyPr/>
        <a:lstStyle/>
        <a:p>
          <a:endParaRPr lang="en-US"/>
        </a:p>
      </dgm:t>
    </dgm:pt>
    <dgm:pt modelId="{769E4D18-2D24-894C-BBA9-D7565D45CE65}" type="sibTrans" cxnId="{AC07613B-70A9-0C49-8741-45C0DF6509A0}">
      <dgm:prSet/>
      <dgm:spPr/>
      <dgm:t>
        <a:bodyPr/>
        <a:lstStyle/>
        <a:p>
          <a:endParaRPr lang="en-US"/>
        </a:p>
      </dgm:t>
    </dgm:pt>
    <dgm:pt modelId="{0BDF71D2-8123-F740-9BDB-F7452511710E}">
      <dgm:prSet phldrT="[Text]"/>
      <dgm:spPr/>
      <dgm:t>
        <a:bodyPr/>
        <a:lstStyle/>
        <a:p>
          <a:pPr>
            <a:buFont typeface="Wingdings" pitchFamily="2" charset="2"/>
            <a:buChar char="q"/>
          </a:pPr>
          <a:r>
            <a:rPr lang="en-US" dirty="0"/>
            <a:t> Current threat landscape</a:t>
          </a:r>
        </a:p>
      </dgm:t>
    </dgm:pt>
    <dgm:pt modelId="{D30CD690-F071-6F4D-B5A8-AC16AB515EF6}" type="parTrans" cxnId="{895298DA-7759-C144-88AC-5C3F53B1F897}">
      <dgm:prSet/>
      <dgm:spPr/>
      <dgm:t>
        <a:bodyPr/>
        <a:lstStyle/>
        <a:p>
          <a:endParaRPr lang="en-US"/>
        </a:p>
      </dgm:t>
    </dgm:pt>
    <dgm:pt modelId="{39318177-A2BF-9840-BAA3-79F102A433E2}" type="sibTrans" cxnId="{895298DA-7759-C144-88AC-5C3F53B1F897}">
      <dgm:prSet/>
      <dgm:spPr/>
      <dgm:t>
        <a:bodyPr/>
        <a:lstStyle/>
        <a:p>
          <a:endParaRPr lang="en-US"/>
        </a:p>
      </dgm:t>
    </dgm:pt>
    <dgm:pt modelId="{8B37D592-99C1-FD48-9487-4B05F5C50408}">
      <dgm:prSet phldrT="[Text]" custT="1"/>
      <dgm:spPr/>
      <dgm:t>
        <a:bodyPr/>
        <a:lstStyle/>
        <a:p>
          <a:pPr>
            <a:buFont typeface="Wingdings" pitchFamily="2" charset="2"/>
            <a:buChar char="q"/>
          </a:pPr>
          <a:r>
            <a:rPr lang="en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unito"/>
            </a:rPr>
            <a:t> Likelihood of discovery of the vulnerability</a:t>
          </a:r>
          <a:endParaRPr lang="en-US" sz="4200" kern="1200" dirty="0"/>
        </a:p>
      </dgm:t>
    </dgm:pt>
    <dgm:pt modelId="{EEBB8E8B-1E08-6F4A-B4D3-EB2B5050C375}" type="parTrans" cxnId="{529444EE-6CE7-CC48-A476-5D1CDF864324}">
      <dgm:prSet/>
      <dgm:spPr/>
      <dgm:t>
        <a:bodyPr/>
        <a:lstStyle/>
        <a:p>
          <a:endParaRPr lang="en-US"/>
        </a:p>
      </dgm:t>
    </dgm:pt>
    <dgm:pt modelId="{C4496404-F444-B943-898B-1CF99EB51917}" type="sibTrans" cxnId="{529444EE-6CE7-CC48-A476-5D1CDF864324}">
      <dgm:prSet/>
      <dgm:spPr/>
      <dgm:t>
        <a:bodyPr/>
        <a:lstStyle/>
        <a:p>
          <a:endParaRPr lang="en-US"/>
        </a:p>
      </dgm:t>
    </dgm:pt>
    <dgm:pt modelId="{C111213F-7017-A84C-AD03-783130633DAD}" type="pres">
      <dgm:prSet presAssocID="{2C3FBEDF-873A-614E-8389-1E6150A1915B}" presName="Name0" presStyleCnt="0">
        <dgm:presLayoutVars>
          <dgm:dir/>
          <dgm:animLvl val="lvl"/>
          <dgm:resizeHandles val="exact"/>
        </dgm:presLayoutVars>
      </dgm:prSet>
      <dgm:spPr/>
    </dgm:pt>
    <dgm:pt modelId="{E596DE2D-3AD8-864A-84DA-9D7B7E4214DB}" type="pres">
      <dgm:prSet presAssocID="{9567A273-10B2-6F4E-92CC-5271C907C2EB}" presName="composite" presStyleCnt="0"/>
      <dgm:spPr/>
    </dgm:pt>
    <dgm:pt modelId="{848C14D1-3383-724A-858F-E3C83DF7C593}" type="pres">
      <dgm:prSet presAssocID="{9567A273-10B2-6F4E-92CC-5271C907C2E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0DCA044-323D-A940-888E-0EA8B353978B}" type="pres">
      <dgm:prSet presAssocID="{9567A273-10B2-6F4E-92CC-5271C907C2EB}" presName="desTx" presStyleLbl="alignAccFollowNode1" presStyleIdx="0" presStyleCnt="3" custScaleX="98095">
        <dgm:presLayoutVars>
          <dgm:bulletEnabled val="1"/>
        </dgm:presLayoutVars>
      </dgm:prSet>
      <dgm:spPr/>
    </dgm:pt>
    <dgm:pt modelId="{2CF63066-1623-5146-8D93-FC9FF17996C7}" type="pres">
      <dgm:prSet presAssocID="{0E06D22C-D660-734A-BE53-C7C4C3B9B0D3}" presName="space" presStyleCnt="0"/>
      <dgm:spPr/>
    </dgm:pt>
    <dgm:pt modelId="{0650F464-AC84-964C-82F8-952BE2F13DCA}" type="pres">
      <dgm:prSet presAssocID="{F31F0730-7F8B-7C40-89C8-5906A937B782}" presName="composite" presStyleCnt="0"/>
      <dgm:spPr/>
    </dgm:pt>
    <dgm:pt modelId="{FC8C492E-A3D3-3348-A12C-94B729222408}" type="pres">
      <dgm:prSet presAssocID="{F31F0730-7F8B-7C40-89C8-5906A937B78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8FE413A-A0CF-844C-862A-575933DB652C}" type="pres">
      <dgm:prSet presAssocID="{F31F0730-7F8B-7C40-89C8-5906A937B782}" presName="desTx" presStyleLbl="alignAccFollowNode1" presStyleIdx="1" presStyleCnt="3">
        <dgm:presLayoutVars>
          <dgm:bulletEnabled val="1"/>
        </dgm:presLayoutVars>
      </dgm:prSet>
      <dgm:spPr/>
    </dgm:pt>
    <dgm:pt modelId="{FE9049C6-611F-AF45-A399-B6B8DCE3E262}" type="pres">
      <dgm:prSet presAssocID="{49301DEA-B9D0-7641-8FD8-BFFB400E46AB}" presName="space" presStyleCnt="0"/>
      <dgm:spPr/>
    </dgm:pt>
    <dgm:pt modelId="{2539D31C-04F7-1243-81B5-070F012C0098}" type="pres">
      <dgm:prSet presAssocID="{90247710-09E3-D443-997B-B1F587D5CF81}" presName="composite" presStyleCnt="0"/>
      <dgm:spPr/>
    </dgm:pt>
    <dgm:pt modelId="{6065B87B-85F3-9941-A8FF-0F8CC857023F}" type="pres">
      <dgm:prSet presAssocID="{90247710-09E3-D443-997B-B1F587D5CF8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5F65592-8A56-A645-BA18-5F08671EB3C7}" type="pres">
      <dgm:prSet presAssocID="{90247710-09E3-D443-997B-B1F587D5CF8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AB81D08-E0BC-284F-97CD-FFCE3A19A664}" type="presOf" srcId="{8B37D592-99C1-FD48-9487-4B05F5C50408}" destId="{B5F65592-8A56-A645-BA18-5F08671EB3C7}" srcOrd="0" destOrd="1" presId="urn:microsoft.com/office/officeart/2005/8/layout/hList1"/>
    <dgm:cxn modelId="{03396116-CD3B-B74D-96B6-318D0A3A8632}" srcId="{2C3FBEDF-873A-614E-8389-1E6150A1915B}" destId="{F31F0730-7F8B-7C40-89C8-5906A937B782}" srcOrd="1" destOrd="0" parTransId="{19BCD444-465F-7A47-9950-83BCAF736A12}" sibTransId="{49301DEA-B9D0-7641-8FD8-BFFB400E46AB}"/>
    <dgm:cxn modelId="{59BBB917-DBD9-B741-B7D5-32B00CBEEB29}" srcId="{9567A273-10B2-6F4E-92CC-5271C907C2EB}" destId="{136C3E1F-AA3A-0E41-A098-B494C2F3D3EB}" srcOrd="0" destOrd="0" parTransId="{2168B94A-9F59-B54C-A776-ECE363CEC9B8}" sibTransId="{66CD4AA5-1722-C745-880E-7860881D76CA}"/>
    <dgm:cxn modelId="{BE60701C-7E4E-B74C-9D70-02906F1D44EE}" type="presOf" srcId="{7700AA03-AB95-C546-B844-A0F61427D78D}" destId="{B5F65592-8A56-A645-BA18-5F08671EB3C7}" srcOrd="0" destOrd="0" presId="urn:microsoft.com/office/officeart/2005/8/layout/hList1"/>
    <dgm:cxn modelId="{A9C7F526-85CB-8145-8C04-19FD7B44225A}" type="presOf" srcId="{0BDF71D2-8123-F740-9BDB-F7452511710E}" destId="{B8FE413A-A0CF-844C-862A-575933DB652C}" srcOrd="0" destOrd="1" presId="urn:microsoft.com/office/officeart/2005/8/layout/hList1"/>
    <dgm:cxn modelId="{F89CC627-ACDD-E745-87A5-A3A55B6067CF}" type="presOf" srcId="{F31F0730-7F8B-7C40-89C8-5906A937B782}" destId="{FC8C492E-A3D3-3348-A12C-94B729222408}" srcOrd="0" destOrd="0" presId="urn:microsoft.com/office/officeart/2005/8/layout/hList1"/>
    <dgm:cxn modelId="{AC07613B-70A9-0C49-8741-45C0DF6509A0}" srcId="{9567A273-10B2-6F4E-92CC-5271C907C2EB}" destId="{C40D2A08-80A4-1C4C-914E-C6C90BA7B21A}" srcOrd="2" destOrd="0" parTransId="{8B560B22-85B0-2B48-A643-1F53C61FE8DA}" sibTransId="{769E4D18-2D24-894C-BBA9-D7565D45CE65}"/>
    <dgm:cxn modelId="{90F9E243-27D0-4446-8E07-9042237FB37A}" type="presOf" srcId="{C40D2A08-80A4-1C4C-914E-C6C90BA7B21A}" destId="{40DCA044-323D-A940-888E-0EA8B353978B}" srcOrd="0" destOrd="2" presId="urn:microsoft.com/office/officeart/2005/8/layout/hList1"/>
    <dgm:cxn modelId="{DF887C45-549F-BF40-AEB6-4B87FB78C697}" srcId="{9567A273-10B2-6F4E-92CC-5271C907C2EB}" destId="{18F47296-6C99-E145-B028-93AF7006298A}" srcOrd="1" destOrd="0" parTransId="{7EBA1BD3-B16A-234F-81C1-4C8B541A09EE}" sibTransId="{04D26AB4-1831-E041-AAC2-DF969DE3D55E}"/>
    <dgm:cxn modelId="{A766504B-17DA-8F4E-A950-9310D3651A14}" type="presOf" srcId="{128D0AD5-485F-2541-A959-C1B3C169E62C}" destId="{B8FE413A-A0CF-844C-862A-575933DB652C}" srcOrd="0" destOrd="0" presId="urn:microsoft.com/office/officeart/2005/8/layout/hList1"/>
    <dgm:cxn modelId="{F94DCE4C-67CC-264A-A462-19ED5DD446DB}" type="presOf" srcId="{90247710-09E3-D443-997B-B1F587D5CF81}" destId="{6065B87B-85F3-9941-A8FF-0F8CC857023F}" srcOrd="0" destOrd="0" presId="urn:microsoft.com/office/officeart/2005/8/layout/hList1"/>
    <dgm:cxn modelId="{D3DE38A4-F3A8-D642-B94E-ABF43C758A2D}" type="presOf" srcId="{9567A273-10B2-6F4E-92CC-5271C907C2EB}" destId="{848C14D1-3383-724A-858F-E3C83DF7C593}" srcOrd="0" destOrd="0" presId="urn:microsoft.com/office/officeart/2005/8/layout/hList1"/>
    <dgm:cxn modelId="{4A7270A6-50B3-344A-B6CE-7B006EC1C714}" srcId="{2C3FBEDF-873A-614E-8389-1E6150A1915B}" destId="{9567A273-10B2-6F4E-92CC-5271C907C2EB}" srcOrd="0" destOrd="0" parTransId="{06F43403-91E9-6245-8CA0-DAE9ACF24E68}" sibTransId="{0E06D22C-D660-734A-BE53-C7C4C3B9B0D3}"/>
    <dgm:cxn modelId="{676C8AB4-C626-0F49-9797-70AD72CC7D6F}" srcId="{90247710-09E3-D443-997B-B1F587D5CF81}" destId="{7700AA03-AB95-C546-B844-A0F61427D78D}" srcOrd="0" destOrd="0" parTransId="{7D463E5A-9F37-434F-81E1-879250065030}" sibTransId="{19772A4A-80B1-E746-89DC-33B9F2CF40A3}"/>
    <dgm:cxn modelId="{C3A0EAB7-67D2-CA4A-B2A1-006A4A7CAF34}" type="presOf" srcId="{18F47296-6C99-E145-B028-93AF7006298A}" destId="{40DCA044-323D-A940-888E-0EA8B353978B}" srcOrd="0" destOrd="1" presId="urn:microsoft.com/office/officeart/2005/8/layout/hList1"/>
    <dgm:cxn modelId="{88277CC1-7C93-6B43-82BF-9D3527CE7E92}" srcId="{F31F0730-7F8B-7C40-89C8-5906A937B782}" destId="{128D0AD5-485F-2541-A959-C1B3C169E62C}" srcOrd="0" destOrd="0" parTransId="{763AD87A-1C5C-AB4C-B8BE-71B03723CD03}" sibTransId="{01FC1039-42EB-7643-BE62-2BCA3AA74151}"/>
    <dgm:cxn modelId="{AE0948CA-9511-4D43-BF2F-3B5630ADA40E}" srcId="{2C3FBEDF-873A-614E-8389-1E6150A1915B}" destId="{90247710-09E3-D443-997B-B1F587D5CF81}" srcOrd="2" destOrd="0" parTransId="{5CB3CBF6-24A5-974E-85DC-252B13D7D08F}" sibTransId="{EB9BC61A-B78E-2F48-A6F9-CDC89E676A55}"/>
    <dgm:cxn modelId="{DC7AE0CD-EDC4-F74C-97B2-F68002AC5634}" type="presOf" srcId="{2C3FBEDF-873A-614E-8389-1E6150A1915B}" destId="{C111213F-7017-A84C-AD03-783130633DAD}" srcOrd="0" destOrd="0" presId="urn:microsoft.com/office/officeart/2005/8/layout/hList1"/>
    <dgm:cxn modelId="{895298DA-7759-C144-88AC-5C3F53B1F897}" srcId="{F31F0730-7F8B-7C40-89C8-5906A937B782}" destId="{0BDF71D2-8123-F740-9BDB-F7452511710E}" srcOrd="1" destOrd="0" parTransId="{D30CD690-F071-6F4D-B5A8-AC16AB515EF6}" sibTransId="{39318177-A2BF-9840-BAA3-79F102A433E2}"/>
    <dgm:cxn modelId="{529444EE-6CE7-CC48-A476-5D1CDF864324}" srcId="{90247710-09E3-D443-997B-B1F587D5CF81}" destId="{8B37D592-99C1-FD48-9487-4B05F5C50408}" srcOrd="1" destOrd="0" parTransId="{EEBB8E8B-1E08-6F4A-B4D3-EB2B5050C375}" sibTransId="{C4496404-F444-B943-898B-1CF99EB51917}"/>
    <dgm:cxn modelId="{2B06E8FE-3544-9B4E-A714-EFBFD11CFE67}" type="presOf" srcId="{136C3E1F-AA3A-0E41-A098-B494C2F3D3EB}" destId="{40DCA044-323D-A940-888E-0EA8B353978B}" srcOrd="0" destOrd="0" presId="urn:microsoft.com/office/officeart/2005/8/layout/hList1"/>
    <dgm:cxn modelId="{EF1D77E2-05DC-D049-BF0F-0DC863188525}" type="presParOf" srcId="{C111213F-7017-A84C-AD03-783130633DAD}" destId="{E596DE2D-3AD8-864A-84DA-9D7B7E4214DB}" srcOrd="0" destOrd="0" presId="urn:microsoft.com/office/officeart/2005/8/layout/hList1"/>
    <dgm:cxn modelId="{F272850B-3F0E-D247-9B30-4EC9A93B64F3}" type="presParOf" srcId="{E596DE2D-3AD8-864A-84DA-9D7B7E4214DB}" destId="{848C14D1-3383-724A-858F-E3C83DF7C593}" srcOrd="0" destOrd="0" presId="urn:microsoft.com/office/officeart/2005/8/layout/hList1"/>
    <dgm:cxn modelId="{9B0ED367-1086-B145-A4CB-5E94329DE140}" type="presParOf" srcId="{E596DE2D-3AD8-864A-84DA-9D7B7E4214DB}" destId="{40DCA044-323D-A940-888E-0EA8B353978B}" srcOrd="1" destOrd="0" presId="urn:microsoft.com/office/officeart/2005/8/layout/hList1"/>
    <dgm:cxn modelId="{A4F39C88-1F1F-3B4F-BE66-F65491069C7C}" type="presParOf" srcId="{C111213F-7017-A84C-AD03-783130633DAD}" destId="{2CF63066-1623-5146-8D93-FC9FF17996C7}" srcOrd="1" destOrd="0" presId="urn:microsoft.com/office/officeart/2005/8/layout/hList1"/>
    <dgm:cxn modelId="{D3E60D25-F850-7A43-A6F2-0C4E05AC08DD}" type="presParOf" srcId="{C111213F-7017-A84C-AD03-783130633DAD}" destId="{0650F464-AC84-964C-82F8-952BE2F13DCA}" srcOrd="2" destOrd="0" presId="urn:microsoft.com/office/officeart/2005/8/layout/hList1"/>
    <dgm:cxn modelId="{B6360350-6BC3-594A-BD6E-2EAF160EB387}" type="presParOf" srcId="{0650F464-AC84-964C-82F8-952BE2F13DCA}" destId="{FC8C492E-A3D3-3348-A12C-94B729222408}" srcOrd="0" destOrd="0" presId="urn:microsoft.com/office/officeart/2005/8/layout/hList1"/>
    <dgm:cxn modelId="{8145C3D5-3FD3-F84E-B551-5356333B466B}" type="presParOf" srcId="{0650F464-AC84-964C-82F8-952BE2F13DCA}" destId="{B8FE413A-A0CF-844C-862A-575933DB652C}" srcOrd="1" destOrd="0" presId="urn:microsoft.com/office/officeart/2005/8/layout/hList1"/>
    <dgm:cxn modelId="{DE261DC1-9472-2E46-88A6-58467B7CC11D}" type="presParOf" srcId="{C111213F-7017-A84C-AD03-783130633DAD}" destId="{FE9049C6-611F-AF45-A399-B6B8DCE3E262}" srcOrd="3" destOrd="0" presId="urn:microsoft.com/office/officeart/2005/8/layout/hList1"/>
    <dgm:cxn modelId="{815EF750-2791-A747-AA1C-BB8E2188C424}" type="presParOf" srcId="{C111213F-7017-A84C-AD03-783130633DAD}" destId="{2539D31C-04F7-1243-81B5-070F012C0098}" srcOrd="4" destOrd="0" presId="urn:microsoft.com/office/officeart/2005/8/layout/hList1"/>
    <dgm:cxn modelId="{67ACEADF-F46C-334A-982A-2CCD93959EAA}" type="presParOf" srcId="{2539D31C-04F7-1243-81B5-070F012C0098}" destId="{6065B87B-85F3-9941-A8FF-0F8CC857023F}" srcOrd="0" destOrd="0" presId="urn:microsoft.com/office/officeart/2005/8/layout/hList1"/>
    <dgm:cxn modelId="{248DC2E0-886E-4D4D-A907-0EE579D9E930}" type="presParOf" srcId="{2539D31C-04F7-1243-81B5-070F012C0098}" destId="{B5F65592-8A56-A645-BA18-5F08671EB3C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CF31A-3087-7C47-996D-C72BC8AE72FA}">
      <dsp:nvSpPr>
        <dsp:cNvPr id="0" name=""/>
        <dsp:cNvSpPr/>
      </dsp:nvSpPr>
      <dsp:spPr>
        <a:xfrm>
          <a:off x="752237" y="0"/>
          <a:ext cx="8525362" cy="351349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1E19A-6F4B-3940-875C-97F865C0DB6B}">
      <dsp:nvSpPr>
        <dsp:cNvPr id="0" name=""/>
        <dsp:cNvSpPr/>
      </dsp:nvSpPr>
      <dsp:spPr>
        <a:xfrm>
          <a:off x="231156" y="1054047"/>
          <a:ext cx="3008951" cy="140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Collection</a:t>
          </a:r>
        </a:p>
      </dsp:txBody>
      <dsp:txXfrm>
        <a:off x="299762" y="1122653"/>
        <a:ext cx="2871739" cy="1268184"/>
      </dsp:txXfrm>
    </dsp:sp>
    <dsp:sp modelId="{FFA10F1A-339F-5744-9B00-99617A5F3E5C}">
      <dsp:nvSpPr>
        <dsp:cNvPr id="0" name=""/>
        <dsp:cNvSpPr/>
      </dsp:nvSpPr>
      <dsp:spPr>
        <a:xfrm>
          <a:off x="3510443" y="1044181"/>
          <a:ext cx="3008951" cy="140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ML</a:t>
          </a:r>
        </a:p>
      </dsp:txBody>
      <dsp:txXfrm>
        <a:off x="3579049" y="1112787"/>
        <a:ext cx="2871739" cy="1268184"/>
      </dsp:txXfrm>
    </dsp:sp>
    <dsp:sp modelId="{D7B5B4D5-D7B2-674F-9228-27950B0EB153}">
      <dsp:nvSpPr>
        <dsp:cNvPr id="0" name=""/>
        <dsp:cNvSpPr/>
      </dsp:nvSpPr>
      <dsp:spPr>
        <a:xfrm>
          <a:off x="6789730" y="1054047"/>
          <a:ext cx="3008951" cy="140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Scoring</a:t>
          </a:r>
        </a:p>
      </dsp:txBody>
      <dsp:txXfrm>
        <a:off x="6858336" y="1122653"/>
        <a:ext cx="2871739" cy="12681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C14D1-3383-724A-858F-E3C83DF7C593}">
      <dsp:nvSpPr>
        <dsp:cNvPr id="0" name=""/>
        <dsp:cNvSpPr/>
      </dsp:nvSpPr>
      <dsp:spPr>
        <a:xfrm>
          <a:off x="4976" y="767953"/>
          <a:ext cx="4852392" cy="1529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CVSS Attributes</a:t>
          </a:r>
        </a:p>
      </dsp:txBody>
      <dsp:txXfrm>
        <a:off x="4976" y="767953"/>
        <a:ext cx="4852392" cy="1529568"/>
      </dsp:txXfrm>
    </dsp:sp>
    <dsp:sp modelId="{40DCA044-323D-A940-888E-0EA8B353978B}">
      <dsp:nvSpPr>
        <dsp:cNvPr id="0" name=""/>
        <dsp:cNvSpPr/>
      </dsp:nvSpPr>
      <dsp:spPr>
        <a:xfrm>
          <a:off x="51195" y="2297521"/>
          <a:ext cx="4759954" cy="54762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Exploitation complexity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Attack vector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Confidentiality, integrity, and availability impact</a:t>
          </a:r>
          <a:endParaRPr lang="en-US" sz="4200" kern="1200" dirty="0"/>
        </a:p>
      </dsp:txBody>
      <dsp:txXfrm>
        <a:off x="51195" y="2297521"/>
        <a:ext cx="4759954" cy="5476274"/>
      </dsp:txXfrm>
    </dsp:sp>
    <dsp:sp modelId="{FC8C492E-A3D3-3348-A12C-94B729222408}">
      <dsp:nvSpPr>
        <dsp:cNvPr id="0" name=""/>
        <dsp:cNvSpPr/>
      </dsp:nvSpPr>
      <dsp:spPr>
        <a:xfrm>
          <a:off x="5536703" y="767953"/>
          <a:ext cx="4852392" cy="1529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Historical Data</a:t>
          </a:r>
        </a:p>
      </dsp:txBody>
      <dsp:txXfrm>
        <a:off x="5536703" y="767953"/>
        <a:ext cx="4852392" cy="1529568"/>
      </dsp:txXfrm>
    </dsp:sp>
    <dsp:sp modelId="{B8FE413A-A0CF-844C-862A-575933DB652C}">
      <dsp:nvSpPr>
        <dsp:cNvPr id="0" name=""/>
        <dsp:cNvSpPr/>
      </dsp:nvSpPr>
      <dsp:spPr>
        <a:xfrm>
          <a:off x="5536703" y="2297521"/>
          <a:ext cx="4852392" cy="54762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Previous vulnerability exploitation trend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-US" sz="4200" kern="1200" dirty="0"/>
            <a:t> Current threat landscape</a:t>
          </a:r>
        </a:p>
      </dsp:txBody>
      <dsp:txXfrm>
        <a:off x="5536703" y="2297521"/>
        <a:ext cx="4852392" cy="5476274"/>
      </dsp:txXfrm>
    </dsp:sp>
    <dsp:sp modelId="{6065B87B-85F3-9941-A8FF-0F8CC857023F}">
      <dsp:nvSpPr>
        <dsp:cNvPr id="0" name=""/>
        <dsp:cNvSpPr/>
      </dsp:nvSpPr>
      <dsp:spPr>
        <a:xfrm>
          <a:off x="11068431" y="767953"/>
          <a:ext cx="4852392" cy="1529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Public Vulnerability Database</a:t>
          </a:r>
        </a:p>
      </dsp:txBody>
      <dsp:txXfrm>
        <a:off x="11068431" y="767953"/>
        <a:ext cx="4852392" cy="1529568"/>
      </dsp:txXfrm>
    </dsp:sp>
    <dsp:sp modelId="{B5F65592-8A56-A645-BA18-5F08671EB3C7}">
      <dsp:nvSpPr>
        <dsp:cNvPr id="0" name=""/>
        <dsp:cNvSpPr/>
      </dsp:nvSpPr>
      <dsp:spPr>
        <a:xfrm>
          <a:off x="11068431" y="2297521"/>
          <a:ext cx="4852392" cy="54762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Information from databases like NVD (National Vulnerability Database)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unito"/>
            </a:rPr>
            <a:t> Likelihood of discovery of the vulnerability</a:t>
          </a:r>
          <a:endParaRPr lang="en-US" sz="4200" kern="1200" dirty="0"/>
        </a:p>
      </dsp:txBody>
      <dsp:txXfrm>
        <a:off x="11068431" y="2297521"/>
        <a:ext cx="4852392" cy="5476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BEAC9A-8117-4464-B80A-83283A6830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FEB949-33C0-4389-B42C-BA05CE6938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7960C5-97E9-40F4-BAF5-AC03054B26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709D8E-FF35-4182-A8DB-033DC8ECAE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4458DF-EB16-47A2-A95B-3D41A504EB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88470D-976B-4DF4-9861-2B4B156D00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1E5CE9-5C35-43E0-A56F-30AD8EA97E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EC45E6-A618-49A4-B696-8B4D24960F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9DC3D7-2DC8-4176-9D34-5374B8A026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2BC652-A1E2-4248-9BD3-DF5CD6C61F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E264C9-BB8A-4353-8739-4EE9D57FFF0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BBAE20-7A1F-4B28-BEA5-99CFB35D17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fb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7D3833-6F94-4103-B17A-A1DBA6494D2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orca.security/resources/blog/epss-scoring-system-explained/" TargetMode="Externa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www.first.org/epss/" TargetMode="External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8" descr=""/>
          <p:cNvPicPr/>
          <p:nvPr/>
        </p:nvPicPr>
        <p:blipFill>
          <a:blip r:embed="rId1"/>
          <a:stretch/>
        </p:blipFill>
        <p:spPr>
          <a:xfrm>
            <a:off x="533520" y="419040"/>
            <a:ext cx="17220600" cy="6989400"/>
          </a:xfrm>
          <a:prstGeom prst="rect">
            <a:avLst/>
          </a:prstGeom>
          <a:ln w="0">
            <a:noFill/>
          </a:ln>
        </p:spPr>
      </p:pic>
      <p:sp>
        <p:nvSpPr>
          <p:cNvPr id="42" name="Rounded Rectangle 9"/>
          <p:cNvSpPr/>
          <p:nvPr/>
        </p:nvSpPr>
        <p:spPr>
          <a:xfrm>
            <a:off x="4495680" y="7658280"/>
            <a:ext cx="13258080" cy="2323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DejaVu Sans"/>
              </a:rPr>
              <a:t>Presented by</a:t>
            </a:r>
            <a:endParaRPr b="0" lang="en-US" sz="5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Professor Dr. Mohammed Shafiul Alam Khan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IIT, DU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/>
          <p:nvPr/>
        </p:nvGrpSpPr>
        <p:grpSpPr>
          <a:xfrm>
            <a:off x="-1051560" y="5040720"/>
            <a:ext cx="24143760" cy="7370640"/>
            <a:chOff x="-1051560" y="5040720"/>
            <a:chExt cx="24143760" cy="7370640"/>
          </a:xfrm>
        </p:grpSpPr>
        <p:grpSp>
          <p:nvGrpSpPr>
            <p:cNvPr id="44" name="Group 3"/>
            <p:cNvGrpSpPr/>
            <p:nvPr/>
          </p:nvGrpSpPr>
          <p:grpSpPr>
            <a:xfrm>
              <a:off x="-1051560" y="5040720"/>
              <a:ext cx="24143760" cy="5839560"/>
              <a:chOff x="-1051560" y="5040720"/>
              <a:chExt cx="24143760" cy="5839560"/>
            </a:xfrm>
          </p:grpSpPr>
          <p:sp>
            <p:nvSpPr>
              <p:cNvPr id="45" name="Freeform 4"/>
              <p:cNvSpPr/>
              <p:nvPr/>
            </p:nvSpPr>
            <p:spPr>
              <a:xfrm>
                <a:off x="-1051560" y="5219640"/>
                <a:ext cx="24143760" cy="5660640"/>
              </a:xfrm>
              <a:custGeom>
                <a:avLst/>
                <a:gdLst/>
                <a:ahLst/>
                <a:rect l="l" t="t" r="r" b="b"/>
                <a:pathLst>
                  <a:path w="6359086" h="1205365">
                    <a:moveTo>
                      <a:pt x="0" y="0"/>
                    </a:moveTo>
                    <a:lnTo>
                      <a:pt x="6359086" y="0"/>
                    </a:lnTo>
                    <a:lnTo>
                      <a:pt x="6359086" y="1205365"/>
                    </a:lnTo>
                    <a:lnTo>
                      <a:pt x="0" y="1205365"/>
                    </a:lnTo>
                    <a:close/>
                  </a:path>
                </a:pathLst>
              </a:custGeom>
              <a:solidFill>
                <a:srgbClr val="ff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" name="TextBox 5"/>
              <p:cNvSpPr/>
              <p:nvPr/>
            </p:nvSpPr>
            <p:spPr>
              <a:xfrm>
                <a:off x="-1051560" y="5040720"/>
                <a:ext cx="241437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7" name="TextBox 6"/>
            <p:cNvSpPr/>
            <p:nvPr/>
          </p:nvSpPr>
          <p:spPr>
            <a:xfrm>
              <a:off x="1143000" y="5519160"/>
              <a:ext cx="17496000" cy="255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10080"/>
                </a:lnSpc>
                <a:buNone/>
              </a:pPr>
              <a:r>
                <a:rPr b="1" lang="en-US" sz="5500" spc="-1" strike="noStrike">
                  <a:solidFill>
                    <a:srgbClr val="7b5325"/>
                  </a:solidFill>
                  <a:latin typeface="Almarai Ultra-Bold"/>
                  <a:ea typeface="Almarai Ultra-Bold"/>
                </a:rPr>
                <a:t>CVSS (Common Vulnerability Scoring System)</a:t>
              </a:r>
              <a:endParaRPr b="0" lang="en-US" sz="5500" spc="-1" strike="noStrike">
                <a:latin typeface="Arial"/>
              </a:endParaRPr>
            </a:p>
          </p:txBody>
        </p:sp>
        <p:sp>
          <p:nvSpPr>
            <p:cNvPr id="48" name="TextBox 7"/>
            <p:cNvSpPr/>
            <p:nvPr/>
          </p:nvSpPr>
          <p:spPr>
            <a:xfrm>
              <a:off x="1143000" y="6976080"/>
              <a:ext cx="17144280" cy="543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457200" indent="-457200">
                <a:lnSpc>
                  <a:spcPct val="150000"/>
                </a:lnSpc>
                <a:buClr>
                  <a:srgbClr val="2b1c09"/>
                </a:buClr>
                <a:buFont typeface="Wingdings" charset="2"/>
                <a:buChar char=""/>
              </a:pPr>
              <a:r>
                <a:rPr b="0" lang="en-US" sz="3400" spc="-1" strike="noStrike">
                  <a:solidFill>
                    <a:srgbClr val="2b1c09"/>
                  </a:solidFill>
                  <a:latin typeface="Almarai"/>
                  <a:ea typeface="Almarai"/>
                </a:rPr>
                <a:t>A </a:t>
              </a:r>
              <a:r>
                <a:rPr b="1" lang="en-US" sz="3400" spc="-1" strike="noStrike">
                  <a:solidFill>
                    <a:srgbClr val="ed7843"/>
                  </a:solidFill>
                  <a:latin typeface="Almarai Bold"/>
                  <a:ea typeface="Almarai Bold"/>
                </a:rPr>
                <a:t>standardized</a:t>
              </a:r>
              <a:r>
                <a:rPr b="0" lang="en-US" sz="3400" spc="-1" strike="noStrike">
                  <a:solidFill>
                    <a:srgbClr val="2b1c09"/>
                  </a:solidFill>
                  <a:latin typeface="Almarai"/>
                  <a:ea typeface="Almarai"/>
                </a:rPr>
                <a:t> framework that measures the severity of security vulnerabilities</a:t>
              </a:r>
              <a:endParaRPr b="0" lang="en-US" sz="3400" spc="-1" strike="noStrike">
                <a:latin typeface="Arial"/>
              </a:endParaRPr>
            </a:p>
            <a:p>
              <a:pPr marL="457200" indent="-457200">
                <a:lnSpc>
                  <a:spcPct val="150000"/>
                </a:lnSpc>
                <a:buClr>
                  <a:srgbClr val="2b1c09"/>
                </a:buClr>
                <a:buFont typeface="Wingdings" charset="2"/>
                <a:buChar char=""/>
              </a:pPr>
              <a:r>
                <a:rPr b="0" lang="en-US" sz="3400" spc="-1" strike="noStrike">
                  <a:solidFill>
                    <a:srgbClr val="2b1c09"/>
                  </a:solidFill>
                  <a:latin typeface="Almarai"/>
                  <a:ea typeface="Almarai"/>
                </a:rPr>
                <a:t>Provides a </a:t>
              </a:r>
              <a:r>
                <a:rPr b="0" lang="en-US" sz="3400" spc="-1" strike="noStrike">
                  <a:solidFill>
                    <a:srgbClr val="ff0000"/>
                  </a:solidFill>
                  <a:latin typeface="Almarai"/>
                  <a:ea typeface="Almarai"/>
                </a:rPr>
                <a:t>standardized method </a:t>
              </a:r>
              <a:r>
                <a:rPr b="0" lang="en-US" sz="3400" spc="-1" strike="noStrike">
                  <a:solidFill>
                    <a:srgbClr val="2b1c09"/>
                  </a:solidFill>
                  <a:latin typeface="Almarai"/>
                  <a:ea typeface="Almarai"/>
                </a:rPr>
                <a:t>for rating vulnerabilities based on their </a:t>
              </a:r>
              <a:r>
                <a:rPr b="0" lang="en-US" sz="3400" spc="-1" strike="noStrike">
                  <a:solidFill>
                    <a:srgbClr val="ff0000"/>
                  </a:solidFill>
                  <a:latin typeface="Almarai"/>
                  <a:ea typeface="Almarai"/>
                </a:rPr>
                <a:t>impact</a:t>
              </a:r>
              <a:r>
                <a:rPr b="0" lang="en-US" sz="3400" spc="-1" strike="noStrike">
                  <a:solidFill>
                    <a:srgbClr val="2b1c09"/>
                  </a:solidFill>
                  <a:latin typeface="Almarai"/>
                  <a:ea typeface="Almarai"/>
                </a:rPr>
                <a:t>. </a:t>
              </a:r>
              <a:endParaRPr b="0" lang="en-US" sz="3400" spc="-1" strike="noStrike">
                <a:latin typeface="Arial"/>
              </a:endParaRPr>
            </a:p>
            <a:p>
              <a:pPr marL="457200" indent="-457200">
                <a:lnSpc>
                  <a:spcPct val="150000"/>
                </a:lnSpc>
                <a:buClr>
                  <a:srgbClr val="2b1c09"/>
                </a:buClr>
                <a:buFont typeface="Wingdings" charset="2"/>
                <a:buChar char=""/>
              </a:pPr>
              <a:r>
                <a:rPr b="0" lang="en-US" sz="3400" spc="-1" strike="noStrike">
                  <a:solidFill>
                    <a:srgbClr val="2b1c09"/>
                  </a:solidFill>
                  <a:latin typeface="Almarai"/>
                  <a:ea typeface="Almarai"/>
                </a:rPr>
                <a:t>Assigns a numerical score between 0 and 10 to each vulnerability, </a:t>
              </a:r>
              <a:r>
                <a:rPr b="1" lang="en-US" sz="3400" spc="-1" strike="noStrike">
                  <a:solidFill>
                    <a:srgbClr val="ff3131"/>
                  </a:solidFill>
                  <a:latin typeface="Almarai Bold"/>
                  <a:ea typeface="Almarai Bold"/>
                </a:rPr>
                <a:t>with higher scores indicating more severe issues</a:t>
              </a:r>
              <a:endParaRPr b="0" lang="en-US" sz="3400" spc="-1" strike="noStrike">
                <a:latin typeface="Arial"/>
              </a:endParaRPr>
            </a:p>
            <a:p>
              <a:pPr>
                <a:lnSpc>
                  <a:spcPct val="150000"/>
                </a:lnSpc>
                <a:buNone/>
              </a:pPr>
              <a:endParaRPr b="0" lang="en-US" sz="3400" spc="-1" strike="noStrike">
                <a:latin typeface="Arial"/>
              </a:endParaRPr>
            </a:p>
          </p:txBody>
        </p:sp>
      </p:grpSp>
      <p:sp>
        <p:nvSpPr>
          <p:cNvPr id="49" name="Freeform 8"/>
          <p:cNvSpPr/>
          <p:nvPr/>
        </p:nvSpPr>
        <p:spPr>
          <a:xfrm>
            <a:off x="2235600" y="0"/>
            <a:ext cx="12576600" cy="5518440"/>
          </a:xfrm>
          <a:custGeom>
            <a:avLst/>
            <a:gdLst/>
            <a:ahLst/>
            <a:rect l="l" t="t" r="r" b="b"/>
            <a:pathLst>
              <a:path w="12577402" h="6304423">
                <a:moveTo>
                  <a:pt x="0" y="0"/>
                </a:moveTo>
                <a:lnTo>
                  <a:pt x="12577402" y="0"/>
                </a:lnTo>
                <a:lnTo>
                  <a:pt x="12577402" y="6304423"/>
                </a:lnTo>
                <a:lnTo>
                  <a:pt x="0" y="63044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2"/>
          <p:cNvGrpSpPr/>
          <p:nvPr/>
        </p:nvGrpSpPr>
        <p:grpSpPr>
          <a:xfrm>
            <a:off x="0" y="-744120"/>
            <a:ext cx="18287280" cy="3479400"/>
            <a:chOff x="0" y="-744120"/>
            <a:chExt cx="18287280" cy="3479400"/>
          </a:xfrm>
        </p:grpSpPr>
        <p:sp>
          <p:nvSpPr>
            <p:cNvPr id="51" name="Freeform 3"/>
            <p:cNvSpPr/>
            <p:nvPr/>
          </p:nvSpPr>
          <p:spPr>
            <a:xfrm>
              <a:off x="0" y="-599400"/>
              <a:ext cx="18287280" cy="3334680"/>
            </a:xfrm>
            <a:custGeom>
              <a:avLst/>
              <a:gdLst/>
              <a:ahLst/>
              <a:rect l="l" t="t" r="r" b="b"/>
              <a:pathLst>
                <a:path w="4816592" h="878505">
                  <a:moveTo>
                    <a:pt x="0" y="0"/>
                  </a:moveTo>
                  <a:lnTo>
                    <a:pt x="4816592" y="0"/>
                  </a:lnTo>
                  <a:lnTo>
                    <a:pt x="4816592" y="878505"/>
                  </a:lnTo>
                  <a:lnTo>
                    <a:pt x="0" y="878505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TextBox 4"/>
            <p:cNvSpPr/>
            <p:nvPr/>
          </p:nvSpPr>
          <p:spPr>
            <a:xfrm>
              <a:off x="0" y="-744120"/>
              <a:ext cx="18287280" cy="34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" name="Freeform 5"/>
          <p:cNvSpPr/>
          <p:nvPr/>
        </p:nvSpPr>
        <p:spPr>
          <a:xfrm>
            <a:off x="2018880" y="3783240"/>
            <a:ext cx="14553720" cy="5602680"/>
          </a:xfrm>
          <a:custGeom>
            <a:avLst/>
            <a:gdLst/>
            <a:ahLst/>
            <a:rect l="l" t="t" r="r" b="b"/>
            <a:pathLst>
              <a:path w="14554519" h="5603490">
                <a:moveTo>
                  <a:pt x="0" y="0"/>
                </a:moveTo>
                <a:lnTo>
                  <a:pt x="14554519" y="0"/>
                </a:lnTo>
                <a:lnTo>
                  <a:pt x="14554519" y="5603490"/>
                </a:lnTo>
                <a:lnTo>
                  <a:pt x="0" y="56034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Box 6"/>
          <p:cNvSpPr/>
          <p:nvPr/>
        </p:nvSpPr>
        <p:spPr>
          <a:xfrm>
            <a:off x="1028880" y="895320"/>
            <a:ext cx="9813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How Does It Work?</a:t>
            </a:r>
            <a:endParaRPr b="0" lang="en-US" sz="7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2"/>
          <p:cNvGrpSpPr/>
          <p:nvPr/>
        </p:nvGrpSpPr>
        <p:grpSpPr>
          <a:xfrm>
            <a:off x="0" y="-744120"/>
            <a:ext cx="18287280" cy="3479400"/>
            <a:chOff x="0" y="-744120"/>
            <a:chExt cx="18287280" cy="3479400"/>
          </a:xfrm>
        </p:grpSpPr>
        <p:sp>
          <p:nvSpPr>
            <p:cNvPr id="56" name="Freeform 3"/>
            <p:cNvSpPr/>
            <p:nvPr/>
          </p:nvSpPr>
          <p:spPr>
            <a:xfrm>
              <a:off x="0" y="-599400"/>
              <a:ext cx="18287280" cy="3334680"/>
            </a:xfrm>
            <a:custGeom>
              <a:avLst/>
              <a:gdLst/>
              <a:ahLst/>
              <a:rect l="l" t="t" r="r" b="b"/>
              <a:pathLst>
                <a:path w="4816592" h="878505">
                  <a:moveTo>
                    <a:pt x="0" y="0"/>
                  </a:moveTo>
                  <a:lnTo>
                    <a:pt x="4816592" y="0"/>
                  </a:lnTo>
                  <a:lnTo>
                    <a:pt x="4816592" y="878505"/>
                  </a:lnTo>
                  <a:lnTo>
                    <a:pt x="0" y="878505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TextBox 4"/>
            <p:cNvSpPr/>
            <p:nvPr/>
          </p:nvSpPr>
          <p:spPr>
            <a:xfrm>
              <a:off x="0" y="-744120"/>
              <a:ext cx="18287280" cy="34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" name="Freeform 5"/>
          <p:cNvSpPr/>
          <p:nvPr/>
        </p:nvSpPr>
        <p:spPr>
          <a:xfrm>
            <a:off x="1923480" y="2736000"/>
            <a:ext cx="14901840" cy="7506360"/>
          </a:xfrm>
          <a:custGeom>
            <a:avLst/>
            <a:gdLst/>
            <a:ahLst/>
            <a:rect l="l" t="t" r="r" b="b"/>
            <a:pathLst>
              <a:path w="14902615" h="7507192">
                <a:moveTo>
                  <a:pt x="0" y="0"/>
                </a:moveTo>
                <a:lnTo>
                  <a:pt x="14902615" y="0"/>
                </a:lnTo>
                <a:lnTo>
                  <a:pt x="14902615" y="7507192"/>
                </a:lnTo>
                <a:lnTo>
                  <a:pt x="0" y="75071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Box 6"/>
          <p:cNvSpPr/>
          <p:nvPr/>
        </p:nvSpPr>
        <p:spPr>
          <a:xfrm>
            <a:off x="1028880" y="895320"/>
            <a:ext cx="60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Score</a:t>
            </a:r>
            <a:endParaRPr b="0" lang="en-US" sz="7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2"/>
          <p:cNvGrpSpPr/>
          <p:nvPr/>
        </p:nvGrpSpPr>
        <p:grpSpPr>
          <a:xfrm>
            <a:off x="0" y="9296640"/>
            <a:ext cx="7567920" cy="1942200"/>
            <a:chOff x="0" y="9296640"/>
            <a:chExt cx="7567920" cy="1942200"/>
          </a:xfrm>
        </p:grpSpPr>
        <p:sp>
          <p:nvSpPr>
            <p:cNvPr id="61" name="Freeform 3"/>
            <p:cNvSpPr/>
            <p:nvPr/>
          </p:nvSpPr>
          <p:spPr>
            <a:xfrm>
              <a:off x="0" y="9334440"/>
              <a:ext cx="7567920" cy="1904400"/>
            </a:xfrm>
            <a:custGeom>
              <a:avLst/>
              <a:gdLst/>
              <a:ahLst/>
              <a:rect l="l" t="t" r="r" b="b"/>
              <a:pathLst>
                <a:path w="1993381" h="1911936">
                  <a:moveTo>
                    <a:pt x="0" y="0"/>
                  </a:moveTo>
                  <a:lnTo>
                    <a:pt x="1993381" y="0"/>
                  </a:lnTo>
                  <a:lnTo>
                    <a:pt x="1993381" y="1911936"/>
                  </a:lnTo>
                  <a:lnTo>
                    <a:pt x="0" y="1911936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TextBox 4"/>
            <p:cNvSpPr/>
            <p:nvPr/>
          </p:nvSpPr>
          <p:spPr>
            <a:xfrm>
              <a:off x="0" y="9296640"/>
              <a:ext cx="7567920" cy="194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" name="Group 5"/>
          <p:cNvGrpSpPr/>
          <p:nvPr/>
        </p:nvGrpSpPr>
        <p:grpSpPr>
          <a:xfrm>
            <a:off x="-3472920" y="-5213160"/>
            <a:ext cx="23833440" cy="7578360"/>
            <a:chOff x="-3472920" y="-5213160"/>
            <a:chExt cx="23833440" cy="7578360"/>
          </a:xfrm>
        </p:grpSpPr>
        <p:sp>
          <p:nvSpPr>
            <p:cNvPr id="64" name="Freeform 6"/>
            <p:cNvSpPr/>
            <p:nvPr/>
          </p:nvSpPr>
          <p:spPr>
            <a:xfrm>
              <a:off x="-3472920" y="-5068800"/>
              <a:ext cx="23833440" cy="7433640"/>
            </a:xfrm>
            <a:custGeom>
              <a:avLst/>
              <a:gdLst/>
              <a:ahLst/>
              <a:rect l="l" t="t" r="r" b="b"/>
              <a:pathLst>
                <a:path w="6277318" h="1958045">
                  <a:moveTo>
                    <a:pt x="0" y="0"/>
                  </a:moveTo>
                  <a:lnTo>
                    <a:pt x="6277318" y="0"/>
                  </a:lnTo>
                  <a:lnTo>
                    <a:pt x="6277318" y="1958045"/>
                  </a:lnTo>
                  <a:lnTo>
                    <a:pt x="0" y="1958045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TextBox 7"/>
            <p:cNvSpPr/>
            <p:nvPr/>
          </p:nvSpPr>
          <p:spPr>
            <a:xfrm>
              <a:off x="-3472920" y="-5213160"/>
              <a:ext cx="23833440" cy="757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6" name="TextBox 9"/>
          <p:cNvSpPr/>
          <p:nvPr/>
        </p:nvSpPr>
        <p:spPr>
          <a:xfrm>
            <a:off x="119520" y="9372600"/>
            <a:ext cx="52570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424"/>
              </a:lnSpc>
              <a:buNone/>
            </a:pPr>
            <a:r>
              <a:rPr b="1" lang="en-US" sz="24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245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92160" y="83160"/>
            <a:ext cx="19696320" cy="23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537"/>
              </a:lnSpc>
              <a:buNone/>
            </a:pPr>
            <a:r>
              <a:rPr b="1" lang="en-US" sz="539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Base Metrics</a:t>
            </a:r>
            <a:endParaRPr b="0" lang="en-US" sz="5390" spc="-1" strike="noStrike">
              <a:latin typeface="Arial"/>
            </a:endParaRPr>
          </a:p>
          <a:p>
            <a:pPr>
              <a:lnSpc>
                <a:spcPts val="5156"/>
              </a:lnSpc>
              <a:buNone/>
            </a:pPr>
            <a:r>
              <a:rPr b="1" lang="en-US" sz="3690" spc="-1" strike="noStrike">
                <a:solidFill>
                  <a:srgbClr val="ff3131"/>
                </a:solidFill>
                <a:latin typeface="Almarai Ultra-Bold"/>
                <a:ea typeface="Almarai Ultra-Bold"/>
              </a:rPr>
              <a:t>DESCRIBES CORE unchanging CHARACTERISTICS OF THE VULNERABILITY.</a:t>
            </a:r>
            <a:endParaRPr b="0" lang="en-US" sz="3690" spc="-1" strike="noStrike">
              <a:latin typeface="Arial"/>
            </a:endParaRPr>
          </a:p>
          <a:p>
            <a:pPr>
              <a:lnSpc>
                <a:spcPts val="5437"/>
              </a:lnSpc>
              <a:buNone/>
            </a:pPr>
            <a:r>
              <a:rPr b="1" lang="en-US" sz="3890" spc="-1" strike="noStrike">
                <a:solidFill>
                  <a:srgbClr val="ed7843"/>
                </a:solidFill>
                <a:latin typeface="Almarai Ultra-Bold"/>
                <a:ea typeface="Almarai Ultra-Bold"/>
              </a:rPr>
              <a:t>INCLUDES _____</a:t>
            </a:r>
            <a:endParaRPr b="0" lang="en-US" sz="3890" spc="-1" strike="noStrike">
              <a:latin typeface="Arial"/>
            </a:endParaRPr>
          </a:p>
        </p:txBody>
      </p:sp>
      <p:pic>
        <p:nvPicPr>
          <p:cNvPr id="68" name="Google Shape;360;p49" descr=""/>
          <p:cNvPicPr/>
          <p:nvPr/>
        </p:nvPicPr>
        <p:blipFill>
          <a:blip r:embed="rId1"/>
          <a:stretch/>
        </p:blipFill>
        <p:spPr>
          <a:xfrm>
            <a:off x="533520" y="2857680"/>
            <a:ext cx="17144280" cy="651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/>
          <p:nvPr/>
        </p:nvGrpSpPr>
        <p:grpSpPr>
          <a:xfrm>
            <a:off x="-2218320" y="9064080"/>
            <a:ext cx="18287280" cy="1793880"/>
            <a:chOff x="-2218320" y="9064080"/>
            <a:chExt cx="18287280" cy="1793880"/>
          </a:xfrm>
        </p:grpSpPr>
        <p:sp>
          <p:nvSpPr>
            <p:cNvPr id="70" name="Freeform 3"/>
            <p:cNvSpPr/>
            <p:nvPr/>
          </p:nvSpPr>
          <p:spPr>
            <a:xfrm>
              <a:off x="-2218320" y="9097560"/>
              <a:ext cx="18287280" cy="1760040"/>
            </a:xfrm>
            <a:custGeom>
              <a:avLst/>
              <a:gdLst/>
              <a:ahLst/>
              <a:rect l="l" t="t" r="r" b="b"/>
              <a:pathLst>
                <a:path w="4816592" h="1987195">
                  <a:moveTo>
                    <a:pt x="0" y="0"/>
                  </a:moveTo>
                  <a:lnTo>
                    <a:pt x="4816592" y="0"/>
                  </a:lnTo>
                  <a:lnTo>
                    <a:pt x="4816592" y="1987195"/>
                  </a:lnTo>
                  <a:lnTo>
                    <a:pt x="0" y="1987195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TextBox 4"/>
            <p:cNvSpPr/>
            <p:nvPr/>
          </p:nvSpPr>
          <p:spPr>
            <a:xfrm>
              <a:off x="-2218320" y="9064080"/>
              <a:ext cx="18287280" cy="179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" name="Group 5"/>
          <p:cNvGrpSpPr/>
          <p:nvPr/>
        </p:nvGrpSpPr>
        <p:grpSpPr>
          <a:xfrm>
            <a:off x="-2515680" y="-5577840"/>
            <a:ext cx="23833440" cy="7850160"/>
            <a:chOff x="-2515680" y="-5577840"/>
            <a:chExt cx="23833440" cy="7850160"/>
          </a:xfrm>
        </p:grpSpPr>
        <p:sp>
          <p:nvSpPr>
            <p:cNvPr id="73" name="Freeform 6"/>
            <p:cNvSpPr/>
            <p:nvPr/>
          </p:nvSpPr>
          <p:spPr>
            <a:xfrm>
              <a:off x="-2515680" y="-5433480"/>
              <a:ext cx="23833440" cy="7705440"/>
            </a:xfrm>
            <a:custGeom>
              <a:avLst/>
              <a:gdLst/>
              <a:ahLst/>
              <a:rect l="l" t="t" r="r" b="b"/>
              <a:pathLst>
                <a:path w="6277318" h="2029576">
                  <a:moveTo>
                    <a:pt x="0" y="0"/>
                  </a:moveTo>
                  <a:lnTo>
                    <a:pt x="6277318" y="0"/>
                  </a:lnTo>
                  <a:lnTo>
                    <a:pt x="6277318" y="2029576"/>
                  </a:lnTo>
                  <a:lnTo>
                    <a:pt x="0" y="2029576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TextBox 7"/>
            <p:cNvSpPr/>
            <p:nvPr/>
          </p:nvSpPr>
          <p:spPr>
            <a:xfrm>
              <a:off x="-2515680" y="-5577840"/>
              <a:ext cx="23833440" cy="785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" name="Freeform 8"/>
          <p:cNvSpPr/>
          <p:nvPr/>
        </p:nvSpPr>
        <p:spPr>
          <a:xfrm>
            <a:off x="1244160" y="2203920"/>
            <a:ext cx="15798960" cy="6654960"/>
          </a:xfrm>
          <a:custGeom>
            <a:avLst/>
            <a:gdLst/>
            <a:ahLst/>
            <a:rect l="l" t="t" r="r" b="b"/>
            <a:pathLst>
              <a:path w="15799597" h="6655580">
                <a:moveTo>
                  <a:pt x="0" y="0"/>
                </a:moveTo>
                <a:lnTo>
                  <a:pt x="15799598" y="0"/>
                </a:lnTo>
                <a:lnTo>
                  <a:pt x="15799598" y="6655580"/>
                </a:lnTo>
                <a:lnTo>
                  <a:pt x="0" y="66555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Box 9"/>
          <p:cNvSpPr/>
          <p:nvPr/>
        </p:nvSpPr>
        <p:spPr>
          <a:xfrm>
            <a:off x="92160" y="8964360"/>
            <a:ext cx="20631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92160" y="83160"/>
            <a:ext cx="19696320" cy="19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8376"/>
              </a:lnSpc>
              <a:buNone/>
            </a:pPr>
            <a:r>
              <a:rPr b="1" lang="en-US" sz="598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Base Metrics</a:t>
            </a:r>
            <a:endParaRPr b="0" lang="en-US" sz="5980" spc="-1" strike="noStrike">
              <a:latin typeface="Arial"/>
            </a:endParaRPr>
          </a:p>
          <a:p>
            <a:pPr>
              <a:lnSpc>
                <a:spcPts val="6698"/>
              </a:lnSpc>
              <a:buNone/>
            </a:pPr>
            <a:r>
              <a:rPr b="1" lang="en-US" sz="4780" spc="-1" strike="noStrike">
                <a:solidFill>
                  <a:srgbClr val="ed7843"/>
                </a:solidFill>
                <a:latin typeface="Almarai Ultra-Bold"/>
                <a:ea typeface="Almarai Ultra-Bold"/>
              </a:rPr>
              <a:t>IMPACT _________</a:t>
            </a:r>
            <a:endParaRPr b="0" lang="en-US" sz="4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2"/>
          <p:cNvGrpSpPr/>
          <p:nvPr/>
        </p:nvGrpSpPr>
        <p:grpSpPr>
          <a:xfrm>
            <a:off x="-1094040" y="9190080"/>
            <a:ext cx="8130240" cy="5628960"/>
            <a:chOff x="-1094040" y="9190080"/>
            <a:chExt cx="8130240" cy="5628960"/>
          </a:xfrm>
        </p:grpSpPr>
        <p:sp>
          <p:nvSpPr>
            <p:cNvPr id="79" name="Freeform 3"/>
            <p:cNvSpPr/>
            <p:nvPr/>
          </p:nvSpPr>
          <p:spPr>
            <a:xfrm>
              <a:off x="-1094040" y="9334440"/>
              <a:ext cx="8130240" cy="5484240"/>
            </a:xfrm>
            <a:custGeom>
              <a:avLst/>
              <a:gdLst/>
              <a:ahLst/>
              <a:rect l="l" t="t" r="r" b="b"/>
              <a:pathLst>
                <a:path w="2141480" h="1444574">
                  <a:moveTo>
                    <a:pt x="0" y="0"/>
                  </a:moveTo>
                  <a:lnTo>
                    <a:pt x="2141480" y="0"/>
                  </a:lnTo>
                  <a:lnTo>
                    <a:pt x="2141480" y="1444574"/>
                  </a:lnTo>
                  <a:lnTo>
                    <a:pt x="0" y="1444574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TextBox 4"/>
            <p:cNvSpPr/>
            <p:nvPr/>
          </p:nvSpPr>
          <p:spPr>
            <a:xfrm>
              <a:off x="-1094040" y="9190080"/>
              <a:ext cx="8130240" cy="56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" name="Group 5"/>
          <p:cNvGrpSpPr/>
          <p:nvPr/>
        </p:nvGrpSpPr>
        <p:grpSpPr>
          <a:xfrm>
            <a:off x="-2515680" y="-5577840"/>
            <a:ext cx="23833440" cy="7850160"/>
            <a:chOff x="-2515680" y="-5577840"/>
            <a:chExt cx="23833440" cy="7850160"/>
          </a:xfrm>
        </p:grpSpPr>
        <p:sp>
          <p:nvSpPr>
            <p:cNvPr id="82" name="Freeform 6"/>
            <p:cNvSpPr/>
            <p:nvPr/>
          </p:nvSpPr>
          <p:spPr>
            <a:xfrm>
              <a:off x="-2515680" y="-5433480"/>
              <a:ext cx="23833440" cy="7705440"/>
            </a:xfrm>
            <a:custGeom>
              <a:avLst/>
              <a:gdLst/>
              <a:ahLst/>
              <a:rect l="l" t="t" r="r" b="b"/>
              <a:pathLst>
                <a:path w="6277318" h="2029576">
                  <a:moveTo>
                    <a:pt x="0" y="0"/>
                  </a:moveTo>
                  <a:lnTo>
                    <a:pt x="6277318" y="0"/>
                  </a:lnTo>
                  <a:lnTo>
                    <a:pt x="6277318" y="2029576"/>
                  </a:lnTo>
                  <a:lnTo>
                    <a:pt x="0" y="2029576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TextBox 7"/>
            <p:cNvSpPr/>
            <p:nvPr/>
          </p:nvSpPr>
          <p:spPr>
            <a:xfrm>
              <a:off x="-2515680" y="-5577840"/>
              <a:ext cx="23833440" cy="785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4" name="Freeform 8"/>
          <p:cNvSpPr/>
          <p:nvPr/>
        </p:nvSpPr>
        <p:spPr>
          <a:xfrm>
            <a:off x="4038480" y="2140200"/>
            <a:ext cx="12126600" cy="8064360"/>
          </a:xfrm>
          <a:custGeom>
            <a:avLst/>
            <a:gdLst/>
            <a:ahLst/>
            <a:rect l="l" t="t" r="r" b="b"/>
            <a:pathLst>
              <a:path w="9549688" h="8065016">
                <a:moveTo>
                  <a:pt x="0" y="0"/>
                </a:moveTo>
                <a:lnTo>
                  <a:pt x="9549689" y="0"/>
                </a:lnTo>
                <a:lnTo>
                  <a:pt x="9549689" y="8065015"/>
                </a:lnTo>
                <a:lnTo>
                  <a:pt x="0" y="80650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Box 9"/>
          <p:cNvSpPr/>
          <p:nvPr/>
        </p:nvSpPr>
        <p:spPr>
          <a:xfrm>
            <a:off x="92160" y="9558000"/>
            <a:ext cx="694404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476"/>
              </a:lnSpc>
              <a:buNone/>
            </a:pPr>
            <a:r>
              <a:rPr b="1" lang="en-US" sz="319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90" spc="-1" strike="noStrike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92160" y="83160"/>
            <a:ext cx="19696320" cy="19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8376"/>
              </a:lnSpc>
              <a:buNone/>
            </a:pPr>
            <a:r>
              <a:rPr b="1" lang="en-US" sz="598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Base Metrics</a:t>
            </a:r>
            <a:endParaRPr b="0" lang="en-US" sz="5980" spc="-1" strike="noStrike">
              <a:latin typeface="Arial"/>
            </a:endParaRPr>
          </a:p>
          <a:p>
            <a:pPr>
              <a:lnSpc>
                <a:spcPts val="6698"/>
              </a:lnSpc>
              <a:buNone/>
            </a:pPr>
            <a:r>
              <a:rPr b="1" lang="en-US" sz="4780" spc="-1" strike="noStrike">
                <a:solidFill>
                  <a:srgbClr val="ed7843"/>
                </a:solidFill>
                <a:latin typeface="Almarai Ultra-Bold"/>
                <a:ea typeface="Almarai Ultra-Bold"/>
              </a:rPr>
              <a:t>Example</a:t>
            </a:r>
            <a:endParaRPr b="0" lang="en-US" sz="47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11149920" y="-9402840"/>
            <a:ext cx="9143280" cy="10431000"/>
            <a:chOff x="11149920" y="-9402840"/>
            <a:chExt cx="9143280" cy="10431000"/>
          </a:xfrm>
        </p:grpSpPr>
        <p:sp>
          <p:nvSpPr>
            <p:cNvPr id="88" name="Freeform 3"/>
            <p:cNvSpPr/>
            <p:nvPr/>
          </p:nvSpPr>
          <p:spPr>
            <a:xfrm>
              <a:off x="11149920" y="-925848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TextBox 4"/>
            <p:cNvSpPr/>
            <p:nvPr/>
          </p:nvSpPr>
          <p:spPr>
            <a:xfrm>
              <a:off x="11149920" y="-94028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TextBox 5"/>
          <p:cNvSpPr/>
          <p:nvPr/>
        </p:nvSpPr>
        <p:spPr>
          <a:xfrm>
            <a:off x="1028880" y="816480"/>
            <a:ext cx="8495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Temporal Metric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11273760" y="15876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pic>
        <p:nvPicPr>
          <p:cNvPr id="92" name="Google Shape;368;p50" descr=""/>
          <p:cNvPicPr/>
          <p:nvPr/>
        </p:nvPicPr>
        <p:blipFill>
          <a:blip r:embed="rId1"/>
          <a:srcRect l="33179" t="0" r="48608" b="13185"/>
          <a:stretch/>
        </p:blipFill>
        <p:spPr>
          <a:xfrm>
            <a:off x="1028880" y="2206800"/>
            <a:ext cx="2892960" cy="7736400"/>
          </a:xfrm>
          <a:prstGeom prst="rect">
            <a:avLst/>
          </a:prstGeom>
          <a:ln w="0">
            <a:noFill/>
          </a:ln>
        </p:spPr>
      </p:pic>
      <p:sp>
        <p:nvSpPr>
          <p:cNvPr id="93" name="Google Shape;369;p50"/>
          <p:cNvSpPr/>
          <p:nvPr/>
        </p:nvSpPr>
        <p:spPr>
          <a:xfrm>
            <a:off x="4978080" y="3331800"/>
            <a:ext cx="12953160" cy="67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Exploit Code Maturity (E)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: Measures exploit tool sophistication.</a:t>
            </a:r>
            <a:endParaRPr b="0" lang="en-US" sz="34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Values: Not Defined, Unproven, Proof-of-Concept, Functional, High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Remediation Level (RL)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: Indicates fix availability.</a:t>
            </a:r>
            <a:endParaRPr b="0" lang="en-US" sz="34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Values: Not Defined, Unavailable, Workaround, Temporary Fix, Official Fix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Report Confidence (RC)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: Reflects certainty of vulnerability.</a:t>
            </a:r>
            <a:endParaRPr b="0" lang="en-US" sz="34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Values: Not Defined, Unknown, Reasonable, Confirmed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4978080" y="2206800"/>
            <a:ext cx="12953160" cy="11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Describe things that might change after the </a:t>
            </a:r>
            <a:r>
              <a:rPr b="1" lang="en-US" sz="3400" spc="-1" strike="noStrike">
                <a:solidFill>
                  <a:srgbClr val="ed7843"/>
                </a:solidFill>
                <a:latin typeface="Almarai Bold"/>
                <a:ea typeface="Almarai Bold"/>
              </a:rPr>
              <a:t>vulnerability is discovered, i.e. Exploit availability.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2"/>
          <p:cNvGrpSpPr/>
          <p:nvPr/>
        </p:nvGrpSpPr>
        <p:grpSpPr>
          <a:xfrm>
            <a:off x="11149920" y="-9402840"/>
            <a:ext cx="9143280" cy="10431000"/>
            <a:chOff x="11149920" y="-9402840"/>
            <a:chExt cx="9143280" cy="10431000"/>
          </a:xfrm>
        </p:grpSpPr>
        <p:sp>
          <p:nvSpPr>
            <p:cNvPr id="96" name="Freeform 3"/>
            <p:cNvSpPr/>
            <p:nvPr/>
          </p:nvSpPr>
          <p:spPr>
            <a:xfrm>
              <a:off x="11149920" y="-925848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TextBox 4"/>
            <p:cNvSpPr/>
            <p:nvPr/>
          </p:nvSpPr>
          <p:spPr>
            <a:xfrm>
              <a:off x="11149920" y="-94028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8" name="Freeform 5"/>
          <p:cNvSpPr/>
          <p:nvPr/>
        </p:nvSpPr>
        <p:spPr>
          <a:xfrm>
            <a:off x="6114240" y="3116520"/>
            <a:ext cx="12017520" cy="6023520"/>
          </a:xfrm>
          <a:custGeom>
            <a:avLst/>
            <a:gdLst/>
            <a:ahLst/>
            <a:rect l="l" t="t" r="r" b="b"/>
            <a:pathLst>
              <a:path w="12018082" h="6024063">
                <a:moveTo>
                  <a:pt x="0" y="0"/>
                </a:moveTo>
                <a:lnTo>
                  <a:pt x="12018082" y="0"/>
                </a:lnTo>
                <a:lnTo>
                  <a:pt x="12018082" y="6024064"/>
                </a:lnTo>
                <a:lnTo>
                  <a:pt x="0" y="60240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Box 6"/>
          <p:cNvSpPr/>
          <p:nvPr/>
        </p:nvSpPr>
        <p:spPr>
          <a:xfrm>
            <a:off x="11273760" y="15876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grpSp>
        <p:nvGrpSpPr>
          <p:cNvPr id="100" name="Group 7"/>
          <p:cNvGrpSpPr/>
          <p:nvPr/>
        </p:nvGrpSpPr>
        <p:grpSpPr>
          <a:xfrm>
            <a:off x="375480" y="761400"/>
            <a:ext cx="10477800" cy="2694600"/>
            <a:chOff x="375480" y="761400"/>
            <a:chExt cx="10477800" cy="2694600"/>
          </a:xfrm>
        </p:grpSpPr>
        <p:sp>
          <p:nvSpPr>
            <p:cNvPr id="101" name="TextBox 8"/>
            <p:cNvSpPr/>
            <p:nvPr/>
          </p:nvSpPr>
          <p:spPr>
            <a:xfrm>
              <a:off x="375480" y="761400"/>
              <a:ext cx="7472520" cy="255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10080"/>
                </a:lnSpc>
                <a:buNone/>
              </a:pPr>
              <a:r>
                <a:rPr b="1" lang="en-US" sz="7200" spc="-1" strike="noStrike">
                  <a:solidFill>
                    <a:srgbClr val="7b5325"/>
                  </a:solidFill>
                  <a:latin typeface="Almarai Ultra-Bold"/>
                  <a:ea typeface="Almarai Ultra-Bold"/>
                </a:rPr>
                <a:t>Temporal Metrics</a:t>
              </a:r>
              <a:endParaRPr b="0" lang="en-US" sz="7200" spc="-1" strike="noStrike">
                <a:latin typeface="Arial"/>
              </a:endParaRPr>
            </a:p>
          </p:txBody>
        </p:sp>
        <p:sp>
          <p:nvSpPr>
            <p:cNvPr id="102" name="TextBox 9"/>
            <p:cNvSpPr/>
            <p:nvPr/>
          </p:nvSpPr>
          <p:spPr>
            <a:xfrm>
              <a:off x="538560" y="2034360"/>
              <a:ext cx="10314720" cy="142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5598"/>
                </a:lnSpc>
                <a:buNone/>
              </a:pPr>
              <a:r>
                <a:rPr b="1" lang="en-US" sz="4000" spc="-1" strike="noStrike" u="sng">
                  <a:solidFill>
                    <a:srgbClr val="ed7843"/>
                  </a:solidFill>
                  <a:uFillTx/>
                  <a:latin typeface="Almarai Ultra-Bold"/>
                  <a:ea typeface="Almarai Ultra-Bold"/>
                </a:rPr>
                <a:t>EXPLOIT CODE MATURITY</a:t>
              </a:r>
              <a:endParaRPr b="0" lang="en-US" sz="4000" spc="-1" strike="noStrike">
                <a:latin typeface="Arial"/>
              </a:endParaRPr>
            </a:p>
            <a:p>
              <a:pPr>
                <a:lnSpc>
                  <a:spcPts val="5598"/>
                </a:lnSpc>
                <a:buNone/>
              </a:pPr>
              <a:endParaRPr b="0" lang="en-US" sz="4000" spc="-1" strike="noStrike">
                <a:latin typeface="Arial"/>
              </a:endParaRPr>
            </a:p>
          </p:txBody>
        </p:sp>
      </p:grpSp>
      <p:sp>
        <p:nvSpPr>
          <p:cNvPr id="103" name="Rounded Rectangle 10"/>
          <p:cNvSpPr/>
          <p:nvPr/>
        </p:nvSpPr>
        <p:spPr>
          <a:xfrm>
            <a:off x="877320" y="3399840"/>
            <a:ext cx="4818240" cy="5095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A </a:t>
            </a:r>
            <a:r>
              <a:rPr b="1" lang="en-US" sz="3400" spc="-1" strike="noStrike">
                <a:solidFill>
                  <a:srgbClr val="ed7843"/>
                </a:solidFill>
                <a:latin typeface="Almarai Bold"/>
                <a:ea typeface="Almarai Bold"/>
              </a:rPr>
              <a:t>new bug</a:t>
            </a: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 might have no exploit code yet, but </a:t>
            </a:r>
            <a:r>
              <a:rPr b="1" lang="en-US" sz="3400" spc="-1" strike="noStrike">
                <a:solidFill>
                  <a:srgbClr val="ed7843"/>
                </a:solidFill>
                <a:latin typeface="Almarai Bold"/>
                <a:ea typeface="Almarai Bold"/>
              </a:rPr>
              <a:t>older bugs</a:t>
            </a: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 might have easily available tools to </a:t>
            </a:r>
            <a:r>
              <a:rPr b="1" lang="en-US" sz="3400" spc="-1" strike="noStrike">
                <a:solidFill>
                  <a:srgbClr val="ff3131"/>
                </a:solidFill>
                <a:latin typeface="Almarai Bold"/>
                <a:ea typeface="Almarai Bold"/>
              </a:rPr>
              <a:t>exploit</a:t>
            </a: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 them.</a:t>
            </a:r>
            <a:endParaRPr b="0" lang="en-US" sz="3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"/>
          <p:cNvGrpSpPr/>
          <p:nvPr/>
        </p:nvGrpSpPr>
        <p:grpSpPr>
          <a:xfrm>
            <a:off x="11149920" y="-9402840"/>
            <a:ext cx="9143280" cy="10431000"/>
            <a:chOff x="11149920" y="-9402840"/>
            <a:chExt cx="9143280" cy="10431000"/>
          </a:xfrm>
        </p:grpSpPr>
        <p:sp>
          <p:nvSpPr>
            <p:cNvPr id="105" name="Freeform 3"/>
            <p:cNvSpPr/>
            <p:nvPr/>
          </p:nvSpPr>
          <p:spPr>
            <a:xfrm>
              <a:off x="11149920" y="-925848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4"/>
            <p:cNvSpPr/>
            <p:nvPr/>
          </p:nvSpPr>
          <p:spPr>
            <a:xfrm>
              <a:off x="11149920" y="-94028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Freeform 5"/>
          <p:cNvSpPr/>
          <p:nvPr/>
        </p:nvSpPr>
        <p:spPr>
          <a:xfrm>
            <a:off x="5100480" y="2482920"/>
            <a:ext cx="13009320" cy="7045920"/>
          </a:xfrm>
          <a:custGeom>
            <a:avLst/>
            <a:gdLst/>
            <a:ahLst/>
            <a:rect l="l" t="t" r="r" b="b"/>
            <a:pathLst>
              <a:path w="12123925" h="7046513">
                <a:moveTo>
                  <a:pt x="0" y="0"/>
                </a:moveTo>
                <a:lnTo>
                  <a:pt x="12123925" y="0"/>
                </a:lnTo>
                <a:lnTo>
                  <a:pt x="12123925" y="7046513"/>
                </a:lnTo>
                <a:lnTo>
                  <a:pt x="0" y="70465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Box 6"/>
          <p:cNvSpPr/>
          <p:nvPr/>
        </p:nvSpPr>
        <p:spPr>
          <a:xfrm>
            <a:off x="11273760" y="15876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grpSp>
        <p:nvGrpSpPr>
          <p:cNvPr id="109" name="Group 7"/>
          <p:cNvGrpSpPr/>
          <p:nvPr/>
        </p:nvGrpSpPr>
        <p:grpSpPr>
          <a:xfrm>
            <a:off x="375480" y="761400"/>
            <a:ext cx="10477800" cy="3405600"/>
            <a:chOff x="375480" y="761400"/>
            <a:chExt cx="10477800" cy="3405600"/>
          </a:xfrm>
        </p:grpSpPr>
        <p:sp>
          <p:nvSpPr>
            <p:cNvPr id="110" name="TextBox 8"/>
            <p:cNvSpPr/>
            <p:nvPr/>
          </p:nvSpPr>
          <p:spPr>
            <a:xfrm>
              <a:off x="375480" y="761400"/>
              <a:ext cx="7929720" cy="255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10080"/>
                </a:lnSpc>
                <a:buNone/>
              </a:pPr>
              <a:r>
                <a:rPr b="1" lang="en-US" sz="7200" spc="-1" strike="noStrike">
                  <a:solidFill>
                    <a:srgbClr val="7b5325"/>
                  </a:solidFill>
                  <a:latin typeface="Almarai Ultra-Bold"/>
                  <a:ea typeface="Almarai Ultra-Bold"/>
                </a:rPr>
                <a:t>Temporal Metrics</a:t>
              </a:r>
              <a:endParaRPr b="0" lang="en-US" sz="7200" spc="-1" strike="noStrike">
                <a:latin typeface="Arial"/>
              </a:endParaRPr>
            </a:p>
          </p:txBody>
        </p:sp>
        <p:sp>
          <p:nvSpPr>
            <p:cNvPr id="111" name="TextBox 9"/>
            <p:cNvSpPr/>
            <p:nvPr/>
          </p:nvSpPr>
          <p:spPr>
            <a:xfrm>
              <a:off x="538560" y="2034360"/>
              <a:ext cx="10314720" cy="213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5598"/>
                </a:lnSpc>
                <a:buNone/>
              </a:pPr>
              <a:r>
                <a:rPr b="1" lang="en-US" sz="4000" spc="-1" strike="noStrike" u="sng">
                  <a:solidFill>
                    <a:srgbClr val="ed7843"/>
                  </a:solidFill>
                  <a:uFillTx/>
                  <a:latin typeface="Almarai Ultra-Bold"/>
                  <a:ea typeface="Almarai Ultra-Bold"/>
                </a:rPr>
                <a:t>REMEDIATION LEVEL</a:t>
              </a:r>
              <a:endParaRPr b="0" lang="en-US" sz="4000" spc="-1" strike="noStrike">
                <a:latin typeface="Arial"/>
              </a:endParaRPr>
            </a:p>
            <a:p>
              <a:pPr>
                <a:lnSpc>
                  <a:spcPts val="5598"/>
                </a:lnSpc>
                <a:buNone/>
              </a:pPr>
              <a:endParaRPr b="0" lang="en-US" sz="4000" spc="-1" strike="noStrike">
                <a:latin typeface="Arial"/>
              </a:endParaRPr>
            </a:p>
            <a:p>
              <a:pPr>
                <a:lnSpc>
                  <a:spcPts val="5598"/>
                </a:lnSpc>
                <a:buNone/>
              </a:pPr>
              <a:endParaRPr b="0" lang="en-US" sz="4000" spc="-1" strike="noStrike">
                <a:latin typeface="Arial"/>
              </a:endParaRPr>
            </a:p>
          </p:txBody>
        </p:sp>
      </p:grpSp>
      <p:sp>
        <p:nvSpPr>
          <p:cNvPr id="112" name="Rounded Rectangle 10"/>
          <p:cNvSpPr/>
          <p:nvPr/>
        </p:nvSpPr>
        <p:spPr>
          <a:xfrm>
            <a:off x="838080" y="4000680"/>
            <a:ext cx="3961800" cy="37332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ts val="5122"/>
              </a:lnSpc>
              <a:buNone/>
            </a:pP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If a </a:t>
            </a:r>
            <a:r>
              <a:rPr b="1" lang="en-US" sz="3400" spc="-1" strike="noStrike">
                <a:solidFill>
                  <a:srgbClr val="ff3131"/>
                </a:solidFill>
                <a:latin typeface="Almarai Bold"/>
                <a:ea typeface="Almarai Bold"/>
              </a:rPr>
              <a:t>patch</a:t>
            </a: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 is ready, the risk might go down.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14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TextBox 5"/>
          <p:cNvSpPr/>
          <p:nvPr/>
        </p:nvSpPr>
        <p:spPr>
          <a:xfrm>
            <a:off x="952920" y="1033200"/>
            <a:ext cx="8989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Environmental Metrics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5814720" y="9792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118" name="Rectangle 10"/>
          <p:cNvSpPr/>
          <p:nvPr/>
        </p:nvSpPr>
        <p:spPr>
          <a:xfrm>
            <a:off x="952920" y="2252520"/>
            <a:ext cx="16526160" cy="14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ts val="5199"/>
              </a:lnSpc>
              <a:buNone/>
            </a:pP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These are specific to one’s </a:t>
            </a:r>
            <a:r>
              <a:rPr b="1" lang="en-US" sz="3400" spc="-1" strike="noStrike">
                <a:solidFill>
                  <a:srgbClr val="ed7843"/>
                </a:solidFill>
                <a:latin typeface="Almarai Bold"/>
                <a:ea typeface="Almarai Bold"/>
              </a:rPr>
              <a:t>environment</a:t>
            </a:r>
            <a:r>
              <a:rPr b="1" lang="en-US" sz="3400" spc="-1" strike="noStrike">
                <a:solidFill>
                  <a:srgbClr val="2b1c09"/>
                </a:solidFill>
                <a:latin typeface="Almarai Bold"/>
                <a:ea typeface="Almarai Bold"/>
              </a:rPr>
              <a:t>, </a:t>
            </a: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meaning the same </a:t>
            </a:r>
            <a:r>
              <a:rPr b="1" lang="en-US" sz="3400" spc="-1" strike="noStrike">
                <a:solidFill>
                  <a:srgbClr val="ff3131"/>
                </a:solidFill>
                <a:latin typeface="Almarai Bold"/>
                <a:ea typeface="Almarai Bold"/>
              </a:rPr>
              <a:t>vulnerability</a:t>
            </a:r>
            <a:r>
              <a:rPr b="0" lang="en-US" sz="3400" spc="-1" strike="noStrike">
                <a:solidFill>
                  <a:srgbClr val="2b1c09"/>
                </a:solidFill>
                <a:latin typeface="Almarai"/>
                <a:ea typeface="Almarai"/>
              </a:rPr>
              <a:t> might be more severe for one organization than another.</a:t>
            </a:r>
            <a:endParaRPr b="0" lang="en-US" sz="3400" spc="-1" strike="noStrike">
              <a:latin typeface="Arial"/>
            </a:endParaRPr>
          </a:p>
        </p:txBody>
      </p:sp>
      <p:pic>
        <p:nvPicPr>
          <p:cNvPr id="119" name="Google Shape;376;p51" descr=""/>
          <p:cNvPicPr/>
          <p:nvPr/>
        </p:nvPicPr>
        <p:blipFill>
          <a:blip r:embed="rId1"/>
          <a:srcRect l="62584" t="3531" r="2562" b="31107"/>
          <a:stretch/>
        </p:blipFill>
        <p:spPr>
          <a:xfrm>
            <a:off x="966960" y="3956400"/>
            <a:ext cx="6881040" cy="5910480"/>
          </a:xfrm>
          <a:prstGeom prst="rect">
            <a:avLst/>
          </a:prstGeom>
          <a:ln w="0">
            <a:noFill/>
          </a:ln>
        </p:spPr>
      </p:pic>
      <p:sp>
        <p:nvSpPr>
          <p:cNvPr id="120" name="Google Shape;377;p51"/>
          <p:cNvSpPr/>
          <p:nvPr/>
        </p:nvSpPr>
        <p:spPr>
          <a:xfrm>
            <a:off x="8077320" y="4011120"/>
            <a:ext cx="9737640" cy="47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Modified Base Metrics</a:t>
            </a:r>
            <a:endParaRPr b="0" lang="en-US" sz="34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Customizes base metrics for specific organizational contexts.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 Requirements (CR, IR, AR)</a:t>
            </a:r>
            <a:endParaRPr b="0" lang="en-US" sz="34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Weigh the importance of Confidentiality, Integrity, and Availability.</a:t>
            </a:r>
            <a:endParaRPr b="0" lang="en-US" sz="34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Values: Low, Medium, High.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22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4" name="Freeform 5"/>
          <p:cNvSpPr/>
          <p:nvPr/>
        </p:nvSpPr>
        <p:spPr>
          <a:xfrm>
            <a:off x="7086600" y="2629080"/>
            <a:ext cx="10691640" cy="7417080"/>
          </a:xfrm>
          <a:custGeom>
            <a:avLst/>
            <a:gdLst/>
            <a:ahLst/>
            <a:rect l="l" t="t" r="r" b="b"/>
            <a:pathLst>
              <a:path w="10245361" h="7120526">
                <a:moveTo>
                  <a:pt x="0" y="0"/>
                </a:moveTo>
                <a:lnTo>
                  <a:pt x="10245361" y="0"/>
                </a:lnTo>
                <a:lnTo>
                  <a:pt x="10245361" y="7120526"/>
                </a:lnTo>
                <a:lnTo>
                  <a:pt x="0" y="71205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Box 7"/>
          <p:cNvSpPr/>
          <p:nvPr/>
        </p:nvSpPr>
        <p:spPr>
          <a:xfrm>
            <a:off x="5814720" y="9792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685800" y="2135520"/>
            <a:ext cx="1003896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ed7843"/>
                </a:solidFill>
                <a:latin typeface="Almarai Bold"/>
                <a:ea typeface="Almarai Bold"/>
              </a:rPr>
              <a:t>Security Requirements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1752480" y="4305240"/>
            <a:ext cx="3760920" cy="36964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Canva Sans"/>
                <a:ea typeface="Canva Sans"/>
              </a:rPr>
              <a:t>A hospital might rank </a:t>
            </a:r>
            <a:r>
              <a:rPr b="1" lang="en-US" sz="3400" spc="-1" strike="noStrike">
                <a:solidFill>
                  <a:srgbClr val="ff3131"/>
                </a:solidFill>
                <a:latin typeface="Canva Sans Bold"/>
                <a:ea typeface="Canva Sans Bold"/>
              </a:rPr>
              <a:t>Availability</a:t>
            </a:r>
            <a:r>
              <a:rPr b="0" lang="en-US" sz="3400" spc="-1" strike="noStrike">
                <a:solidFill>
                  <a:srgbClr val="000000"/>
                </a:solidFill>
                <a:latin typeface="Canva Sans"/>
                <a:ea typeface="Canva Sans"/>
              </a:rPr>
              <a:t> higher because </a:t>
            </a:r>
            <a:r>
              <a:rPr b="0" lang="en-US" sz="3400" spc="-1" strike="noStrike">
                <a:solidFill>
                  <a:srgbClr val="ed7843"/>
                </a:solidFill>
                <a:latin typeface="Canva Sans"/>
                <a:ea typeface="Canva Sans"/>
              </a:rPr>
              <a:t>downtime</a:t>
            </a:r>
            <a:r>
              <a:rPr b="0" lang="en-US" sz="3400" spc="-1" strike="noStrike">
                <a:solidFill>
                  <a:srgbClr val="000000"/>
                </a:solidFill>
                <a:latin typeface="Canva Sans"/>
                <a:ea typeface="Canva Sans"/>
              </a:rPr>
              <a:t> could endanger lives.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85800" y="1033200"/>
            <a:ext cx="92570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Environmental Metrics</a:t>
            </a:r>
            <a:endParaRPr b="0" lang="en-US" sz="7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30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Freeform 5"/>
          <p:cNvSpPr/>
          <p:nvPr/>
        </p:nvSpPr>
        <p:spPr>
          <a:xfrm>
            <a:off x="6705720" y="2999160"/>
            <a:ext cx="11200680" cy="7428240"/>
          </a:xfrm>
          <a:custGeom>
            <a:avLst/>
            <a:gdLst/>
            <a:ahLst/>
            <a:rect l="l" t="t" r="r" b="b"/>
            <a:pathLst>
              <a:path w="11046967" h="7429085">
                <a:moveTo>
                  <a:pt x="0" y="0"/>
                </a:moveTo>
                <a:lnTo>
                  <a:pt x="11046967" y="0"/>
                </a:lnTo>
                <a:lnTo>
                  <a:pt x="11046967" y="7429085"/>
                </a:lnTo>
                <a:lnTo>
                  <a:pt x="0" y="7429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Box 7"/>
          <p:cNvSpPr/>
          <p:nvPr/>
        </p:nvSpPr>
        <p:spPr>
          <a:xfrm>
            <a:off x="5814720" y="9792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510840" y="2187720"/>
            <a:ext cx="885240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ed7843"/>
                </a:solidFill>
                <a:latin typeface="Almarai Bold"/>
                <a:ea typeface="Almarai Bold"/>
              </a:rPr>
              <a:t>Modified Base Metrics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35" name="Rounded Rectangle 9"/>
          <p:cNvSpPr/>
          <p:nvPr/>
        </p:nvSpPr>
        <p:spPr>
          <a:xfrm>
            <a:off x="1371600" y="3695760"/>
            <a:ext cx="4611240" cy="48283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5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Canva Sans"/>
                <a:ea typeface="Canva Sans"/>
              </a:rPr>
              <a:t>If you have no external internet access, the Network attack vector might not apply.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510840" y="1033200"/>
            <a:ext cx="94320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Environmental Metrics</a:t>
            </a:r>
            <a:endParaRPr b="0" lang="en-US" sz="7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38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0" name="TextBox 7"/>
          <p:cNvSpPr/>
          <p:nvPr/>
        </p:nvSpPr>
        <p:spPr>
          <a:xfrm>
            <a:off x="5814720" y="9792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510840" y="1033200"/>
            <a:ext cx="9432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Activities in CVSS</a:t>
            </a:r>
            <a:endParaRPr b="0" lang="en-US" sz="7200" spc="-1" strike="noStrike">
              <a:latin typeface="Arial"/>
            </a:endParaRPr>
          </a:p>
        </p:txBody>
      </p:sp>
      <p:pic>
        <p:nvPicPr>
          <p:cNvPr id="142" name="Google Shape;383;p52" descr=""/>
          <p:cNvPicPr/>
          <p:nvPr/>
        </p:nvPicPr>
        <p:blipFill>
          <a:blip r:embed="rId1"/>
          <a:stretch/>
        </p:blipFill>
        <p:spPr>
          <a:xfrm>
            <a:off x="474840" y="2417040"/>
            <a:ext cx="17319240" cy="737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44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6" name="TextBox 7"/>
          <p:cNvSpPr/>
          <p:nvPr/>
        </p:nvSpPr>
        <p:spPr>
          <a:xfrm>
            <a:off x="5814720" y="97920"/>
            <a:ext cx="6657840" cy="11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16"/>
              </a:lnSpc>
              <a:buNone/>
            </a:pPr>
            <a:r>
              <a:rPr b="1" lang="en-US" sz="315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CVSS PRIMARY METRIC GROUPS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510840" y="1033200"/>
            <a:ext cx="94320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Example of a CVSS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48" name="Google Shape;389;p53"/>
          <p:cNvSpPr/>
          <p:nvPr/>
        </p:nvSpPr>
        <p:spPr>
          <a:xfrm>
            <a:off x="510840" y="2260080"/>
            <a:ext cx="7794360" cy="5394960"/>
          </a:xfrm>
          <a:prstGeom prst="roundRect">
            <a:avLst>
              <a:gd name="adj" fmla="val 16667"/>
            </a:avLst>
          </a:prstGeom>
          <a:solidFill>
            <a:srgbClr val="d2ddf9"/>
          </a:solidFill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Base Metrics: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AV (Attack Vector):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(N) 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AC (Attack Complexity):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Low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(L) 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PR (Privileges Required):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None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(N) 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UI (User Interaction):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None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(N) 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C (Confidentiality Impact):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(H) 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I (Integrity Impact):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(H) 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A (Availability Impact):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(H) 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49" name="Google Shape;390;p53"/>
          <p:cNvSpPr/>
          <p:nvPr/>
        </p:nvSpPr>
        <p:spPr>
          <a:xfrm>
            <a:off x="4828680" y="7929000"/>
            <a:ext cx="7794360" cy="2247120"/>
          </a:xfrm>
          <a:prstGeom prst="roundRect">
            <a:avLst>
              <a:gd name="adj" fmla="val 16667"/>
            </a:avLst>
          </a:prstGeom>
          <a:solidFill>
            <a:srgbClr val="d2ddf9"/>
          </a:solidFill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Temporal Metrics: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Exploit Available: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✅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Remediation Level: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Official fix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50" name="Google Shape;391;p53"/>
          <p:cNvSpPr/>
          <p:nvPr/>
        </p:nvSpPr>
        <p:spPr>
          <a:xfrm>
            <a:off x="9144000" y="2260080"/>
            <a:ext cx="8388720" cy="5394960"/>
          </a:xfrm>
          <a:prstGeom prst="roundRect">
            <a:avLst>
              <a:gd name="adj" fmla="val 16667"/>
            </a:avLst>
          </a:prstGeom>
          <a:solidFill>
            <a:srgbClr val="d2ddf9"/>
          </a:solidFill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Environmental Metrics:</a:t>
            </a:r>
            <a:endParaRPr b="0" lang="en-US" sz="34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Confidentiality Importance: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for critical servers ⚠️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Final Score: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9.8 (Critical)</a:t>
            </a:r>
            <a:r>
              <a:rPr b="0" lang="en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 🔴</a:t>
            </a:r>
            <a:endParaRPr b="0" lang="en-US" sz="3400" spc="-1" strike="noStrike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2"/>
          <p:cNvGrpSpPr/>
          <p:nvPr/>
        </p:nvGrpSpPr>
        <p:grpSpPr>
          <a:xfrm>
            <a:off x="-1376280" y="4484160"/>
            <a:ext cx="23247360" cy="6989040"/>
            <a:chOff x="-1376280" y="4484160"/>
            <a:chExt cx="23247360" cy="6989040"/>
          </a:xfrm>
        </p:grpSpPr>
        <p:grpSp>
          <p:nvGrpSpPr>
            <p:cNvPr id="152" name="Group 3"/>
            <p:cNvGrpSpPr/>
            <p:nvPr/>
          </p:nvGrpSpPr>
          <p:grpSpPr>
            <a:xfrm>
              <a:off x="-1376280" y="4484160"/>
              <a:ext cx="23247360" cy="6593400"/>
              <a:chOff x="-1376280" y="4484160"/>
              <a:chExt cx="23247360" cy="6593400"/>
            </a:xfrm>
          </p:grpSpPr>
          <p:sp>
            <p:nvSpPr>
              <p:cNvPr id="153" name="Freeform 4"/>
              <p:cNvSpPr/>
              <p:nvPr/>
            </p:nvSpPr>
            <p:spPr>
              <a:xfrm>
                <a:off x="-1376280" y="4686480"/>
                <a:ext cx="23247360" cy="6391080"/>
              </a:xfrm>
              <a:custGeom>
                <a:avLst/>
                <a:gdLst/>
                <a:ahLst/>
                <a:rect l="l" t="t" r="r" b="b"/>
                <a:pathLst>
                  <a:path w="6122969" h="1205365">
                    <a:moveTo>
                      <a:pt x="0" y="0"/>
                    </a:moveTo>
                    <a:lnTo>
                      <a:pt x="6122969" y="0"/>
                    </a:lnTo>
                    <a:lnTo>
                      <a:pt x="6122969" y="1205365"/>
                    </a:lnTo>
                    <a:lnTo>
                      <a:pt x="0" y="1205365"/>
                    </a:lnTo>
                    <a:close/>
                  </a:path>
                </a:pathLst>
              </a:custGeom>
              <a:solidFill>
                <a:srgbClr val="ff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4" name="TextBox 5"/>
              <p:cNvSpPr/>
              <p:nvPr/>
            </p:nvSpPr>
            <p:spPr>
              <a:xfrm>
                <a:off x="-1376280" y="4484160"/>
                <a:ext cx="23247360" cy="6593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55" name="TextBox 6"/>
            <p:cNvSpPr/>
            <p:nvPr/>
          </p:nvSpPr>
          <p:spPr>
            <a:xfrm>
              <a:off x="685800" y="4888440"/>
              <a:ext cx="16846200" cy="128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ts val="10080"/>
                </a:lnSpc>
                <a:buNone/>
              </a:pPr>
              <a:r>
                <a:rPr b="1" lang="en-US" sz="7200" spc="-1" strike="noStrike">
                  <a:solidFill>
                    <a:srgbClr val="7b5325"/>
                  </a:solidFill>
                  <a:latin typeface="Almarai Ultra-Bold"/>
                  <a:ea typeface="Almarai Ultra-Bold"/>
                </a:rPr>
                <a:t>EPSS</a:t>
              </a:r>
              <a:endParaRPr b="0" lang="en-US" sz="7200" spc="-1" strike="noStrike">
                <a:latin typeface="Arial"/>
              </a:endParaRPr>
            </a:p>
          </p:txBody>
        </p:sp>
        <p:sp>
          <p:nvSpPr>
            <p:cNvPr id="156" name="TextBox 7"/>
            <p:cNvSpPr/>
            <p:nvPr/>
          </p:nvSpPr>
          <p:spPr>
            <a:xfrm>
              <a:off x="685800" y="6555240"/>
              <a:ext cx="17601480" cy="49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457200" indent="-457200" algn="just">
                <a:lnSpc>
                  <a:spcPct val="150000"/>
                </a:lnSpc>
                <a:buClr>
                  <a:srgbClr val="2b1c09"/>
                </a:buClr>
                <a:buFont typeface="Wingdings" charset="2"/>
                <a:buChar char=""/>
              </a:pPr>
              <a:r>
                <a:rPr b="0" lang="en-US" sz="3400" spc="-1" strike="noStrike">
                  <a:solidFill>
                    <a:srgbClr val="2b1c09"/>
                  </a:solidFill>
                  <a:latin typeface="Arial"/>
                  <a:ea typeface="Almarai"/>
                </a:rPr>
                <a:t>EPSS is a </a:t>
              </a:r>
              <a:r>
                <a:rPr b="1" lang="en-US" sz="3400" spc="-1" strike="noStrike">
                  <a:solidFill>
                    <a:srgbClr val="ed7843"/>
                  </a:solidFill>
                  <a:latin typeface="Arial"/>
                  <a:ea typeface="Almarai Bold"/>
                </a:rPr>
                <a:t>scoring system</a:t>
              </a:r>
              <a:r>
                <a:rPr b="0" lang="en-US" sz="3400" spc="-1" strike="noStrike">
                  <a:solidFill>
                    <a:srgbClr val="2b1c09"/>
                  </a:solidFill>
                  <a:latin typeface="Arial"/>
                  <a:ea typeface="Almarai"/>
                </a:rPr>
                <a:t> that predicts the likelihood of a vulnerability being exploited in the near future. It uses </a:t>
              </a:r>
              <a:r>
                <a:rPr b="1" lang="en-US" sz="3400" spc="-1" strike="noStrike">
                  <a:solidFill>
                    <a:srgbClr val="ed7843"/>
                  </a:solidFill>
                  <a:latin typeface="Arial"/>
                  <a:ea typeface="Almarai Bold"/>
                </a:rPr>
                <a:t>historical data and machine learning models</a:t>
              </a:r>
              <a:r>
                <a:rPr b="0" lang="en-US" sz="3400" spc="-1" strike="noStrike">
                  <a:solidFill>
                    <a:srgbClr val="2b1c09"/>
                  </a:solidFill>
                  <a:latin typeface="Arial"/>
                  <a:ea typeface="Almarai"/>
                </a:rPr>
                <a:t> to estimate, and hence Dynamic and Data-Driven.</a:t>
              </a:r>
              <a:endParaRPr b="0" lang="en-US" sz="3400" spc="-1" strike="noStrike">
                <a:latin typeface="Arial"/>
              </a:endParaRPr>
            </a:p>
            <a:p>
              <a:pPr marL="457200" indent="-457200" algn="just">
                <a:lnSpc>
                  <a:spcPct val="150000"/>
                </a:lnSpc>
                <a:buClr>
                  <a:srgbClr val="2b1c09"/>
                </a:buClr>
                <a:buFont typeface="Wingdings" charset="2"/>
                <a:buChar char=""/>
              </a:pPr>
              <a:r>
                <a:rPr b="0" lang="en-US" sz="3400" spc="-1" strike="noStrike">
                  <a:solidFill>
                    <a:srgbClr val="2b1c09"/>
                  </a:solidFill>
                  <a:latin typeface="Arial"/>
                  <a:ea typeface="Almarai"/>
                </a:rPr>
                <a:t>Complement CVSS</a:t>
              </a:r>
              <a:endParaRPr b="0" lang="en-US" sz="3400" spc="-1" strike="noStrike">
                <a:latin typeface="Arial"/>
              </a:endParaRPr>
            </a:p>
            <a:p>
              <a:pPr marL="457200" indent="-457200" algn="just">
                <a:lnSpc>
                  <a:spcPct val="150000"/>
                </a:lnSpc>
                <a:buClr>
                  <a:srgbClr val="2b1c09"/>
                </a:buClr>
                <a:buFont typeface="Wingdings" charset="2"/>
                <a:buChar char=""/>
              </a:pPr>
              <a:r>
                <a:rPr b="0" lang="en-US" sz="3400" spc="-1" strike="noStrike">
                  <a:solidFill>
                    <a:srgbClr val="2b1c09"/>
                  </a:solidFill>
                  <a:latin typeface="Arial"/>
                  <a:ea typeface="Almarai"/>
                </a:rPr>
                <a:t>Developed by FIRST (Forum of Incident Response and Security Teams). </a:t>
              </a:r>
              <a:endParaRPr b="0" lang="en-US" sz="3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buNone/>
              </a:pPr>
              <a:endParaRPr b="0" lang="en-US" sz="3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buNone/>
              </a:pPr>
              <a:endParaRPr b="0" lang="en-US" sz="3400" spc="-1" strike="noStrike">
                <a:latin typeface="Arial"/>
              </a:endParaRPr>
            </a:p>
          </p:txBody>
        </p:sp>
      </p:grpSp>
      <p:sp>
        <p:nvSpPr>
          <p:cNvPr id="157" name="Freeform 8"/>
          <p:cNvSpPr/>
          <p:nvPr/>
        </p:nvSpPr>
        <p:spPr>
          <a:xfrm>
            <a:off x="2971800" y="280440"/>
            <a:ext cx="11505600" cy="4405320"/>
          </a:xfrm>
          <a:custGeom>
            <a:avLst/>
            <a:gdLst/>
            <a:ahLst/>
            <a:rect l="l" t="t" r="r" b="b"/>
            <a:pathLst>
              <a:path w="8678877" h="5836545">
                <a:moveTo>
                  <a:pt x="0" y="0"/>
                </a:moveTo>
                <a:lnTo>
                  <a:pt x="8678876" y="0"/>
                </a:lnTo>
                <a:lnTo>
                  <a:pt x="8678876" y="5836544"/>
                </a:lnTo>
                <a:lnTo>
                  <a:pt x="0" y="583654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59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1" name="Freeform 5"/>
          <p:cNvSpPr/>
          <p:nvPr/>
        </p:nvSpPr>
        <p:spPr>
          <a:xfrm>
            <a:off x="10667880" y="990720"/>
            <a:ext cx="7619400" cy="9257760"/>
          </a:xfrm>
          <a:custGeom>
            <a:avLst/>
            <a:gdLst/>
            <a:ahLst/>
            <a:rect l="l" t="t" r="r" b="b"/>
            <a:pathLst>
              <a:path w="6646748" h="9258300">
                <a:moveTo>
                  <a:pt x="0" y="0"/>
                </a:moveTo>
                <a:lnTo>
                  <a:pt x="6646747" y="0"/>
                </a:lnTo>
                <a:lnTo>
                  <a:pt x="664674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Box 6"/>
          <p:cNvSpPr/>
          <p:nvPr/>
        </p:nvSpPr>
        <p:spPr>
          <a:xfrm>
            <a:off x="536400" y="1013400"/>
            <a:ext cx="7921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Scoring Range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750204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638280" y="2282400"/>
            <a:ext cx="1063872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759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Canva Sans"/>
                <a:ea typeface="Canva Sans"/>
              </a:rPr>
              <a:t>The </a:t>
            </a:r>
            <a:r>
              <a:rPr b="1" lang="en-US" sz="3400" spc="-1" strike="noStrike">
                <a:solidFill>
                  <a:srgbClr val="ed7843"/>
                </a:solidFill>
                <a:latin typeface="Canva Sans Bold"/>
                <a:ea typeface="Canva Sans Bold"/>
              </a:rPr>
              <a:t>EPSS score </a:t>
            </a:r>
            <a:r>
              <a:rPr b="0" lang="en-US" sz="3400" spc="-1" strike="noStrike">
                <a:solidFill>
                  <a:srgbClr val="000000"/>
                </a:solidFill>
                <a:latin typeface="Canva Sans"/>
                <a:ea typeface="Canva Sans"/>
              </a:rPr>
              <a:t>ranges from 0.0 (very unlikely to be exploited) to 1.0 (certain to be exploited).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460440" y="3540600"/>
            <a:ext cx="7921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Benefits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66" name="Rounded Rectangle 13"/>
          <p:cNvSpPr/>
          <p:nvPr/>
        </p:nvSpPr>
        <p:spPr>
          <a:xfrm>
            <a:off x="600480" y="5192640"/>
            <a:ext cx="9573480" cy="45219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charset="2"/>
              <a:buChar char=""/>
            </a:pP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Prioritization: Focus on high-risk vulnerabilities</a:t>
            </a:r>
            <a:endParaRPr b="0" lang="en-US" sz="3400" spc="-1" strike="noStrike"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charset="2"/>
              <a:buChar char=""/>
            </a:pP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Efficiency: Avoid wasting resources on lower-risk vulnerabilities</a:t>
            </a:r>
            <a:endParaRPr b="0" lang="en-US" sz="3400" spc="-1" strike="noStrike"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charset="2"/>
              <a:buChar char=""/>
            </a:pPr>
            <a:r>
              <a:rPr b="0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Proactivity: Stay prepared for any potential attacks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68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0" name="Freeform 5"/>
          <p:cNvSpPr/>
          <p:nvPr/>
        </p:nvSpPr>
        <p:spPr>
          <a:xfrm>
            <a:off x="6324480" y="3772080"/>
            <a:ext cx="11962800" cy="5946840"/>
          </a:xfrm>
          <a:custGeom>
            <a:avLst/>
            <a:gdLst/>
            <a:ahLst/>
            <a:rect l="l" t="t" r="r" b="b"/>
            <a:pathLst>
              <a:path w="13550981" h="7914430">
                <a:moveTo>
                  <a:pt x="0" y="0"/>
                </a:moveTo>
                <a:lnTo>
                  <a:pt x="13550980" y="0"/>
                </a:lnTo>
                <a:lnTo>
                  <a:pt x="13550980" y="7914430"/>
                </a:lnTo>
                <a:lnTo>
                  <a:pt x="0" y="7914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Box 6"/>
          <p:cNvSpPr/>
          <p:nvPr/>
        </p:nvSpPr>
        <p:spPr>
          <a:xfrm>
            <a:off x="333360" y="1013400"/>
            <a:ext cx="6968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How It Works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806436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69824886"/>
              </p:ext>
            </p:extLst>
          </p:nvPr>
        </p:nvGraphicFramePr>
        <p:xfrm>
          <a:off x="7648560" y="791640"/>
          <a:ext cx="10029240" cy="3512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3" name="Rectangle 10"/>
          <p:cNvSpPr/>
          <p:nvPr/>
        </p:nvSpPr>
        <p:spPr>
          <a:xfrm>
            <a:off x="405360" y="1190520"/>
            <a:ext cx="5685840" cy="88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Uses information from various data sources like vulnerability database, exploit repositories, real-world attack data.</a:t>
            </a:r>
            <a:endParaRPr b="0" lang="en-US" sz="36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Scores probability of exploitation from 0 to 1 using ML and statistical models.</a:t>
            </a:r>
            <a:endParaRPr b="0" lang="en-US" sz="36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Changes assigned scores as new data becomes available.</a:t>
            </a:r>
            <a:endParaRPr b="0" lang="en-US" sz="3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75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7" name="TextBox 7"/>
          <p:cNvSpPr/>
          <p:nvPr/>
        </p:nvSpPr>
        <p:spPr>
          <a:xfrm>
            <a:off x="806436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78" name="Google Shape;276;p42"/>
          <p:cNvSpPr/>
          <p:nvPr/>
        </p:nvSpPr>
        <p:spPr>
          <a:xfrm>
            <a:off x="394920" y="895320"/>
            <a:ext cx="16443360" cy="15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b">
            <a:no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DejaVu Sans"/>
              </a:rPr>
              <a:t>Factors Considered in EPSS</a:t>
            </a:r>
            <a:endParaRPr b="0" lang="en-US" sz="7200" spc="-1" strike="noStrike">
              <a:latin typeface="Arial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3214936551"/>
              </p:ext>
            </p:extLst>
          </p:nvPr>
        </p:nvGraphicFramePr>
        <p:xfrm>
          <a:off x="1295280" y="1547280"/>
          <a:ext cx="15924960" cy="854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80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2" name="TextBox 7"/>
          <p:cNvSpPr/>
          <p:nvPr/>
        </p:nvSpPr>
        <p:spPr>
          <a:xfrm>
            <a:off x="806436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83" name="Google Shape;276;p42"/>
          <p:cNvSpPr/>
          <p:nvPr/>
        </p:nvSpPr>
        <p:spPr>
          <a:xfrm>
            <a:off x="394920" y="895320"/>
            <a:ext cx="16443360" cy="15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b">
            <a:no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DejaVu Sans"/>
              </a:rPr>
              <a:t>Why EPSS?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84" name="Rectangle 4"/>
          <p:cNvSpPr/>
          <p:nvPr/>
        </p:nvSpPr>
        <p:spPr>
          <a:xfrm>
            <a:off x="1066680" y="3162240"/>
            <a:ext cx="5333400" cy="74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Vulnerabilities are constantly discovered.</a:t>
            </a:r>
            <a:endParaRPr b="0" lang="en-US" sz="3600" spc="-1" strike="noStrike">
              <a:latin typeface="Arial"/>
            </a:endParaRPr>
          </a:p>
          <a:p>
            <a:pPr marL="571680" indent="-5716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 </a:t>
            </a: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Not all vulnerabilities are exploited.</a:t>
            </a:r>
            <a:endParaRPr b="0" lang="en-US" sz="3600" spc="-1" strike="noStrike">
              <a:latin typeface="Arial"/>
            </a:endParaRPr>
          </a:p>
          <a:p>
            <a:pPr marL="571680" indent="-5716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 </a:t>
            </a: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Focuses efforts on the highest risk.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5" name="Rounded Rectangle 5"/>
          <p:cNvSpPr/>
          <p:nvPr/>
        </p:nvSpPr>
        <p:spPr>
          <a:xfrm>
            <a:off x="7315200" y="2095560"/>
            <a:ext cx="10030320" cy="71240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50000"/>
              </a:lnSpc>
              <a:buNone/>
            </a:pPr>
            <a:r>
              <a:rPr b="0" lang="en-US" sz="3400" spc="-1" strike="noStrike">
                <a:solidFill>
                  <a:srgbClr val="101921"/>
                </a:solidFill>
                <a:latin typeface="Calibri"/>
                <a:ea typeface="DejaVu Sans"/>
              </a:rPr>
              <a:t>96% of the vulnerabilities scored with EPSS score of less than 0.1, were neither exploited or prioritized for remediation (True Negative (TN)). 1.8% were both exploited and prioritized for remediation (TP). </a:t>
            </a:r>
            <a:endParaRPr b="0" lang="en-US" sz="34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34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b="0" lang="en-US" sz="3400" spc="-1" strike="noStrike" u="sng">
                <a:solidFill>
                  <a:srgbClr val="0000ff"/>
                </a:solidFill>
                <a:uFillTx/>
                <a:latin typeface="Calibri"/>
                <a:ea typeface="Calibri"/>
                <a:hlinkClick r:id="rId1"/>
              </a:rPr>
              <a:t>Source: https://orca.security/resources/blog/epss-scoring-system-explained/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87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9" name="Freeform 5"/>
          <p:cNvSpPr/>
          <p:nvPr/>
        </p:nvSpPr>
        <p:spPr>
          <a:xfrm>
            <a:off x="8610480" y="1646280"/>
            <a:ext cx="9676800" cy="7966080"/>
          </a:xfrm>
          <a:custGeom>
            <a:avLst/>
            <a:gdLst/>
            <a:ahLst/>
            <a:rect l="l" t="t" r="r" b="b"/>
            <a:pathLst>
              <a:path w="11120185" h="7966723">
                <a:moveTo>
                  <a:pt x="0" y="0"/>
                </a:moveTo>
                <a:lnTo>
                  <a:pt x="11120185" y="0"/>
                </a:lnTo>
                <a:lnTo>
                  <a:pt x="11120185" y="7966723"/>
                </a:lnTo>
                <a:lnTo>
                  <a:pt x="0" y="79667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Box 6"/>
          <p:cNvSpPr/>
          <p:nvPr/>
        </p:nvSpPr>
        <p:spPr>
          <a:xfrm>
            <a:off x="381600" y="834120"/>
            <a:ext cx="98290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80"/>
              </a:lnSpc>
              <a:buNone/>
            </a:pPr>
            <a:r>
              <a:rPr b="1" lang="en-US" sz="72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Challenges Addressed 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750204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92" name="Rounded Rectangle 7"/>
          <p:cNvSpPr/>
          <p:nvPr/>
        </p:nvSpPr>
        <p:spPr>
          <a:xfrm>
            <a:off x="568080" y="3390840"/>
            <a:ext cx="6933600" cy="3961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85840" indent="-285840">
              <a:lnSpc>
                <a:spcPct val="150000"/>
              </a:lnSpc>
              <a:buClr>
                <a:srgbClr val="ffffff"/>
              </a:buClr>
              <a:buFont typeface="Wingdings" charset="2"/>
              <a:buChar char=""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Overwhelming Number of Vulnerabilities </a:t>
            </a:r>
            <a:endParaRPr b="0" lang="en-US" sz="3400" spc="-1" strike="noStrike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ffffff"/>
              </a:buClr>
              <a:buFont typeface="Wingdings" charset="2"/>
              <a:buChar char=""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Ineffective Prioritization </a:t>
            </a:r>
            <a:endParaRPr b="0" lang="en-US" sz="3400" spc="-1" strike="noStrike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ffffff"/>
              </a:buClr>
              <a:buFont typeface="Wingdings" charset="2"/>
              <a:buChar char=""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Resource Constraints</a:t>
            </a:r>
            <a:endParaRPr b="0" lang="en-US" sz="3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194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6" name="Freeform 5"/>
          <p:cNvSpPr/>
          <p:nvPr/>
        </p:nvSpPr>
        <p:spPr>
          <a:xfrm>
            <a:off x="4343400" y="1411560"/>
            <a:ext cx="13852800" cy="7845840"/>
          </a:xfrm>
          <a:custGeom>
            <a:avLst/>
            <a:gdLst/>
            <a:ahLst/>
            <a:rect l="l" t="t" r="r" b="b"/>
            <a:pathLst>
              <a:path w="12900194" h="7846567">
                <a:moveTo>
                  <a:pt x="0" y="0"/>
                </a:moveTo>
                <a:lnTo>
                  <a:pt x="12900195" y="0"/>
                </a:lnTo>
                <a:lnTo>
                  <a:pt x="12900195" y="7846567"/>
                </a:lnTo>
                <a:lnTo>
                  <a:pt x="0" y="7846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Box 6"/>
          <p:cNvSpPr/>
          <p:nvPr/>
        </p:nvSpPr>
        <p:spPr>
          <a:xfrm>
            <a:off x="197640" y="1522440"/>
            <a:ext cx="643104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8198"/>
              </a:lnSpc>
              <a:buNone/>
            </a:pPr>
            <a:r>
              <a:rPr b="1" lang="en-US" sz="6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Impacts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750204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200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2" name="TextBox 6"/>
          <p:cNvSpPr/>
          <p:nvPr/>
        </p:nvSpPr>
        <p:spPr>
          <a:xfrm>
            <a:off x="197640" y="1522440"/>
            <a:ext cx="6431040" cy="20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8198"/>
              </a:lnSpc>
              <a:buNone/>
            </a:pPr>
            <a:r>
              <a:rPr b="1" lang="en-US" sz="6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How to Use EPSS?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7502040" y="-95400"/>
            <a:ext cx="267192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204" name="Rectangle 7"/>
          <p:cNvSpPr/>
          <p:nvPr/>
        </p:nvSpPr>
        <p:spPr>
          <a:xfrm>
            <a:off x="197640" y="2939400"/>
            <a:ext cx="1470600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Access EPSS scores through the FIRST website. </a:t>
            </a:r>
            <a:r>
              <a:rPr b="0" lang="en-US" sz="3600" spc="-1" strike="noStrike" u="sng">
                <a:solidFill>
                  <a:srgbClr val="0000ff"/>
                </a:solidFill>
                <a:uFillTx/>
                <a:latin typeface="Nunito"/>
                <a:ea typeface="Nunito"/>
                <a:hlinkClick r:id="rId1"/>
              </a:rPr>
              <a:t>https://www.first.org/epss/</a:t>
            </a:r>
            <a:endParaRPr b="0" lang="en-US" sz="3600" spc="-1" strike="noStrike">
              <a:latin typeface="Arial"/>
            </a:endParaRPr>
          </a:p>
          <a:p>
            <a:pPr marL="571680" indent="-5716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Integrate EPSS into vulnerability management workflow.</a:t>
            </a:r>
            <a:endParaRPr b="0" lang="en-US" sz="3600" spc="-1" strike="noStrike">
              <a:latin typeface="Arial"/>
            </a:endParaRPr>
          </a:p>
          <a:p>
            <a:pPr marL="571680" indent="-57168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3600" spc="-1" strike="noStrike">
                <a:solidFill>
                  <a:srgbClr val="000000"/>
                </a:solidFill>
                <a:latin typeface="Nunito"/>
                <a:ea typeface="Nunito"/>
              </a:rPr>
              <a:t>Use EPSS to complement CVSS and other security tools.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5" name="Rectangle 8"/>
          <p:cNvSpPr/>
          <p:nvPr/>
        </p:nvSpPr>
        <p:spPr>
          <a:xfrm>
            <a:off x="4828680" y="6298920"/>
            <a:ext cx="13077720" cy="31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948a54"/>
                </a:solidFill>
                <a:latin typeface="Nunito"/>
                <a:ea typeface="Nunito"/>
              </a:rPr>
              <a:t>EPSS in Action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1.</a:t>
            </a:r>
            <a:r>
              <a:rPr b="1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 </a:t>
            </a:r>
            <a:r>
              <a:rPr b="0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A vulnerability with CVSS 9 but EPSS 0.05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Action:</a:t>
            </a:r>
            <a:r>
              <a:rPr b="1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 lower priority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2. A vulnerability with CVSS 7 but EPSS 0.9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Action:</a:t>
            </a:r>
            <a:r>
              <a:rPr b="1" lang="en-US" sz="3400" spc="-1" strike="noStrike">
                <a:solidFill>
                  <a:srgbClr val="000000"/>
                </a:solidFill>
                <a:latin typeface="Nunito"/>
                <a:ea typeface="Nunito"/>
              </a:rPr>
              <a:t> higher priority</a:t>
            </a:r>
            <a:endParaRPr b="0" lang="en-U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"/>
          <p:cNvGrpSpPr/>
          <p:nvPr/>
        </p:nvGrpSpPr>
        <p:grpSpPr>
          <a:xfrm>
            <a:off x="4828680" y="-9570240"/>
            <a:ext cx="9143280" cy="10431000"/>
            <a:chOff x="4828680" y="-9570240"/>
            <a:chExt cx="9143280" cy="10431000"/>
          </a:xfrm>
        </p:grpSpPr>
        <p:sp>
          <p:nvSpPr>
            <p:cNvPr id="207" name="Freeform 3"/>
            <p:cNvSpPr/>
            <p:nvPr/>
          </p:nvSpPr>
          <p:spPr>
            <a:xfrm>
              <a:off x="4828680" y="-9425520"/>
              <a:ext cx="9143280" cy="10286280"/>
            </a:xfrm>
            <a:custGeom>
              <a:avLst/>
              <a:gdLst/>
              <a:ah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TextBox 4"/>
            <p:cNvSpPr/>
            <p:nvPr/>
          </p:nvSpPr>
          <p:spPr>
            <a:xfrm>
              <a:off x="4828680" y="-9570240"/>
              <a:ext cx="9143280" cy="1043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9" name="TextBox 7"/>
          <p:cNvSpPr/>
          <p:nvPr/>
        </p:nvSpPr>
        <p:spPr>
          <a:xfrm>
            <a:off x="7502040" y="-95400"/>
            <a:ext cx="407952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6999"/>
              </a:lnSpc>
              <a:buNone/>
            </a:pPr>
            <a:r>
              <a:rPr b="1" lang="en-US" sz="5000" spc="-1" strike="noStrike">
                <a:solidFill>
                  <a:srgbClr val="7b5325"/>
                </a:solidFill>
                <a:latin typeface="Almarai Ultra-Bold"/>
                <a:ea typeface="Almarai Ultra-Bold"/>
              </a:rPr>
              <a:t>EPSS vs CVSS</a:t>
            </a:r>
            <a:endParaRPr b="0" lang="en-US" sz="5000" spc="-1" strike="noStrike">
              <a:latin typeface="Arial"/>
            </a:endParaRPr>
          </a:p>
        </p:txBody>
      </p:sp>
      <p:pic>
        <p:nvPicPr>
          <p:cNvPr id="210" name="Picture 8" descr=""/>
          <p:cNvPicPr/>
          <p:nvPr/>
        </p:nvPicPr>
        <p:blipFill>
          <a:blip r:embed="rId1"/>
          <a:stretch/>
        </p:blipFill>
        <p:spPr>
          <a:xfrm>
            <a:off x="1066680" y="1249200"/>
            <a:ext cx="16229880" cy="869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10744200" y="1138320"/>
            <a:ext cx="5637960" cy="66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THANK YOU!</a:t>
            </a: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1219320" y="2800080"/>
            <a:ext cx="8533800" cy="44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7200" spc="-1" strike="noStrike">
              <a:latin typeface="Arial"/>
            </a:endParaRPr>
          </a:p>
        </p:txBody>
      </p:sp>
      <p:pic>
        <p:nvPicPr>
          <p:cNvPr id="213" name="Picture 8" descr=""/>
          <p:cNvPicPr/>
          <p:nvPr/>
        </p:nvPicPr>
        <p:blipFill>
          <a:blip r:embed="rId1"/>
          <a:stretch/>
        </p:blipFill>
        <p:spPr>
          <a:xfrm>
            <a:off x="1234440" y="1104840"/>
            <a:ext cx="8127360" cy="812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6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" dur="2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Application>LibreOffice/7.3.7.2$Linux_X86_64 LibreOffice_project/30$Build-2</Application>
  <AppVersion>15.0000</AppVersion>
  <Words>832</Words>
  <Paragraphs>133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DAGWwpn9fhQ</dc:identifier>
  <dc:language>en-US</dc:language>
  <cp:lastModifiedBy/>
  <dcterms:modified xsi:type="dcterms:W3CDTF">2025-06-23T10:28:07Z</dcterms:modified>
  <cp:revision>23</cp:revision>
  <dc:subject/>
  <dc:title>Copy of Stocks Trading Business Plan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25</vt:i4>
  </property>
</Properties>
</file>